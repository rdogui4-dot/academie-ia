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9b5e1cdc784a99" /><Relationship Type="http://schemas.openxmlformats.org/officeDocument/2006/relationships/extended-properties" Target="/docProps/app.xml" Id="Ra0a3fe1128b1466e" /><Relationship Type="http://schemas.openxmlformats.org/officeDocument/2006/relationships/officeDocument" Target="/ppt/presentation.xml" Id="R23c43f18d97d4d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9b82ab6c4043bc"/>
  </p:sldMasterIdLst>
  <p:notesMasterIdLst>
    <p:notesMasterId xmlns:r="http://schemas.openxmlformats.org/officeDocument/2006/relationships" r:id="R7af38490ba5145f3"/>
  </p:notesMasterIdLst>
  <p:sldIdLst>
    <p:sldId xmlns:r="http://schemas.openxmlformats.org/officeDocument/2006/relationships" id="256" r:id="Raef24c298c014cc7"/>
    <p:sldId xmlns:r="http://schemas.openxmlformats.org/officeDocument/2006/relationships" id="257" r:id="Rc62411c410ea4063"/>
    <p:sldId xmlns:r="http://schemas.openxmlformats.org/officeDocument/2006/relationships" id="258" r:id="Raa5e750759994f6c"/>
    <p:sldId xmlns:r="http://schemas.openxmlformats.org/officeDocument/2006/relationships" id="259" r:id="Rb844f12e931e4724"/>
    <p:sldId xmlns:r="http://schemas.openxmlformats.org/officeDocument/2006/relationships" id="260" r:id="R3be185e7521d48ea"/>
    <p:sldId xmlns:r="http://schemas.openxmlformats.org/officeDocument/2006/relationships" id="261" r:id="Rd3c51bf262484e5b"/>
    <p:sldId xmlns:r="http://schemas.openxmlformats.org/officeDocument/2006/relationships" id="262" r:id="Rc1619a9a0c8f41ad"/>
    <p:sldId xmlns:r="http://schemas.openxmlformats.org/officeDocument/2006/relationships" id="263" r:id="R0d00f39c6f51492c"/>
    <p:sldId xmlns:r="http://schemas.openxmlformats.org/officeDocument/2006/relationships" id="264" r:id="Rc2b129b79ec04cbb"/>
    <p:sldId xmlns:r="http://schemas.openxmlformats.org/officeDocument/2006/relationships" id="265" r:id="R80e90b8c3e874d66"/>
    <p:sldId xmlns:r="http://schemas.openxmlformats.org/officeDocument/2006/relationships" id="266" r:id="Rcc6cbe466cc941dd"/>
    <p:sldId xmlns:r="http://schemas.openxmlformats.org/officeDocument/2006/relationships" id="267" r:id="R47ce1d5e8e784b5c"/>
    <p:sldId xmlns:r="http://schemas.openxmlformats.org/officeDocument/2006/relationships" id="268" r:id="R1da4eb2c521448bf"/>
    <p:sldId xmlns:r="http://schemas.openxmlformats.org/officeDocument/2006/relationships" id="269" r:id="Rb39effabcaf546a6"/>
    <p:sldId xmlns:r="http://schemas.openxmlformats.org/officeDocument/2006/relationships" id="270" r:id="Re85c53ff237844dd"/>
    <p:sldId xmlns:r="http://schemas.openxmlformats.org/officeDocument/2006/relationships" id="271" r:id="R10b650d8b3a64571"/>
    <p:sldId xmlns:r="http://schemas.openxmlformats.org/officeDocument/2006/relationships" id="272" r:id="R7d7324ea7d2c4413"/>
    <p:sldId xmlns:r="http://schemas.openxmlformats.org/officeDocument/2006/relationships" id="273" r:id="R9cd2cca8bfcb4f53"/>
    <p:sldId xmlns:r="http://schemas.openxmlformats.org/officeDocument/2006/relationships" id="274" r:id="R97e7820415e748d3"/>
    <p:sldId xmlns:r="http://schemas.openxmlformats.org/officeDocument/2006/relationships" id="275" r:id="R52c3ca2ffa3a4d24"/>
    <p:sldId xmlns:r="http://schemas.openxmlformats.org/officeDocument/2006/relationships" id="276" r:id="R08ea144e496943bf"/>
    <p:sldId xmlns:r="http://schemas.openxmlformats.org/officeDocument/2006/relationships" id="277" r:id="Rc8780c99c0c14649"/>
    <p:sldId xmlns:r="http://schemas.openxmlformats.org/officeDocument/2006/relationships" id="278" r:id="Rfb76d1ba24164839"/>
    <p:sldId xmlns:r="http://schemas.openxmlformats.org/officeDocument/2006/relationships" id="279" r:id="R4cb10e26218343fe"/>
    <p:sldId xmlns:r="http://schemas.openxmlformats.org/officeDocument/2006/relationships" id="280" r:id="Rd1346f7c50b34a6e"/>
    <p:sldId xmlns:r="http://schemas.openxmlformats.org/officeDocument/2006/relationships" id="281" r:id="R10604b094ce6421f"/>
    <p:sldId xmlns:r="http://schemas.openxmlformats.org/officeDocument/2006/relationships" id="282" r:id="R793b6620c5684950"/>
    <p:sldId xmlns:r="http://schemas.openxmlformats.org/officeDocument/2006/relationships" id="283" r:id="Rb4641b3fed4d466e"/>
    <p:sldId xmlns:r="http://schemas.openxmlformats.org/officeDocument/2006/relationships" id="284" r:id="R90bf994afe1547f5"/>
    <p:sldId xmlns:r="http://schemas.openxmlformats.org/officeDocument/2006/relationships" id="285" r:id="Rf7c82d2337704885"/>
    <p:sldId xmlns:r="http://schemas.openxmlformats.org/officeDocument/2006/relationships" id="286" r:id="Re5c70ff82f6a4ee3"/>
    <p:sldId xmlns:r="http://schemas.openxmlformats.org/officeDocument/2006/relationships" id="287" r:id="R57d53763ff52416b"/>
    <p:sldId xmlns:r="http://schemas.openxmlformats.org/officeDocument/2006/relationships" id="288" r:id="R21bae1490bf747d9"/>
    <p:sldId xmlns:r="http://schemas.openxmlformats.org/officeDocument/2006/relationships" id="289" r:id="R7ad410fd8f1b4353"/>
    <p:sldId xmlns:r="http://schemas.openxmlformats.org/officeDocument/2006/relationships" id="290" r:id="Rb9e6a1cf9d16400c"/>
    <p:sldId xmlns:r="http://schemas.openxmlformats.org/officeDocument/2006/relationships" id="291" r:id="R3e24718510c64833"/>
    <p:sldId xmlns:r="http://schemas.openxmlformats.org/officeDocument/2006/relationships" id="292" r:id="R99da55bb7c5e4ec8"/>
    <p:sldId xmlns:r="http://schemas.openxmlformats.org/officeDocument/2006/relationships" id="293" r:id="Rc2bc31263788493b"/>
    <p:sldId xmlns:r="http://schemas.openxmlformats.org/officeDocument/2006/relationships" id="294" r:id="R925c29c366574552"/>
    <p:sldId xmlns:r="http://schemas.openxmlformats.org/officeDocument/2006/relationships" id="295" r:id="R69cc85680b6649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9603f7eb68435a" /><Relationship Type="http://schemas.openxmlformats.org/officeDocument/2006/relationships/slideMaster" Target="/ppt/slideMasters/slideMaster1.xml" Id="R4e9b82ab6c4043bc" /><Relationship Type="http://schemas.openxmlformats.org/officeDocument/2006/relationships/notesMaster" Target="/ppt/notesMasters/notesMaster1.xml" Id="R7af38490ba5145f3" /><Relationship Type="http://schemas.openxmlformats.org/officeDocument/2006/relationships/presProps" Target="/ppt/presProps.xml" Id="R40bb96a872814e1b" /><Relationship Type="http://schemas.openxmlformats.org/officeDocument/2006/relationships/tableStyles" Target="/ppt/tableStyles.xml" Id="Rf4848978f3eb47da" /><Relationship Type="http://schemas.openxmlformats.org/officeDocument/2006/relationships/slide" Target="/ppt/slides/slide1.xml" Id="Raef24c298c014cc7" /><Relationship Type="http://schemas.openxmlformats.org/officeDocument/2006/relationships/slide" Target="/ppt/slides/slide2.xml" Id="Rc62411c410ea4063" /><Relationship Type="http://schemas.openxmlformats.org/officeDocument/2006/relationships/slide" Target="/ppt/slides/slide3.xml" Id="Raa5e750759994f6c" /><Relationship Type="http://schemas.openxmlformats.org/officeDocument/2006/relationships/slide" Target="/ppt/slides/slide4.xml" Id="Rb844f12e931e4724" /><Relationship Type="http://schemas.openxmlformats.org/officeDocument/2006/relationships/slide" Target="/ppt/slides/slide5.xml" Id="R3be185e7521d48ea" /><Relationship Type="http://schemas.openxmlformats.org/officeDocument/2006/relationships/slide" Target="/ppt/slides/slide6.xml" Id="Rd3c51bf262484e5b" /><Relationship Type="http://schemas.openxmlformats.org/officeDocument/2006/relationships/slide" Target="/ppt/slides/slide7.xml" Id="Rc1619a9a0c8f41ad" /><Relationship Type="http://schemas.openxmlformats.org/officeDocument/2006/relationships/slide" Target="/ppt/slides/slide8.xml" Id="R0d00f39c6f51492c" /><Relationship Type="http://schemas.openxmlformats.org/officeDocument/2006/relationships/slide" Target="/ppt/slides/slide9.xml" Id="Rc2b129b79ec04cbb" /><Relationship Type="http://schemas.openxmlformats.org/officeDocument/2006/relationships/slide" Target="/ppt/slides/slide10.xml" Id="R80e90b8c3e874d66" /><Relationship Type="http://schemas.openxmlformats.org/officeDocument/2006/relationships/slide" Target="/ppt/slides/slide11.xml" Id="Rcc6cbe466cc941dd" /><Relationship Type="http://schemas.openxmlformats.org/officeDocument/2006/relationships/slide" Target="/ppt/slides/slide12.xml" Id="R47ce1d5e8e784b5c" /><Relationship Type="http://schemas.openxmlformats.org/officeDocument/2006/relationships/slide" Target="/ppt/slides/slide13.xml" Id="R1da4eb2c521448bf" /><Relationship Type="http://schemas.openxmlformats.org/officeDocument/2006/relationships/slide" Target="/ppt/slides/slide14.xml" Id="Rb39effabcaf546a6" /><Relationship Type="http://schemas.openxmlformats.org/officeDocument/2006/relationships/slide" Target="/ppt/slides/slide15.xml" Id="Re85c53ff237844dd" /><Relationship Type="http://schemas.openxmlformats.org/officeDocument/2006/relationships/slide" Target="/ppt/slides/slide16.xml" Id="R10b650d8b3a64571" /><Relationship Type="http://schemas.openxmlformats.org/officeDocument/2006/relationships/slide" Target="/ppt/slides/slide17.xml" Id="R7d7324ea7d2c4413" /><Relationship Type="http://schemas.openxmlformats.org/officeDocument/2006/relationships/slide" Target="/ppt/slides/slide18.xml" Id="R9cd2cca8bfcb4f53" /><Relationship Type="http://schemas.openxmlformats.org/officeDocument/2006/relationships/slide" Target="/ppt/slides/slide19.xml" Id="R97e7820415e748d3" /><Relationship Type="http://schemas.openxmlformats.org/officeDocument/2006/relationships/slide" Target="/ppt/slides/slide20.xml" Id="R52c3ca2ffa3a4d24" /><Relationship Type="http://schemas.openxmlformats.org/officeDocument/2006/relationships/slide" Target="/ppt/slides/slide21.xml" Id="R08ea144e496943bf" /><Relationship Type="http://schemas.openxmlformats.org/officeDocument/2006/relationships/slide" Target="/ppt/slides/slide22.xml" Id="Rc8780c99c0c14649" /><Relationship Type="http://schemas.openxmlformats.org/officeDocument/2006/relationships/slide" Target="/ppt/slides/slide23.xml" Id="Rfb76d1ba24164839" /><Relationship Type="http://schemas.openxmlformats.org/officeDocument/2006/relationships/slide" Target="/ppt/slides/slide24.xml" Id="R4cb10e26218343fe" /><Relationship Type="http://schemas.openxmlformats.org/officeDocument/2006/relationships/slide" Target="/ppt/slides/slide25.xml" Id="Rd1346f7c50b34a6e" /><Relationship Type="http://schemas.openxmlformats.org/officeDocument/2006/relationships/slide" Target="/ppt/slides/slide26.xml" Id="R10604b094ce6421f" /><Relationship Type="http://schemas.openxmlformats.org/officeDocument/2006/relationships/slide" Target="/ppt/slides/slide27.xml" Id="R793b6620c5684950" /><Relationship Type="http://schemas.openxmlformats.org/officeDocument/2006/relationships/slide" Target="/ppt/slides/slide28.xml" Id="Rb4641b3fed4d466e" /><Relationship Type="http://schemas.openxmlformats.org/officeDocument/2006/relationships/slide" Target="/ppt/slides/slide29.xml" Id="R90bf994afe1547f5" /><Relationship Type="http://schemas.openxmlformats.org/officeDocument/2006/relationships/slide" Target="/ppt/slides/slide30.xml" Id="Rf7c82d2337704885" /><Relationship Type="http://schemas.openxmlformats.org/officeDocument/2006/relationships/slide" Target="/ppt/slides/slide31.xml" Id="Re5c70ff82f6a4ee3" /><Relationship Type="http://schemas.openxmlformats.org/officeDocument/2006/relationships/slide" Target="/ppt/slides/slide32.xml" Id="R57d53763ff52416b" /><Relationship Type="http://schemas.openxmlformats.org/officeDocument/2006/relationships/slide" Target="/ppt/slides/slide33.xml" Id="R21bae1490bf747d9" /><Relationship Type="http://schemas.openxmlformats.org/officeDocument/2006/relationships/slide" Target="/ppt/slides/slide34.xml" Id="R7ad410fd8f1b4353" /><Relationship Type="http://schemas.openxmlformats.org/officeDocument/2006/relationships/slide" Target="/ppt/slides/slide35.xml" Id="Rb9e6a1cf9d16400c" /><Relationship Type="http://schemas.openxmlformats.org/officeDocument/2006/relationships/slide" Target="/ppt/slides/slide36.xml" Id="R3e24718510c64833" /><Relationship Type="http://schemas.openxmlformats.org/officeDocument/2006/relationships/slide" Target="/ppt/slides/slide37.xml" Id="R99da55bb7c5e4ec8" /><Relationship Type="http://schemas.openxmlformats.org/officeDocument/2006/relationships/slide" Target="/ppt/slides/slide38.xml" Id="Rc2bc31263788493b" /><Relationship Type="http://schemas.openxmlformats.org/officeDocument/2006/relationships/slide" Target="/ppt/slides/slide39.xml" Id="R925c29c366574552" /><Relationship Type="http://schemas.openxmlformats.org/officeDocument/2006/relationships/slide" Target="/ppt/slides/slide40.xml" Id="R69cc85680b6649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de2366dd8040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f210d0070d4bd2" /><Relationship Type="http://schemas.openxmlformats.org/officeDocument/2006/relationships/notesMaster" Target="/ppt/notesMasters/notesMaster1.xml" Id="R856b8d28d2274c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efa0420615439f" /><Relationship Type="http://schemas.openxmlformats.org/officeDocument/2006/relationships/notesMaster" Target="/ppt/notesMasters/notesMaster1.xml" Id="Ra55992c1adb441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58ac538b7b4822" /><Relationship Type="http://schemas.openxmlformats.org/officeDocument/2006/relationships/notesMaster" Target="/ppt/notesMasters/notesMaster1.xml" Id="Recdb531f4a6c49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c16bc56d8a4fbf" /><Relationship Type="http://schemas.openxmlformats.org/officeDocument/2006/relationships/notesMaster" Target="/ppt/notesMasters/notesMaster1.xml" Id="Rd2d60538102944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5f51a64839408c" /><Relationship Type="http://schemas.openxmlformats.org/officeDocument/2006/relationships/notesMaster" Target="/ppt/notesMasters/notesMaster1.xml" Id="Rfdde5ae01d3f4f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02d08f148b4a69" /><Relationship Type="http://schemas.openxmlformats.org/officeDocument/2006/relationships/notesMaster" Target="/ppt/notesMasters/notesMaster1.xml" Id="Rea35b5e8141f4b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b922666db34d89" /><Relationship Type="http://schemas.openxmlformats.org/officeDocument/2006/relationships/notesMaster" Target="/ppt/notesMasters/notesMaster1.xml" Id="Rb3754640daf843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2a5df607dc4448" /><Relationship Type="http://schemas.openxmlformats.org/officeDocument/2006/relationships/notesMaster" Target="/ppt/notesMasters/notesMaster1.xml" Id="R9e7442dafd8a46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2a6abe2daa4fea" /><Relationship Type="http://schemas.openxmlformats.org/officeDocument/2006/relationships/notesMaster" Target="/ppt/notesMasters/notesMaster1.xml" Id="Re0e557f62a5d45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04a138c2cb4e5e" /><Relationship Type="http://schemas.openxmlformats.org/officeDocument/2006/relationships/notesMaster" Target="/ppt/notesMasters/notesMaster1.xml" Id="Rc032dce66b8840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e242b7d81042d5" /><Relationship Type="http://schemas.openxmlformats.org/officeDocument/2006/relationships/notesMaster" Target="/ppt/notesMasters/notesMaster1.xml" Id="Rc64ce01b6bec45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b499bb715640b3" /><Relationship Type="http://schemas.openxmlformats.org/officeDocument/2006/relationships/notesMaster" Target="/ppt/notesMasters/notesMaster1.xml" Id="R3384f021eb894d2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01dd279ad3e4bc4" /><Relationship Type="http://schemas.openxmlformats.org/officeDocument/2006/relationships/notesMaster" Target="/ppt/notesMasters/notesMaster1.xml" Id="R5c58e71af7b746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e981ed3a3d5447e" /><Relationship Type="http://schemas.openxmlformats.org/officeDocument/2006/relationships/notesMaster" Target="/ppt/notesMasters/notesMaster1.xml" Id="R2321a4cb4dfb429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ae0a929a0d5429b" /><Relationship Type="http://schemas.openxmlformats.org/officeDocument/2006/relationships/notesMaster" Target="/ppt/notesMasters/notesMaster1.xml" Id="Rf863191617f3411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eebd2146ad4499d" /><Relationship Type="http://schemas.openxmlformats.org/officeDocument/2006/relationships/notesMaster" Target="/ppt/notesMasters/notesMaster1.xml" Id="R851322552ff148e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2540ce749d94ff5" /><Relationship Type="http://schemas.openxmlformats.org/officeDocument/2006/relationships/notesMaster" Target="/ppt/notesMasters/notesMaster1.xml" Id="R3673309e2f3b4f5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c69cb6ba0dd496e" /><Relationship Type="http://schemas.openxmlformats.org/officeDocument/2006/relationships/notesMaster" Target="/ppt/notesMasters/notesMaster1.xml" Id="R8e2de79027574f2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8a4e2ded2444a52" /><Relationship Type="http://schemas.openxmlformats.org/officeDocument/2006/relationships/notesMaster" Target="/ppt/notesMasters/notesMaster1.xml" Id="R38f71b47ee41493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808dd95005148e9" /><Relationship Type="http://schemas.openxmlformats.org/officeDocument/2006/relationships/notesMaster" Target="/ppt/notesMasters/notesMaster1.xml" Id="R756d73b78a614aa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93e13622f584f37" /><Relationship Type="http://schemas.openxmlformats.org/officeDocument/2006/relationships/notesMaster" Target="/ppt/notesMasters/notesMaster1.xml" Id="R91ec7ae71a6f463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d493ca20f924463" /><Relationship Type="http://schemas.openxmlformats.org/officeDocument/2006/relationships/notesMaster" Target="/ppt/notesMasters/notesMaster1.xml" Id="R3a85410a1cf54b3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2f9f3a6e2fb469a" /><Relationship Type="http://schemas.openxmlformats.org/officeDocument/2006/relationships/notesMaster" Target="/ppt/notesMasters/notesMaster1.xml" Id="Re2859426554b4bf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9111b3272944a18" /><Relationship Type="http://schemas.openxmlformats.org/officeDocument/2006/relationships/notesMaster" Target="/ppt/notesMasters/notesMaster1.xml" Id="Rb45df571f1e5470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d53469629b8402a" /><Relationship Type="http://schemas.openxmlformats.org/officeDocument/2006/relationships/notesMaster" Target="/ppt/notesMasters/notesMaster1.xml" Id="R71e98ed5035945a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d3816cd0f38439e" /><Relationship Type="http://schemas.openxmlformats.org/officeDocument/2006/relationships/notesMaster" Target="/ppt/notesMasters/notesMaster1.xml" Id="R576d0fcec19f4e2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cd8ca1546564124" /><Relationship Type="http://schemas.openxmlformats.org/officeDocument/2006/relationships/notesMaster" Target="/ppt/notesMasters/notesMaster1.xml" Id="Rac44a6a53d3e413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1c2448840d64e52" /><Relationship Type="http://schemas.openxmlformats.org/officeDocument/2006/relationships/notesMaster" Target="/ppt/notesMasters/notesMaster1.xml" Id="Ra2bd8b9c8a5644f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2fd99b9e1a84b5c" /><Relationship Type="http://schemas.openxmlformats.org/officeDocument/2006/relationships/notesMaster" Target="/ppt/notesMasters/notesMaster1.xml" Id="Rb85e51145019455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9a56fb344464fca" /><Relationship Type="http://schemas.openxmlformats.org/officeDocument/2006/relationships/notesMaster" Target="/ppt/notesMasters/notesMaster1.xml" Id="R2af79427782c4e7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bd90dd036fc4d91" /><Relationship Type="http://schemas.openxmlformats.org/officeDocument/2006/relationships/notesMaster" Target="/ppt/notesMasters/notesMaster1.xml" Id="R2ad0fa7b63bc427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bc5b97ea3e643b4" /><Relationship Type="http://schemas.openxmlformats.org/officeDocument/2006/relationships/notesMaster" Target="/ppt/notesMasters/notesMaster1.xml" Id="R0c121960771b40e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5dd661014fc416e" /><Relationship Type="http://schemas.openxmlformats.org/officeDocument/2006/relationships/notesMaster" Target="/ppt/notesMasters/notesMaster1.xml" Id="R88618fac4c544c0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5128a79d86d4c3c" /><Relationship Type="http://schemas.openxmlformats.org/officeDocument/2006/relationships/notesMaster" Target="/ppt/notesMasters/notesMaster1.xml" Id="R6f4b0afb9089410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54f4aa68b384311" /><Relationship Type="http://schemas.openxmlformats.org/officeDocument/2006/relationships/notesMaster" Target="/ppt/notesMasters/notesMaster1.xml" Id="R8da2767a3bc54b9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08ab12605604781" /><Relationship Type="http://schemas.openxmlformats.org/officeDocument/2006/relationships/notesMaster" Target="/ppt/notesMasters/notesMaster1.xml" Id="R685c91eec3934da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bac71db37884cb8" /><Relationship Type="http://schemas.openxmlformats.org/officeDocument/2006/relationships/notesMaster" Target="/ppt/notesMasters/notesMaster1.xml" Id="R37eb88af013a4e6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a528b72d0f64772" /><Relationship Type="http://schemas.openxmlformats.org/officeDocument/2006/relationships/notesMaster" Target="/ppt/notesMasters/notesMaster1.xml" Id="R4e8883539179488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60461e951844ab8" /><Relationship Type="http://schemas.openxmlformats.org/officeDocument/2006/relationships/notesMaster" Target="/ppt/notesMasters/notesMaster1.xml" Id="Rf03db8a146ff430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6393373265c4501" /><Relationship Type="http://schemas.openxmlformats.org/officeDocument/2006/relationships/notesMaster" Target="/ppt/notesMasters/notesMaster1.xml" Id="R573965e2764a4d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1–4. Les exemples et mises en pratique sont des adaptations pédagogiques. Consulter le manuel pour le cours détaillé.</a:t>
            </a:r>
          </a:p>
          <a:p xmlns:a="http://schemas.openxmlformats.org/drawingml/2006/main">
            <a:r>
              <a:t>Choisir un usage, cadrer un projet et accompagner son adoption.</a:t>
            </a:r>
          </a:p>
          <a:p xmlns:a="http://schemas.openxmlformats.org/drawingml/2006/main">
            <a:r>
              <a:t>Niveau 4 Applications professionnelles</a:t>
            </a:r>
          </a:p>
          <a:p xmlns:a="http://schemas.openxmlformats.org/drawingml/2006/main">
            <a:r>
              <a:t>Parcours adapté au secteur Support de cours</a:t>
            </a:r>
          </a:p>
          <a:p xmlns:a="http://schemas.openxmlformats.org/drawingml/2006/main">
            <a:r>
              <a:t>De novice à expert engineer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4. Les exemples et mises en pratique sont des adaptations pédagogiques. Consulter le manuel pour le cours détaillé.</a:t>
            </a:r>
          </a:p>
          <a:p xmlns:a="http://schemas.openxmlformats.org/drawingml/2006/main">
            <a:r>
              <a:t>Le projet doit répondre à un besoin professionnel identifié.</a:t>
            </a:r>
          </a:p>
          <a:p xmlns:a="http://schemas.openxmlformats.org/drawingml/2006/main">
            <a:r>
              <a:t>Sélectionner un usage pertinent et définir ses critères de réussite.</a:t>
            </a:r>
          </a:p>
          <a:p xmlns:a="http://schemas.openxmlformats.org/drawingml/2006/main">
            <a:r>
              <a:t>Organiser les responsabilités, les contrôles et l’accompagnement des utilisateurs.</a:t>
            </a:r>
          </a:p>
          <a:p xmlns:a="http://schemas.openxmlformats.org/drawingml/2006/main">
            <a:r>
              <a:t>Projet : une solution adaptée à votre secteur.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4. Les exemples et mises en pratique sont des adaptations pédagogiques. Consulter le manuel pour le cours détaillé.</a:t>
            </a:r>
          </a:p>
          <a:p xmlns:a="http://schemas.openxmlformats.org/drawingml/2006/main">
            <a:r>
              <a:t>La durée dépend du secteur et des ateliers retenus.</a:t>
            </a:r>
          </a:p>
          <a:p xmlns:a="http://schemas.openxmlformats.org/drawingml/2006/main">
            <a:r>
              <a:t>Le manuel propose un repère de 25 h sur 3 à 4 jours.</a:t>
            </a:r>
          </a:p>
          <a:p xmlns:a="http://schemas.openxmlformats.org/drawingml/2006/main">
            <a:r>
              <a:t>La répartition s’adapte aux besoins du groupe et au projet choisi.</a:t>
            </a:r>
          </a:p>
          <a:p xmlns:a="http://schemas.openxmlformats.org/drawingml/2006/main">
            <a:r>
              <a:t>Confirmer le planning de la session avec le formateur.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5–7. Les exemples et mises en pratique sont des adaptations pédagogiques. Consulter le manuel pour le cours détaillé.</a:t>
            </a:r>
          </a:p>
          <a:p xmlns:a="http://schemas.openxmlformats.org/drawingml/2006/main">
            <a:r>
              <a:t>Le diagnostic décrit la situation avant toute expérimentation.</a:t>
            </a:r>
          </a:p>
          <a:p xmlns:a="http://schemas.openxmlformats.org/drawingml/2006/main">
            <a:r>
              <a:t>Identifiez la tâche, les personnes concernées et les données disponibles.</a:t>
            </a:r>
          </a:p>
          <a:p xmlns:a="http://schemas.openxmlformats.org/drawingml/2006/main">
            <a:r>
              <a:t>Décrivez le livrable attendu et les erreurs qui auraient des conséquences.</a:t>
            </a:r>
          </a:p>
          <a:p xmlns:a="http://schemas.openxmlformats.org/drawingml/2006/main">
            <a:r>
              <a:t>Partir d’un exemple réel, anonymisé si nécessaire.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5–7. Les exemples et mises en pratique sont des adaptations pédagogiques. Consulter le manuel pour le cours détaillé.</a:t>
            </a:r>
          </a:p>
          <a:p xmlns:a="http://schemas.openxmlformats.org/drawingml/2006/main">
            <a:r>
              <a:t>Les tâches de contenu constituent des points de départ possibles.</a:t>
            </a:r>
          </a:p>
          <a:p xmlns:a="http://schemas.openxmlformats.org/drawingml/2006/main">
            <a:r>
              <a:t>Rédiger un brouillon, résumer des documents ou classer des demandes.</a:t>
            </a:r>
          </a:p>
          <a:p xmlns:a="http://schemas.openxmlformats.org/drawingml/2006/main">
            <a:r>
              <a:t>Rechercher des informations et préparer une réponse à vérifier.</a:t>
            </a:r>
          </a:p>
          <a:p xmlns:a="http://schemas.openxmlformats.org/drawingml/2006/main">
            <a:r>
              <a:t>Le besoin métier détermine la pertinence de l’outil.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5–7. Les exemples et mises en pratique sont des adaptations pédagogiques. Consulter le manuel pour le cours détaillé.</a:t>
            </a:r>
          </a:p>
          <a:p xmlns:a="http://schemas.openxmlformats.org/drawingml/2006/main">
            <a:r>
              <a:t>La valeur attendue doit rester compatible avec la faisabilité.</a:t>
            </a:r>
          </a:p>
          <a:p xmlns:a="http://schemas.openxmlformats.org/drawingml/2006/main">
            <a:r>
              <a:t>Comparez le bénéfice possible, l’accès aux données et les compétences nécessaires.</a:t>
            </a:r>
          </a:p>
          <a:p xmlns:a="http://schemas.openxmlformats.org/drawingml/2006/main">
            <a:r>
              <a:t>Examinez les conséquences d’une erreur et les contrôles disponibles.</a:t>
            </a:r>
          </a:p>
          <a:p xmlns:a="http://schemas.openxmlformats.org/drawingml/2006/main">
            <a:r>
              <a:t>Un usage limité peut constituer un bon premier pilote.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13–16. Les exemples et mises en pratique sont des adaptations pédagogiques. Consulter le manuel pour le cours détaillé.</a:t>
            </a:r>
          </a:p>
          <a:p xmlns:a="http://schemas.openxmlformats.org/drawingml/2006/main">
            <a:r>
              <a:t>Des critères explicites permettent de comparer plusieurs idées.</a:t>
            </a:r>
          </a:p>
          <a:p xmlns:a="http://schemas.openxmlformats.org/drawingml/2006/main">
            <a:r>
              <a:t>Pour chaque usage, décrivez la valeur, l’effort et les principaux risques.</a:t>
            </a:r>
          </a:p>
          <a:p xmlns:a="http://schemas.openxmlformats.org/drawingml/2006/main">
            <a:r>
              <a:t>Justifiez vos appréciations avec des observations ou des informations disponibles.</a:t>
            </a:r>
          </a:p>
          <a:p xmlns:a="http://schemas.openxmlformats.org/drawingml/2006/main">
            <a:r>
              <a:t>Éviter des scores précis sans méthode ni données.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17–22. Les exemples et mises en pratique sont des adaptations pédagogiques. Consulter le manuel pour le cours détaillé.</a:t>
            </a:r>
          </a:p>
          <a:p xmlns:a="http://schemas.openxmlformats.org/drawingml/2006/main">
            <a:r>
              <a:t>La sélection doit pouvoir s’expliquer à une équipe.</a:t>
            </a:r>
          </a:p>
          <a:p xmlns:a="http://schemas.openxmlformats.org/drawingml/2006/main">
            <a:r>
              <a:t>Décrivez plusieurs usages possibles dans votre secteur.</a:t>
            </a:r>
          </a:p>
          <a:p xmlns:a="http://schemas.openxmlformats.org/drawingml/2006/main">
            <a:r>
              <a:t>Comparez-les avec les mêmes critères, puis retenez un cas pour le projet.</a:t>
            </a:r>
          </a:p>
          <a:p xmlns:a="http://schemas.openxmlformats.org/drawingml/2006/main">
            <a:r>
              <a:t>À remettre : choix, justification et hypothèses à vérifier.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8–9. Les exemples et mises en pratique sont des adaptations pédagogiques. Consulter le manuel pour le cours détaillé.</a:t>
            </a:r>
          </a:p>
          <a:p xmlns:a="http://schemas.openxmlformats.org/drawingml/2006/main">
            <a:r>
              <a:t>Le traitement dépend de la nature et de l’accès aux informations.</a:t>
            </a:r>
          </a:p>
          <a:p xmlns:a="http://schemas.openxmlformats.org/drawingml/2006/main">
            <a:r>
              <a:t>Identifiez les sources, leur sensibilité et les personnes autorisées.</a:t>
            </a:r>
          </a:p>
          <a:p xmlns:a="http://schemas.openxmlformats.org/drawingml/2006/main">
            <a:r>
              <a:t>Déterminez quelles données sont nécessaires et combien de temps les conserver.</a:t>
            </a:r>
          </a:p>
          <a:p xmlns:a="http://schemas.openxmlformats.org/drawingml/2006/main">
            <a:r>
              <a:t>Vérifier les règles applicables avant le premier essai.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8–9. Les exemples et mises en pratique sont des adaptations pédagogiques. Consulter le manuel pour le cours détaillé.</a:t>
            </a:r>
          </a:p>
          <a:p xmlns:a="http://schemas.openxmlformats.org/drawingml/2006/main">
            <a:r>
              <a:t>Des données fictives permettent de tester sans exposer de dossiers réels.</a:t>
            </a:r>
          </a:p>
          <a:p xmlns:a="http://schemas.openxmlformats.org/drawingml/2006/main">
            <a:r>
              <a:t>Remplacez les noms et les identifiants par des valeurs fictives cohérentes.</a:t>
            </a:r>
          </a:p>
          <a:p xmlns:a="http://schemas.openxmlformats.org/drawingml/2006/main">
            <a:r>
              <a:t>Vérifiez qu’aucun détail restant ne permet d’identifier une personne.</a:t>
            </a:r>
          </a:p>
          <a:p xmlns:a="http://schemas.openxmlformats.org/drawingml/2006/main">
            <a:r>
              <a:t>L’anonymisation doit tenir compte du contexte du document.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8–9. Les exemples et mises en pratique sont des adaptations pédagogiques. Consulter le manuel pour le cours détaillé.</a:t>
            </a:r>
          </a:p>
          <a:p xmlns:a="http://schemas.openxmlformats.org/drawingml/2006/main">
            <a:r>
              <a:t>Les exigences dépendent du pays, du secteur et du traitement prévu.</a:t>
            </a:r>
          </a:p>
          <a:p xmlns:a="http://schemas.openxmlformats.org/drawingml/2006/main">
            <a:r>
              <a:t>Recensez les règles internes et les obligations qui peuvent concerner le projet.</a:t>
            </a:r>
          </a:p>
          <a:p xmlns:a="http://schemas.openxmlformats.org/drawingml/2006/main">
            <a:r>
              <a:t>Faites vérifier les exigences par les personnes compétentes avant l’usage réel.</a:t>
            </a:r>
          </a:p>
          <a:p xmlns:a="http://schemas.openxmlformats.org/drawingml/2006/main">
            <a:r>
              <a:t>Le manuel constitue un support pédagogique, pas une validation juridique.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10–12. Les exemples et mises en pratique sont des adaptations pédagogiques. Consulter le manuel pour le cours détaillé.</a:t>
            </a:r>
          </a:p>
          <a:p xmlns:a="http://schemas.openxmlformats.org/drawingml/2006/main">
            <a:r>
              <a:t>Le projet doit attribuer clairement les décisions et les contrôles.</a:t>
            </a:r>
          </a:p>
          <a:p xmlns:a="http://schemas.openxmlformats.org/drawingml/2006/main">
            <a:r>
              <a:t>Le responsable métier précise le besoin et les critères de réussite.</a:t>
            </a:r>
          </a:p>
          <a:p xmlns:a="http://schemas.openxmlformats.org/drawingml/2006/main">
            <a:r>
              <a:t>Les référents compétents valident les données, les accès et les usages.</a:t>
            </a:r>
          </a:p>
          <a:p xmlns:a="http://schemas.openxmlformats.org/drawingml/2006/main">
            <a:r>
              <a:t>Nommer la personne qui autorise le passage en fonctionnement courant.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11–12. Les exemples et mises en pratique sont des adaptations pédagogiques. Consulter le manuel pour le cours détaillé.</a:t>
            </a:r>
          </a:p>
          <a:p xmlns:a="http://schemas.openxmlformats.org/drawingml/2006/main">
            <a:r>
              <a:t>La charte décrit ce que les utilisateurs peuvent faire.</a:t>
            </a:r>
          </a:p>
          <a:p xmlns:a="http://schemas.openxmlformats.org/drawingml/2006/main">
            <a:r>
              <a:t>Précisez les finalités autorisées, les données admises et les contrôles attendus.</a:t>
            </a:r>
          </a:p>
          <a:p xmlns:a="http://schemas.openxmlformats.org/drawingml/2006/main">
            <a:r>
              <a:t>Définissez les usages exclus et la procédure de signalement.</a:t>
            </a:r>
          </a:p>
          <a:p xmlns:a="http://schemas.openxmlformats.org/drawingml/2006/main">
            <a:r>
              <a:t>Des exemples concrets facilitent la compréhension des règles.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17–22. Les exemples et mises en pratique sont des adaptations pédagogiques. Consulter le manuel pour le cours détaillé.</a:t>
            </a:r>
          </a:p>
          <a:p xmlns:a="http://schemas.openxmlformats.org/drawingml/2006/main">
            <a:r>
              <a:t>Rédiger des règles adaptées à votre cas de projet.</a:t>
            </a:r>
          </a:p>
          <a:p xmlns:a="http://schemas.openxmlformats.org/drawingml/2006/main">
            <a:r>
              <a:t>Formulez cinq règles sur les données, les résultats et les responsabilités.</a:t>
            </a:r>
          </a:p>
          <a:p xmlns:a="http://schemas.openxmlformats.org/drawingml/2006/main">
            <a:r>
              <a:t>Testez-les sur un scénario normal et un scénario problématique.</a:t>
            </a:r>
          </a:p>
          <a:p xmlns:a="http://schemas.openxmlformats.org/drawingml/2006/main">
            <a:r>
              <a:t>À remettre : règles et explication de leur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11–12. Les exemples et mises en pratique sont des adaptations pédagogiques. Consulter le manuel pour le cours détaillé.</a:t>
            </a:r>
          </a:p>
          <a:p xmlns:a="http://schemas.openxmlformats.org/drawingml/2006/main">
            <a:r>
              <a:t>La gouvernance organise les décisions pendant toute la vie du système.</a:t>
            </a:r>
          </a:p>
          <a:p xmlns:a="http://schemas.openxmlformats.org/drawingml/2006/main">
            <a:r>
              <a:t>Définissez qui valide les changements et suit les résultats.</a:t>
            </a:r>
          </a:p>
          <a:p xmlns:a="http://schemas.openxmlformats.org/drawingml/2006/main">
            <a:r>
              <a:t>Prévoyez le traitement des incidents et la révision des règles.</a:t>
            </a:r>
          </a:p>
          <a:p xmlns:a="http://schemas.openxmlformats.org/drawingml/2006/main">
            <a:r>
              <a:t>Conserver les décisions importantes avec leur date et leur motif.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10. Les exemples et mises en pratique sont des adaptations pédagogiques. Consulter le manuel pour le cours détaillé.</a:t>
            </a:r>
          </a:p>
          <a:p xmlns:a="http://schemas.openxmlformats.org/drawingml/2006/main">
            <a:r>
              <a:t>L’adoption dépend de la compréhension des usages et de leurs limites.</a:t>
            </a:r>
          </a:p>
          <a:p xmlns:a="http://schemas.openxmlformats.org/drawingml/2006/main">
            <a:r>
              <a:t>Recueillez les besoins et les difficultés des futurs utilisateurs.</a:t>
            </a:r>
          </a:p>
          <a:p xmlns:a="http://schemas.openxmlformats.org/drawingml/2006/main">
            <a:r>
              <a:t>Préparez une formation liée aux tâches réellement concernées.</a:t>
            </a:r>
          </a:p>
          <a:p xmlns:a="http://schemas.openxmlformats.org/drawingml/2006/main">
            <a:r>
              <a:t>Prévoir une personne de contact pour les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10. Les exemples et mises en pratique sont des adaptations pédagogiques. Consulter le manuel pour le cours détaillé.</a:t>
            </a:r>
          </a:p>
          <a:p xmlns:a="http://schemas.openxmlformats.org/drawingml/2006/main">
            <a:r>
              <a:t>Un essai limité permet d’observer le fonctionnement en situation.</a:t>
            </a:r>
          </a:p>
          <a:p xmlns:a="http://schemas.openxmlformats.org/drawingml/2006/main">
            <a:r>
              <a:t>Choisissez un petit périmètre et des utilisateurs identifiés.</a:t>
            </a:r>
          </a:p>
          <a:p xmlns:a="http://schemas.openxmlformats.org/drawingml/2006/main">
            <a:r>
              <a:t>Recueillez les erreurs, les corrections nécessaires et les retours d’expérience.</a:t>
            </a:r>
          </a:p>
          <a:p xmlns:a="http://schemas.openxmlformats.org/drawingml/2006/main">
            <a:r>
              <a:t>Décider de la suite à partir des observations du pilote.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13–16. Les exemples et mises en pratique sont des adaptations pédagogiques. Consulter le manuel pour le cours détaillé.</a:t>
            </a:r>
          </a:p>
          <a:p xmlns:a="http://schemas.openxmlformats.org/drawingml/2006/main">
            <a:r>
              <a:t>Le cadrage définit le problème et les limites du projet.</a:t>
            </a:r>
          </a:p>
          <a:p xmlns:a="http://schemas.openxmlformats.org/drawingml/2006/main">
            <a:r>
              <a:t>Précisez le public, le périmètre et les hypothèses retenues.</a:t>
            </a:r>
          </a:p>
          <a:p xmlns:a="http://schemas.openxmlformats.org/drawingml/2006/main">
            <a:r>
              <a:t>Décrivez les livrables, les exclusions et les conditions d’acceptation.</a:t>
            </a:r>
          </a:p>
          <a:p xmlns:a="http://schemas.openxmlformats.org/drawingml/2006/main">
            <a:r>
              <a:t>Une demande hors périmètre doit déclencher une nouvelle décision.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13–16. Les exemples et mises en pratique sont des adaptations pédagogiques. Consulter le manuel pour le cours détaillé.</a:t>
            </a:r>
          </a:p>
          <a:p xmlns:a="http://schemas.openxmlformats.org/drawingml/2006/main">
            <a:r>
              <a:t>Un indicateur utile correspond à un objectif du projet.</a:t>
            </a:r>
          </a:p>
          <a:p xmlns:a="http://schemas.openxmlformats.org/drawingml/2006/main">
            <a:r>
              <a:t>Mesurez la qualité, le temps de correction ou la satisfaction selon le besoin.</a:t>
            </a:r>
          </a:p>
          <a:p xmlns:a="http://schemas.openxmlformats.org/drawingml/2006/main">
            <a:r>
              <a:t>Conservez une situation de référence pour pouvoir comparer.</a:t>
            </a:r>
          </a:p>
          <a:p xmlns:a="http://schemas.openxmlformats.org/drawingml/2006/main">
            <a:r>
              <a:t>Les incidents et les erreurs font aussi partie du bilan.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17–22. Les exemples et mises en pratique sont des adaptations pédagogiques. Consulter le manuel pour le cours détaillé.</a:t>
            </a:r>
          </a:p>
          <a:p xmlns:a="http://schemas.openxmlformats.org/drawingml/2006/main">
            <a:r>
              <a:t>La fiche doit permettre à une autre personne de comprendre le projet.</a:t>
            </a:r>
          </a:p>
          <a:p xmlns:a="http://schemas.openxmlformats.org/drawingml/2006/main">
            <a:r>
              <a:t>Décrivez le besoin, les données, les rôles et les étapes envisagées.</a:t>
            </a:r>
          </a:p>
          <a:p xmlns:a="http://schemas.openxmlformats.org/drawingml/2006/main">
            <a:r>
              <a:t>Ajoutez les critères de réussite et les conditions d’arrêt.</a:t>
            </a:r>
          </a:p>
          <a:p xmlns:a="http://schemas.openxmlformats.org/drawingml/2006/main">
            <a:r>
              <a:t>À remettre : fiche de cadrage et questions encore ouvertes.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23–39. Les exemples et mises en pratique sont des adaptations pédagogiques. Consulter le manuel pour le cours détaillé.</a:t>
            </a:r>
          </a:p>
          <a:p xmlns:a="http://schemas.openxmlformats.org/drawingml/2006/main">
            <a:r>
              <a:t>L’IA peut aider à préparer des variantes de contenu.</a:t>
            </a:r>
          </a:p>
          <a:p xmlns:a="http://schemas.openxmlformats.org/drawingml/2006/main">
            <a:r>
              <a:t>Fournissez le public, l’offre et les informations validées.</a:t>
            </a:r>
          </a:p>
          <a:p xmlns:a="http://schemas.openxmlformats.org/drawingml/2006/main">
            <a:r>
              <a:t>Relisez les promesses, les chiffres et la cohérence avec la marque.</a:t>
            </a:r>
          </a:p>
          <a:p xmlns:a="http://schemas.openxmlformats.org/drawingml/2006/main">
            <a:r>
              <a:t>Une personne approuve le contenu avant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23–39. Les exemples et mises en pratique sont des adaptations pédagogiques. Consulter le manuel pour le cours détaillé.</a:t>
            </a:r>
          </a:p>
          <a:p xmlns:a="http://schemas.openxmlformats.org/drawingml/2006/main">
            <a:r>
              <a:t>Comparer plusieurs propositions à partir d’un même brief.</a:t>
            </a:r>
          </a:p>
          <a:p xmlns:a="http://schemas.openxmlformats.org/drawingml/2006/main">
            <a:r>
              <a:t>Utilisez une offre fictive et précisez le canal de diffusion.</a:t>
            </a:r>
          </a:p>
          <a:p xmlns:a="http://schemas.openxmlformats.org/drawingml/2006/main">
            <a:r>
              <a:t>Demandez des variantes, puis choisissez selon des critères de clarté et de pertinence.</a:t>
            </a:r>
          </a:p>
          <a:p xmlns:a="http://schemas.openxmlformats.org/drawingml/2006/main">
            <a:r>
              <a:t>À remettre : brief, propositions et choix justifié.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23–39. Les exemples et mises en pratique sont des adaptations pédagogiques. Consulter le manuel pour le cours détaillé.</a:t>
            </a:r>
          </a:p>
          <a:p xmlns:a="http://schemas.openxmlformats.org/drawingml/2006/main">
            <a:r>
              <a:t>Les brouillons RH demandent une relecture attentive.</a:t>
            </a:r>
          </a:p>
          <a:p xmlns:a="http://schemas.openxmlformats.org/drawingml/2006/main">
            <a:r>
              <a:t>L’IA peut aider à structurer une communication ou une fiche de poste.</a:t>
            </a:r>
          </a:p>
          <a:p xmlns:a="http://schemas.openxmlformats.org/drawingml/2006/main">
            <a:r>
              <a:t>Utilisez des données fictives et vérifiez les formulations qui concernent les personnes.</a:t>
            </a:r>
          </a:p>
          <a:p xmlns:a="http://schemas.openxmlformats.org/drawingml/2006/main">
            <a:r>
              <a:t>Conserver une décision humaine pour les situations individuelles.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23–39. Les exemples et mises en pratique sont des adaptations pédagogiques. Consulter le manuel pour le cours détaillé.</a:t>
            </a:r>
          </a:p>
          <a:p xmlns:a="http://schemas.openxmlformats.org/drawingml/2006/main">
            <a:r>
              <a:t>Une fiche utile décrit les activités et les compétences attendues.</a:t>
            </a:r>
          </a:p>
          <a:p xmlns:a="http://schemas.openxmlformats.org/drawingml/2006/main">
            <a:r>
              <a:t>Préparez une fonction fictive avec ses missions et ses contraintes.</a:t>
            </a:r>
          </a:p>
          <a:p xmlns:a="http://schemas.openxmlformats.org/drawingml/2006/main">
            <a:r>
              <a:t>Demandez une reformulation, puis vérifiez précision et équité des critères.</a:t>
            </a:r>
          </a:p>
          <a:p xmlns:a="http://schemas.openxmlformats.org/drawingml/2006/main">
            <a:r>
              <a:t>À remettre : brief, fiche et corrections argumentées.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23–39. Les exemples et mises en pratique sont des adaptations pédagogiques. Consulter le manuel pour le cours détaillé.</a:t>
            </a:r>
          </a:p>
          <a:p xmlns:a="http://schemas.openxmlformats.org/drawingml/2006/main">
            <a:r>
              <a:t>La synthèse documentaire doit garder la trace des chiffres.</a:t>
            </a:r>
          </a:p>
          <a:p xmlns:a="http://schemas.openxmlformats.org/drawingml/2006/main">
            <a:r>
              <a:t>Fournissez uniquement les documents autorisés et identifiez leur période.</a:t>
            </a:r>
          </a:p>
          <a:p xmlns:a="http://schemas.openxmlformats.org/drawingml/2006/main">
            <a:r>
              <a:t>Vérifiez les montants, les unités et les références des informations extraites.</a:t>
            </a:r>
          </a:p>
          <a:p xmlns:a="http://schemas.openxmlformats.org/drawingml/2006/main">
            <a:r>
              <a:t>Une personne compétente valide l’usage des résultats.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23–39. Les exemples et mises en pratique sont des adaptations pédagogiques. Consulter le manuel pour le cours détaillé.</a:t>
            </a:r>
          </a:p>
          <a:p xmlns:a="http://schemas.openxmlformats.org/drawingml/2006/main">
            <a:r>
              <a:t>Retrouver les informations sans combler les lacunes.</a:t>
            </a:r>
          </a:p>
          <a:p xmlns:a="http://schemas.openxmlformats.org/drawingml/2006/main">
            <a:r>
              <a:t>Utilisez un document fictif avec quelques montants et périodes explicites.</a:t>
            </a:r>
          </a:p>
          <a:p xmlns:a="http://schemas.openxmlformats.org/drawingml/2006/main">
            <a:r>
              <a:t>Demandez une extraction et marquez les champs absents « Non renseigné ».</a:t>
            </a:r>
          </a:p>
          <a:p xmlns:a="http://schemas.openxmlformats.org/drawingml/2006/main">
            <a:r>
              <a:t>À remettre : tableau de résultats et contrôle de chaque valeur.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23–39. Les exemples et mises en pratique sont des adaptations pédagogiques. Consulter le manuel pour le cours détaillé.</a:t>
            </a:r>
          </a:p>
          <a:p xmlns:a="http://schemas.openxmlformats.org/drawingml/2006/main">
            <a:r>
              <a:t>L’assistance documentaire exige des sources identifiables.</a:t>
            </a:r>
          </a:p>
          <a:p xmlns:a="http://schemas.openxmlformats.org/drawingml/2006/main">
            <a:r>
              <a:t>Le système peut préparer un repérage de passages dans les documents fournis.</a:t>
            </a:r>
          </a:p>
          <a:p xmlns:a="http://schemas.openxmlformats.org/drawingml/2006/main">
            <a:r>
              <a:t>Il doit signaler les informations absentes ou contradictoires.</a:t>
            </a:r>
          </a:p>
          <a:p xmlns:a="http://schemas.openxmlformats.org/drawingml/2006/main">
            <a:r>
              <a:t>Un professionnel compétent valide toute utilisation juridique.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23–39. Les exemples et mises en pratique sont des adaptations pédagogiques. Consulter le manuel pour le cours détaillé.</a:t>
            </a:r>
          </a:p>
          <a:p xmlns:a="http://schemas.openxmlformats.org/drawingml/2006/main">
            <a:r>
              <a:t>La comparaison décrit les différences observables.</a:t>
            </a:r>
          </a:p>
          <a:p xmlns:a="http://schemas.openxmlformats.org/drawingml/2006/main">
            <a:r>
              <a:t>Fournissez deux versions fictives d’un même document.</a:t>
            </a:r>
          </a:p>
          <a:p xmlns:a="http://schemas.openxmlformats.org/drawingml/2006/main">
            <a:r>
              <a:t>Demandez les modifications avec leurs passages de référence, sans conclusion juridique inventée.</a:t>
            </a:r>
          </a:p>
          <a:p xmlns:a="http://schemas.openxmlformats.org/drawingml/2006/main">
            <a:r>
              <a:t>À remettre : comparaison et vérification des extraits.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23–39. Les exemples et mises en pratique sont des adaptations pédagogiques. Consulter le manuel pour le cours détaillé.</a:t>
            </a:r>
          </a:p>
          <a:p xmlns:a="http://schemas.openxmlformats.org/drawingml/2006/main">
            <a:r>
              <a:t>Un usage pédagogique doit rester dans un périmètre contrôlé.</a:t>
            </a:r>
          </a:p>
          <a:p xmlns:a="http://schemas.openxmlformats.org/drawingml/2006/main">
            <a:r>
              <a:t>Préparez une explication à partir de documents validés et destinés au public concerné.</a:t>
            </a:r>
          </a:p>
          <a:p xmlns:a="http://schemas.openxmlformats.org/drawingml/2006/main">
            <a:r>
              <a:t>Faites relire le résultat par un professionnel compétent.</a:t>
            </a:r>
          </a:p>
          <a:p xmlns:a="http://schemas.openxmlformats.org/drawingml/2006/main">
            <a:r>
              <a:t>Ce cas ne prévoit ni diagnostic ni décision clinique automatisée.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23–39. Les exemples et mises en pratique sont des adaptations pédagogiques. Consulter le manuel pour le cours détaillé.</a:t>
            </a:r>
          </a:p>
          <a:p xmlns:a="http://schemas.openxmlformats.org/drawingml/2006/main">
            <a:r>
              <a:t>L’IA peut aider à adapter une explication à un public.</a:t>
            </a:r>
          </a:p>
          <a:p xmlns:a="http://schemas.openxmlformats.org/drawingml/2006/main">
            <a:r>
              <a:t>Précisez les prérequis, l’objectif et le niveau de langage.</a:t>
            </a:r>
          </a:p>
          <a:p xmlns:a="http://schemas.openxmlformats.org/drawingml/2006/main">
            <a:r>
              <a:t>Relisez les exemples et vérifiez que l’activité évalue bien l’objectif.</a:t>
            </a:r>
          </a:p>
          <a:p xmlns:a="http://schemas.openxmlformats.org/drawingml/2006/main">
            <a:r>
              <a:t>Le formateur garde la responsabilité du contenu et de la correction.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23–39. Les exemples et mises en pratique sont des adaptations pédagogiques. Consulter le manuel pour le cours détaillé.</a:t>
            </a:r>
          </a:p>
          <a:p xmlns:a="http://schemas.openxmlformats.org/drawingml/2006/main">
            <a:r>
              <a:t>L’activité doit rendre la compétence observable.</a:t>
            </a:r>
          </a:p>
          <a:p xmlns:a="http://schemas.openxmlformats.org/drawingml/2006/main">
            <a:r>
              <a:t>Choisissez un objectif et créez un exercice pour un public défini.</a:t>
            </a:r>
          </a:p>
          <a:p xmlns:a="http://schemas.openxmlformats.org/drawingml/2006/main">
            <a:r>
              <a:t>Précisez la production attendue et les critères de correction.</a:t>
            </a:r>
          </a:p>
          <a:p xmlns:a="http://schemas.openxmlformats.org/drawingml/2006/main">
            <a:r>
              <a:t>À remettre : objectif, activité et éléments de correction.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23–39. Les exemples et mises en pratique sont des adaptations pédagogiques. Consulter le manuel pour le cours détaillé.</a:t>
            </a:r>
          </a:p>
          <a:p xmlns:a="http://schemas.openxmlformats.org/drawingml/2006/main">
            <a:r>
              <a:t>La rédaction doit rester fidèle à la fiche du bien.</a:t>
            </a:r>
          </a:p>
          <a:p xmlns:a="http://schemas.openxmlformats.org/drawingml/2006/main">
            <a:r>
              <a:t>Fournissez les caractéristiques vérifiées et les informations autorisées.</a:t>
            </a:r>
          </a:p>
          <a:p xmlns:a="http://schemas.openxmlformats.org/drawingml/2006/main">
            <a:r>
              <a:t>Contrôlez les surfaces, les équipements et les conditions mentionnées.</a:t>
            </a:r>
          </a:p>
          <a:p xmlns:a="http://schemas.openxmlformats.org/drawingml/2006/main">
            <a:r>
              <a:t>Ne pas ajouter un avantage ou une caractéristique absente de la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23–39. Les exemples et mises en pratique sont des adaptations pédagogiques. Consulter le manuel pour le cours détaillé.</a:t>
            </a:r>
          </a:p>
          <a:p xmlns:a="http://schemas.openxmlformats.org/drawingml/2006/main">
            <a:r>
              <a:t>L’assistance documentaire doit respecter les consignes de sécurité.</a:t>
            </a:r>
          </a:p>
          <a:p xmlns:a="http://schemas.openxmlformats.org/drawingml/2006/main">
            <a:r>
              <a:t>Utilisez une documentation autorisée et identifiez sa version.</a:t>
            </a:r>
          </a:p>
          <a:p xmlns:a="http://schemas.openxmlformats.org/drawingml/2006/main">
            <a:r>
              <a:t>Vérifiez les références et transmettez les cas incertains à une personne habilitée.</a:t>
            </a:r>
          </a:p>
          <a:p xmlns:a="http://schemas.openxmlformats.org/drawingml/2006/main">
            <a:r>
              <a:t>Une réponse générée ne suffit pas à autoriser une opération technique.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23–39. Les exemples et mises en pratique sont des adaptations pédagogiques. Consulter le manuel pour le cours détaillé.</a:t>
            </a:r>
          </a:p>
          <a:p xmlns:a="http://schemas.openxmlformats.org/drawingml/2006/main">
            <a:r>
              <a:t>Le risque détermine la profondeur de la validation.</a:t>
            </a:r>
          </a:p>
          <a:p xmlns:a="http://schemas.openxmlformats.org/drawingml/2006/main">
            <a:r>
              <a:t>Communication : vérifier les promesses. Finance : contrôler chiffres et sources.</a:t>
            </a:r>
          </a:p>
          <a:p xmlns:a="http://schemas.openxmlformats.org/drawingml/2006/main">
            <a:r>
              <a:t>RH, santé et juridique : protéger les données et prévoir une validation spécialisée.</a:t>
            </a:r>
          </a:p>
          <a:p xmlns:a="http://schemas.openxmlformats.org/drawingml/2006/main">
            <a:r>
              <a:t>Chaque organisation précise les responsabilités et les limites.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40–47. Les exemples et mises en pratique sont des adaptations pédagogiques. Consulter le manuel pour le cours détaillé.</a:t>
            </a:r>
          </a:p>
          <a:p xmlns:a="http://schemas.openxmlformats.org/drawingml/2006/main">
            <a:r>
              <a:t>Un kit commun facilite le travail de l’équipe.</a:t>
            </a:r>
          </a:p>
          <a:p xmlns:a="http://schemas.openxmlformats.org/drawingml/2006/main">
            <a:r>
              <a:t>Conservez une fiche d’usage, une charte et un brief de référence.</a:t>
            </a:r>
          </a:p>
          <a:p xmlns:a="http://schemas.openxmlformats.org/drawingml/2006/main">
            <a:r>
              <a:t>Ajoutez un compte rendu de test et les critères de validation.</a:t>
            </a:r>
          </a:p>
          <a:p xmlns:a="http://schemas.openxmlformats.org/drawingml/2006/main">
            <a:r>
              <a:t>Adapter les modèles au secteur plutôt que les reprendre sans examen.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17–22. Les exemples et mises en pratique sont des adaptations pédagogiques. Consulter le manuel pour le cours détaillé.</a:t>
            </a:r>
          </a:p>
          <a:p xmlns:a="http://schemas.openxmlformats.org/drawingml/2006/main">
            <a:r>
              <a:t>Le passage du pilote à l’usage courant exige une décision documentée.</a:t>
            </a:r>
          </a:p>
          <a:p xmlns:a="http://schemas.openxmlformats.org/drawingml/2006/main">
            <a:r>
              <a:t>Examinez les résultats, les incidents et les corrections encore nécessaires.</a:t>
            </a:r>
          </a:p>
          <a:p xmlns:a="http://schemas.openxmlformats.org/drawingml/2006/main">
            <a:r>
              <a:t>Organisez l’accompagnement, le suivi et les conditions d’arrêt.</a:t>
            </a:r>
          </a:p>
          <a:p xmlns:a="http://schemas.openxmlformats.org/drawingml/2006/main">
            <a:r>
              <a:t>Une nouvelle version importante doit faire l’objet de nouveaux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51–52. Les exemples et mises en pratique sont des adaptations pédagogiques. Consulter le manuel pour le cours détaillé.</a:t>
            </a:r>
          </a:p>
          <a:p xmlns:a="http://schemas.openxmlformats.org/drawingml/2006/main">
            <a:r>
              <a:t>Le projet rassemble un cas d’usage et son cadre d’exploitation.</a:t>
            </a:r>
          </a:p>
          <a:p xmlns:a="http://schemas.openxmlformats.org/drawingml/2006/main">
            <a:r>
              <a:t>Préparez une fiche de cadrage et un kit de trois à cinq prompts.</a:t>
            </a:r>
          </a:p>
          <a:p xmlns:a="http://schemas.openxmlformats.org/drawingml/2006/main">
            <a:r>
              <a:t>Ajoutez la charte, les indicateurs et le plan d’adoption.</a:t>
            </a:r>
          </a:p>
          <a:p xmlns:a="http://schemas.openxmlformats.org/drawingml/2006/main">
            <a:r>
              <a:t>Présenter un prototype ou une démonstration proportionnée au besoin.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51–52. Les exemples et mises en pratique sont des adaptations pédagogiques. Consulter le manuel pour le cours détaillé.</a:t>
            </a:r>
          </a:p>
          <a:p xmlns:a="http://schemas.openxmlformats.org/drawingml/2006/main">
            <a:r>
              <a:t>Le dossier explique les choix et les résultats réellement observés.</a:t>
            </a:r>
          </a:p>
          <a:p xmlns:a="http://schemas.openxmlformats.org/drawingml/2006/main">
            <a:r>
              <a:t>Présentez le besoin, les données et le processus retenu.</a:t>
            </a:r>
          </a:p>
          <a:p xmlns:a="http://schemas.openxmlformats.org/drawingml/2006/main">
            <a:r>
              <a:t>Ajoutez les essais, les limites, les contrôles et les prochaines étapes.</a:t>
            </a:r>
          </a:p>
          <a:p xmlns:a="http://schemas.openxmlformats.org/drawingml/2006/main">
            <a:r>
              <a:t>Le support prévoit une présentation finale de 10 à 15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48–52. Les exemples et mises en pratique sont des adaptations pédagogiques. Consulter le manuel pour le cours détaillé.</a:t>
            </a:r>
          </a:p>
          <a:p xmlns:a="http://schemas.openxmlformats.org/drawingml/2006/main">
            <a:r>
              <a:t>Le manuel prévoit un QCM et un projet sectoriel.</a:t>
            </a:r>
          </a:p>
          <a:p xmlns:a="http://schemas.openxmlformats.org/drawingml/2006/main">
            <a:r>
              <a:t>QCM annoncé : 30 questions. Projet : 70 points.</a:t>
            </a:r>
          </a:p>
          <a:p xmlns:a="http://schemas.openxmlformats.org/drawingml/2006/main">
            <a:r>
              <a:t>Les critères portent notamment sur le cas, les prompts, les risques et le déploiement.</a:t>
            </a:r>
          </a:p>
          <a:p xmlns:a="http://schemas.openxmlformats.org/drawingml/2006/main">
            <a:r>
              <a:t>Consulter la grille complète du manuel pour préparer la restitution.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4. Source : manuel fourni par l’utilisateur, version août 2026, pages 53–60. Les exemples et mises en pratique sont des adaptations pédagogiques. Consulter le manuel pour le cours détaillé.</a:t>
            </a:r>
          </a:p>
          <a:p xmlns:a="http://schemas.openxmlformats.org/drawingml/2006/main">
            <a:r>
              <a:t>La maîtrise se construit par des usages documentés et vérifiés.</a:t>
            </a:r>
          </a:p>
          <a:p xmlns:a="http://schemas.openxmlformats.org/drawingml/2006/main">
            <a:r>
              <a:t>Conservez vos meilleurs exemples ainsi que les cas où le système échoue.</a:t>
            </a:r>
          </a:p>
          <a:p xmlns:a="http://schemas.openxmlformats.org/drawingml/2006/main">
            <a:r>
              <a:t>Révisez les pratiques lorsque les besoins, les données ou les outils changent.</a:t>
            </a:r>
          </a:p>
          <a:p xmlns:a="http://schemas.openxmlformats.org/drawingml/2006/main">
            <a:r>
              <a:t>Ressource de référence : le manuel complet du niveau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29ec3423ea470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5756427fc84e9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613001dc9e47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3c447f65254e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074796613746c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5074b5ae494a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E8CEDC8-8CCE-4FC4-9146-17B8FB7E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778BDEB-5C75-438D-9E72-04BBA0FA1B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487197A-3635-4FC8-858F-004D92936BB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4A863CB-898A-4ED1-89DD-7AA53959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A8EF0D0-E26C-432F-9D07-6BE5809939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C22F3B1-8877-4080-834F-680F96A1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7D9B86C-8EB3-437F-AF0B-08FF01D907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12463B31-7FFC-47F6-8A9E-5CFE4E19AC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38A6F6D-6EEF-4112-A02E-83BCB121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657364A-48AC-4BE4-9BB4-77F503F5BF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27CB75-5BF8-4FCF-BCD2-EF31C263C3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1427417-34E4-4175-94F2-1E33CF2DCC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74C1BF9-861A-4237-AE19-418BA502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50DB9D0-4013-49B5-A570-314C355B28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84DA73-12D5-4801-8BC4-CBA0464B4F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d2b91a49334760" /><Relationship Type="http://schemas.openxmlformats.org/officeDocument/2006/relationships/slideLayout" Target="/ppt/slideLayouts/slideLayout1.xml" Id="R13f76d7eb407445b" /><Relationship Type="http://schemas.openxmlformats.org/officeDocument/2006/relationships/slideLayout" Target="/ppt/slideLayouts/slideLayout2.xml" Id="Ra080f9ddb35e4fce" /><Relationship Type="http://schemas.openxmlformats.org/officeDocument/2006/relationships/slideLayout" Target="/ppt/slideLayouts/slideLayout3.xml" Id="R3d319c5c70a24c73" /><Relationship Type="http://schemas.openxmlformats.org/officeDocument/2006/relationships/slideLayout" Target="/ppt/slideLayouts/slideLayout4.xml" Id="R9f0072bd65904d3e" /><Relationship Type="http://schemas.openxmlformats.org/officeDocument/2006/relationships/slideLayout" Target="/ppt/slideLayouts/slideLayout5.xml" Id="Rac74fc9b9d79417b" /><Relationship Type="http://schemas.openxmlformats.org/officeDocument/2006/relationships/slideLayout" Target="/ppt/slideLayouts/slideLayout6.xml" Id="Rcc3c62749b0240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f76d7eb407445b"/>
    <p:sldLayoutId xmlns:r="http://schemas.openxmlformats.org/officeDocument/2006/relationships" id="2147483650" r:id="Ra080f9ddb35e4fce"/>
    <p:sldLayoutId xmlns:r="http://schemas.openxmlformats.org/officeDocument/2006/relationships" id="2147483651" r:id="R3d319c5c70a24c73"/>
    <p:sldLayoutId xmlns:r="http://schemas.openxmlformats.org/officeDocument/2006/relationships" id="2147483652" r:id="R9f0072bd65904d3e"/>
    <p:sldLayoutId xmlns:r="http://schemas.openxmlformats.org/officeDocument/2006/relationships" id="2147483653" r:id="Rac74fc9b9d79417b"/>
    <p:sldLayoutId xmlns:r="http://schemas.openxmlformats.org/officeDocument/2006/relationships" id="2147483654" r:id="Rcc3c62749b0240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0cbbceaac64ec3" /><Relationship Type="http://schemas.openxmlformats.org/officeDocument/2006/relationships/image" Target="/ppt/media/image.png" Id="Rcb0a17fe98f94d88" /><Relationship Type="http://schemas.openxmlformats.org/officeDocument/2006/relationships/notesSlide" Target="/ppt/notesSlides/notesSlide1.xml" Id="Rf142f3a1237648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9febc66c034c5f" /><Relationship Type="http://schemas.openxmlformats.org/officeDocument/2006/relationships/image" Target="/ppt/media/image2.png" Id="R435fab51260f4022" /><Relationship Type="http://schemas.openxmlformats.org/officeDocument/2006/relationships/notesSlide" Target="/ppt/notesSlides/notesSlide2.xml" Id="Rbffa7174af464c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f76cdb6e5b457e" /><Relationship Type="http://schemas.openxmlformats.org/officeDocument/2006/relationships/image" Target="/ppt/media/image3.png" Id="Rf78ff2b417db4441" /><Relationship Type="http://schemas.openxmlformats.org/officeDocument/2006/relationships/notesSlide" Target="/ppt/notesSlides/notesSlide3.xml" Id="R8ba0c916077d41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07f513f9ad4219" /><Relationship Type="http://schemas.openxmlformats.org/officeDocument/2006/relationships/image" Target="/ppt/media/image4.png" Id="R8772676479164ac0" /><Relationship Type="http://schemas.openxmlformats.org/officeDocument/2006/relationships/notesSlide" Target="/ppt/notesSlides/notesSlide4.xml" Id="R66eb0de9a60f43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06c6ee3f714c33" /><Relationship Type="http://schemas.openxmlformats.org/officeDocument/2006/relationships/image" Target="/ppt/media/image5.png" Id="Re382f8e03d4148bb" /><Relationship Type="http://schemas.openxmlformats.org/officeDocument/2006/relationships/notesSlide" Target="/ppt/notesSlides/notesSlide5.xml" Id="Rcae1821706d446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f1cc93a53b4a6b" /><Relationship Type="http://schemas.openxmlformats.org/officeDocument/2006/relationships/image" Target="/ppt/media/image6.png" Id="R0d49ae0b66a34c41" /><Relationship Type="http://schemas.openxmlformats.org/officeDocument/2006/relationships/notesSlide" Target="/ppt/notesSlides/notesSlide6.xml" Id="Rce4a16362c204f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c644babbf4421b" /><Relationship Type="http://schemas.openxmlformats.org/officeDocument/2006/relationships/image" Target="/ppt/media/image7.png" Id="R4a7ea16ed6ae462e" /><Relationship Type="http://schemas.openxmlformats.org/officeDocument/2006/relationships/notesSlide" Target="/ppt/notesSlides/notesSlide7.xml" Id="R2afefc935cc24d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af76c22ef94176" /><Relationship Type="http://schemas.openxmlformats.org/officeDocument/2006/relationships/image" Target="/ppt/media/image8.png" Id="R76a8b2ff731a47d4" /><Relationship Type="http://schemas.openxmlformats.org/officeDocument/2006/relationships/notesSlide" Target="/ppt/notesSlides/notesSlide8.xml" Id="Rf5c44f79b6144e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a72012fd894451" /><Relationship Type="http://schemas.openxmlformats.org/officeDocument/2006/relationships/image" Target="/ppt/media/image9.png" Id="Rb82995590e934679" /><Relationship Type="http://schemas.openxmlformats.org/officeDocument/2006/relationships/notesSlide" Target="/ppt/notesSlides/notesSlide9.xml" Id="Re29f5009582b403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5b0bd968884618" /><Relationship Type="http://schemas.openxmlformats.org/officeDocument/2006/relationships/image" Target="/ppt/media/image10.png" Id="R647e19cfc1e04990" /><Relationship Type="http://schemas.openxmlformats.org/officeDocument/2006/relationships/notesSlide" Target="/ppt/notesSlides/notesSlide10.xml" Id="R7f425e0b0b6d42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dcadc2c6ee43d1" /><Relationship Type="http://schemas.openxmlformats.org/officeDocument/2006/relationships/image" Target="/ppt/media/image11.png" Id="R1f98c3facb7f494f" /><Relationship Type="http://schemas.openxmlformats.org/officeDocument/2006/relationships/notesSlide" Target="/ppt/notesSlides/notesSlide11.xml" Id="Rf946dd30605a4f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c6e54b37a0418b" /><Relationship Type="http://schemas.openxmlformats.org/officeDocument/2006/relationships/image" Target="/ppt/media/image12.png" Id="R00aa06a666154c7c" /><Relationship Type="http://schemas.openxmlformats.org/officeDocument/2006/relationships/notesSlide" Target="/ppt/notesSlides/notesSlide12.xml" Id="R665b22357b56408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a884110eaf4d6c" /><Relationship Type="http://schemas.openxmlformats.org/officeDocument/2006/relationships/image" Target="/ppt/media/image13.png" Id="Rfb15355d61d6485c" /><Relationship Type="http://schemas.openxmlformats.org/officeDocument/2006/relationships/notesSlide" Target="/ppt/notesSlides/notesSlide13.xml" Id="Rd4b832b6a6234ea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986f2b3a814dc8" /><Relationship Type="http://schemas.openxmlformats.org/officeDocument/2006/relationships/image" Target="/ppt/media/image14.png" Id="Re860a546ec4748e9" /><Relationship Type="http://schemas.openxmlformats.org/officeDocument/2006/relationships/notesSlide" Target="/ppt/notesSlides/notesSlide14.xml" Id="Ra497e4846ce0451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19c5ee61fe491f" /><Relationship Type="http://schemas.openxmlformats.org/officeDocument/2006/relationships/image" Target="/ppt/media/image15.png" Id="Ra3296090f3ea4187" /><Relationship Type="http://schemas.openxmlformats.org/officeDocument/2006/relationships/notesSlide" Target="/ppt/notesSlides/notesSlide15.xml" Id="Rd5fecb21cacb405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91d3f090434182" /><Relationship Type="http://schemas.openxmlformats.org/officeDocument/2006/relationships/image" Target="/ppt/media/image16.png" Id="R6d0ef87ca78b4caf" /><Relationship Type="http://schemas.openxmlformats.org/officeDocument/2006/relationships/notesSlide" Target="/ppt/notesSlides/notesSlide16.xml" Id="R7e801f2b26fa477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0b125f27aa4a0d" /><Relationship Type="http://schemas.openxmlformats.org/officeDocument/2006/relationships/image" Target="/ppt/media/image17.png" Id="R2a6358b07a934bf2" /><Relationship Type="http://schemas.openxmlformats.org/officeDocument/2006/relationships/notesSlide" Target="/ppt/notesSlides/notesSlide17.xml" Id="R94c61670099c4a8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c80e8eced94ff0" /><Relationship Type="http://schemas.openxmlformats.org/officeDocument/2006/relationships/image" Target="/ppt/media/image18.png" Id="R2d6de28f00164b4a" /><Relationship Type="http://schemas.openxmlformats.org/officeDocument/2006/relationships/notesSlide" Target="/ppt/notesSlides/notesSlide18.xml" Id="R35106b19a0fe44b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628d50af97414e" /><Relationship Type="http://schemas.openxmlformats.org/officeDocument/2006/relationships/image" Target="/ppt/media/image19.png" Id="Re5424e45e06347d8" /><Relationship Type="http://schemas.openxmlformats.org/officeDocument/2006/relationships/notesSlide" Target="/ppt/notesSlides/notesSlide19.xml" Id="Re9df065dcb47477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7091f3f8d54e5a" /><Relationship Type="http://schemas.openxmlformats.org/officeDocument/2006/relationships/image" Target="/ppt/media/image20.png" Id="Ra8f77aaa31264331" /><Relationship Type="http://schemas.openxmlformats.org/officeDocument/2006/relationships/notesSlide" Target="/ppt/notesSlides/notesSlide20.xml" Id="Rf2ff9ce7ee614e4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394b51a8ee4248" /><Relationship Type="http://schemas.openxmlformats.org/officeDocument/2006/relationships/image" Target="/ppt/media/image21.png" Id="R084b34ce5bcc4781" /><Relationship Type="http://schemas.openxmlformats.org/officeDocument/2006/relationships/notesSlide" Target="/ppt/notesSlides/notesSlide21.xml" Id="Rfc8d25c775e047e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1b737333364d16" /><Relationship Type="http://schemas.openxmlformats.org/officeDocument/2006/relationships/image" Target="/ppt/media/image22.png" Id="R1a117596ccea430d" /><Relationship Type="http://schemas.openxmlformats.org/officeDocument/2006/relationships/notesSlide" Target="/ppt/notesSlides/notesSlide22.xml" Id="R746e5666608742d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fcb47b353c4b71" /><Relationship Type="http://schemas.openxmlformats.org/officeDocument/2006/relationships/image" Target="/ppt/media/image23.png" Id="R304cfc36291148f7" /><Relationship Type="http://schemas.openxmlformats.org/officeDocument/2006/relationships/notesSlide" Target="/ppt/notesSlides/notesSlide23.xml" Id="R858a2f0fac6c40a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4ecffac7f64214" /><Relationship Type="http://schemas.openxmlformats.org/officeDocument/2006/relationships/image" Target="/ppt/media/image24.png" Id="Rafaea67d9d8e40c5" /><Relationship Type="http://schemas.openxmlformats.org/officeDocument/2006/relationships/notesSlide" Target="/ppt/notesSlides/notesSlide24.xml" Id="Re6c6a4e3b88048b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d8348c8fe94c49" /><Relationship Type="http://schemas.openxmlformats.org/officeDocument/2006/relationships/image" Target="/ppt/media/image25.png" Id="R0fbc73cc075746c3" /><Relationship Type="http://schemas.openxmlformats.org/officeDocument/2006/relationships/notesSlide" Target="/ppt/notesSlides/notesSlide25.xml" Id="R821d9dc89252499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4bc3ccd5a743ed" /><Relationship Type="http://schemas.openxmlformats.org/officeDocument/2006/relationships/image" Target="/ppt/media/image26.png" Id="Rb3a69f9ca7d14f74" /><Relationship Type="http://schemas.openxmlformats.org/officeDocument/2006/relationships/notesSlide" Target="/ppt/notesSlides/notesSlide26.xml" Id="R8c7421e715db4e3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c06087e2a24f35" /><Relationship Type="http://schemas.openxmlformats.org/officeDocument/2006/relationships/image" Target="/ppt/media/image27.png" Id="Rd35f61e9953a43ac" /><Relationship Type="http://schemas.openxmlformats.org/officeDocument/2006/relationships/notesSlide" Target="/ppt/notesSlides/notesSlide27.xml" Id="R576178c2adee483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10285d403a499b" /><Relationship Type="http://schemas.openxmlformats.org/officeDocument/2006/relationships/image" Target="/ppt/media/image28.png" Id="Rc8c803bd16c44e6f" /><Relationship Type="http://schemas.openxmlformats.org/officeDocument/2006/relationships/notesSlide" Target="/ppt/notesSlides/notesSlide28.xml" Id="R6548ea6659274bd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dc3639d8c9471d" /><Relationship Type="http://schemas.openxmlformats.org/officeDocument/2006/relationships/image" Target="/ppt/media/image29.png" Id="R96d4d1a9450f42f7" /><Relationship Type="http://schemas.openxmlformats.org/officeDocument/2006/relationships/notesSlide" Target="/ppt/notesSlides/notesSlide29.xml" Id="Rbcc8875ed3624d4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d0cc5dabd0443c" /><Relationship Type="http://schemas.openxmlformats.org/officeDocument/2006/relationships/image" Target="/ppt/media/image30.png" Id="R8fae09b2df7d4dde" /><Relationship Type="http://schemas.openxmlformats.org/officeDocument/2006/relationships/notesSlide" Target="/ppt/notesSlides/notesSlide30.xml" Id="Re1e1dc89905d47e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ef0d40f1ee485f" /><Relationship Type="http://schemas.openxmlformats.org/officeDocument/2006/relationships/image" Target="/ppt/media/image31.png" Id="Rf5c74f88bd954e13" /><Relationship Type="http://schemas.openxmlformats.org/officeDocument/2006/relationships/notesSlide" Target="/ppt/notesSlides/notesSlide31.xml" Id="R4ccac0382fc84bd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efa07847d74998" /><Relationship Type="http://schemas.openxmlformats.org/officeDocument/2006/relationships/image" Target="/ppt/media/image32.png" Id="Read6c93721384b55" /><Relationship Type="http://schemas.openxmlformats.org/officeDocument/2006/relationships/notesSlide" Target="/ppt/notesSlides/notesSlide32.xml" Id="R0ed70cf91adc4bb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c9132cdc3a437d" /><Relationship Type="http://schemas.openxmlformats.org/officeDocument/2006/relationships/image" Target="/ppt/media/image33.png" Id="Rde0f9fd59e784658" /><Relationship Type="http://schemas.openxmlformats.org/officeDocument/2006/relationships/notesSlide" Target="/ppt/notesSlides/notesSlide33.xml" Id="R686e3f593f1a4aa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cc7bf599b34683" /><Relationship Type="http://schemas.openxmlformats.org/officeDocument/2006/relationships/image" Target="/ppt/media/image34.png" Id="Rd44b3ae139014de0" /><Relationship Type="http://schemas.openxmlformats.org/officeDocument/2006/relationships/notesSlide" Target="/ppt/notesSlides/notesSlide34.xml" Id="Rbc54f63467d140c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ab83356b384a09" /><Relationship Type="http://schemas.openxmlformats.org/officeDocument/2006/relationships/image" Target="/ppt/media/image35.png" Id="Rdc8c3d24e19f4b93" /><Relationship Type="http://schemas.openxmlformats.org/officeDocument/2006/relationships/notesSlide" Target="/ppt/notesSlides/notesSlide35.xml" Id="R30c6f8ebe418460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555f0d79454686" /><Relationship Type="http://schemas.openxmlformats.org/officeDocument/2006/relationships/image" Target="/ppt/media/image36.png" Id="Rd121367b7ea143f1" /><Relationship Type="http://schemas.openxmlformats.org/officeDocument/2006/relationships/notesSlide" Target="/ppt/notesSlides/notesSlide36.xml" Id="R1a1058dd9d1d4fe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4b0cbed2cf4a0d" /><Relationship Type="http://schemas.openxmlformats.org/officeDocument/2006/relationships/image" Target="/ppt/media/image37.png" Id="Rcd2cb85f142e46ed" /><Relationship Type="http://schemas.openxmlformats.org/officeDocument/2006/relationships/notesSlide" Target="/ppt/notesSlides/notesSlide37.xml" Id="R95df467cc9124b6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2c7ea333304a6a" /><Relationship Type="http://schemas.openxmlformats.org/officeDocument/2006/relationships/image" Target="/ppt/media/image38.png" Id="Red9f93dac0ea40d1" /><Relationship Type="http://schemas.openxmlformats.org/officeDocument/2006/relationships/notesSlide" Target="/ppt/notesSlides/notesSlide38.xml" Id="Ra5f32975ca1a4e2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49984294a1467a" /><Relationship Type="http://schemas.openxmlformats.org/officeDocument/2006/relationships/image" Target="/ppt/media/image39.png" Id="Rb129a12d808d4c41" /><Relationship Type="http://schemas.openxmlformats.org/officeDocument/2006/relationships/notesSlide" Target="/ppt/notesSlides/notesSlide39.xml" Id="R6a81a3d91486456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e78d51453c4027" /><Relationship Type="http://schemas.openxmlformats.org/officeDocument/2006/relationships/image" Target="/ppt/media/image40.png" Id="Rba2652a007f34cd4" /><Relationship Type="http://schemas.openxmlformats.org/officeDocument/2006/relationships/notesSlide" Target="/ppt/notesSlides/notesSlide40.xml" Id="Rf1726153085447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D0A6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0a17fe98f94d88"/>
          <a:stretch xmlns:a="http://schemas.openxmlformats.org/drawingml/2006/main"/>
        </p:blipFill>
        <p:spPr>
          <a:xfrm xmlns:a="http://schemas.openxmlformats.org/drawingml/2006/main">
            <a:off x="914400" y="400050"/>
            <a:ext cx="3429000" cy="1714500"/>
          </a:xfrm>
          <a:prstGeom xmlns:a="http://schemas.openxmlformats.org/drawingml/2006/main" prst="rect">
            <a:avLst/>
          </a:prstGeom>
        </p:spPr>
      </p:pic>
      <p:sp>
        <p:nvSpPr>
          <p:cNvPr id="2" name="NIVEAU 4">
            <a:extLst xmlns:a="http://schemas.openxmlformats.org/drawingml/2006/main">
              <a:ext uri="{FF2B5EF4-FFF2-40B4-BE49-F238E27FC236}">
                <a16:creationId xmlns:a16="http://schemas.microsoft.com/office/drawing/2014/main" id="{0072FDE4-D88E-4212-A7A8-E75FBE87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NIVEAU 4</a:t>
            </a:r>
          </a:p>
        </p:txBody>
      </p:sp>
      <p:sp>
        <p:nvSpPr>
          <p:cNvPr id="3" name="IA générative appliquée aux métiers">
            <a:extLst xmlns:a="http://schemas.openxmlformats.org/drawingml/2006/main">
              <a:ext uri="{FF2B5EF4-FFF2-40B4-BE49-F238E27FC236}">
                <a16:creationId xmlns:a16="http://schemas.microsoft.com/office/drawing/2014/main" id="{304B47B3-A15F-4A80-9BFD-CA4A040C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10334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4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IA générative appliquée aux métiers</a:t>
            </a:r>
          </a:p>
        </p:txBody>
      </p:sp>
      <p:sp>
        <p:nvSpPr>
          <p:cNvPr id="4" name="Choisir un usage, cadrer un projet et accompagner ">
            <a:extLst xmlns:a="http://schemas.openxmlformats.org/drawingml/2006/main">
              <a:ext uri="{FF2B5EF4-FFF2-40B4-BE49-F238E27FC236}">
                <a16:creationId xmlns:a16="http://schemas.microsoft.com/office/drawing/2014/main" id="{F657BC32-9206-41D7-A4F7-4C81EBF7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981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Choisir un usage, cadrer un projet et accompagner son adoption.</a:t>
            </a:r>
          </a:p>
        </p:txBody>
      </p:sp>
      <p:sp>
        <p:nvSpPr>
          <p:cNvPr id="5" name="Parcours adapté au secteur  ·  Support de cours">
            <a:extLst xmlns:a="http://schemas.openxmlformats.org/drawingml/2006/main">
              <a:ext uri="{FF2B5EF4-FFF2-40B4-BE49-F238E27FC236}">
                <a16:creationId xmlns:a16="http://schemas.microsoft.com/office/drawing/2014/main" id="{F505AC5D-CECF-40A4-B59D-A6BF0930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Parcours adapté au secteur  ·  Support de cours</a:t>
            </a:r>
          </a:p>
        </p:txBody>
      </p:sp>
    </p:spTree>
    <p:extLst>
      <p:ext uri="{BB962C8B-B14F-4D97-AF65-F5344CB8AC3E}">
        <p14:creationId xmlns:p14="http://schemas.microsoft.com/office/powerpoint/2010/main" val="7983530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85B825-A826-403C-AC4F-F7D86995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4">
            <a:extLst xmlns:a="http://schemas.openxmlformats.org/drawingml/2006/main">
              <a:ext uri="{FF2B5EF4-FFF2-40B4-BE49-F238E27FC236}">
                <a16:creationId xmlns:a16="http://schemas.microsoft.com/office/drawing/2014/main" id="{A8521D37-4C86-43B7-8513-0C9789D8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4</a:t>
            </a:r>
          </a:p>
        </p:txBody>
      </p:sp>
      <p:sp>
        <p:nvSpPr>
          <p:cNvPr id="3" name="Les compétences visées">
            <a:extLst xmlns:a="http://schemas.openxmlformats.org/drawingml/2006/main">
              <a:ext uri="{FF2B5EF4-FFF2-40B4-BE49-F238E27FC236}">
                <a16:creationId xmlns:a16="http://schemas.microsoft.com/office/drawing/2014/main" id="{4871799C-9414-4295-8D6E-E4D8EF57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Les compétences visées</a:t>
            </a:r>
          </a:p>
        </p:txBody>
      </p:sp>
      <p:sp>
        <p:nvSpPr>
          <p:cNvPr id="4" name="Le projet doit répondre à un besoin professionnel ">
            <a:extLst xmlns:a="http://schemas.openxmlformats.org/drawingml/2006/main">
              <a:ext uri="{FF2B5EF4-FFF2-40B4-BE49-F238E27FC236}">
                <a16:creationId xmlns:a16="http://schemas.microsoft.com/office/drawing/2014/main" id="{2CAD1299-2639-4D9B-9964-8FAF1416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projet doit répondre à un besoin professionnel identifié.</a:t>
            </a:r>
          </a:p>
        </p:txBody>
      </p:sp>
      <p:sp>
        <p:nvSpPr>
          <p:cNvPr id="5" name="Sélectionner un usage pertinent et définir ses cri">
            <a:extLst xmlns:a="http://schemas.openxmlformats.org/drawingml/2006/main">
              <a:ext uri="{FF2B5EF4-FFF2-40B4-BE49-F238E27FC236}">
                <a16:creationId xmlns:a16="http://schemas.microsoft.com/office/drawing/2014/main" id="{9168E8B2-FFD2-4FEF-A4D1-0E522CA3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Sélectionner un usage pertinent et définir ses critères de réussite.</a:t>
            </a:r>
          </a:p>
        </p:txBody>
      </p:sp>
      <p:sp>
        <p:nvSpPr>
          <p:cNvPr id="6" name="Organiser les responsabilités, les contrôles et l’">
            <a:extLst xmlns:a="http://schemas.openxmlformats.org/drawingml/2006/main">
              <a:ext uri="{FF2B5EF4-FFF2-40B4-BE49-F238E27FC236}">
                <a16:creationId xmlns:a16="http://schemas.microsoft.com/office/drawing/2014/main" id="{7B1745CF-5A4F-4A2B-9112-E0A9228F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Organiser les responsabilités, les contrôles et l’accompagnement des utilisateurs.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277F417E-BD8D-4843-AFC9-5CC332E7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Projet : une solution adaptée à votre secteur.">
            <a:extLst xmlns:a="http://schemas.openxmlformats.org/drawingml/2006/main">
              <a:ext uri="{FF2B5EF4-FFF2-40B4-BE49-F238E27FC236}">
                <a16:creationId xmlns:a16="http://schemas.microsoft.com/office/drawing/2014/main" id="{59FC38E5-BD7E-49D2-A833-AECEDCD7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Projet : une solution adaptée à votre secteur.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fab51260f4022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02 / 40">
            <a:extLst xmlns:a="http://schemas.openxmlformats.org/drawingml/2006/main">
              <a:ext uri="{FF2B5EF4-FFF2-40B4-BE49-F238E27FC236}">
                <a16:creationId xmlns:a16="http://schemas.microsoft.com/office/drawing/2014/main" id="{A65EABD1-FE9D-4CEA-ABDE-45E6B91C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02 / 40</a:t>
            </a:r>
          </a:p>
        </p:txBody>
      </p:sp>
    </p:spTree>
    <p:extLst>
      <p:ext uri="{BB962C8B-B14F-4D97-AF65-F5344CB8AC3E}">
        <p14:creationId xmlns:p14="http://schemas.microsoft.com/office/powerpoint/2010/main" val="16943649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38277-CBBB-4526-B935-CFE66DEE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4">
            <a:extLst xmlns:a="http://schemas.openxmlformats.org/drawingml/2006/main">
              <a:ext uri="{FF2B5EF4-FFF2-40B4-BE49-F238E27FC236}">
                <a16:creationId xmlns:a16="http://schemas.microsoft.com/office/drawing/2014/main" id="{81ACE500-AA25-4F08-9659-B5233A91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4</a:t>
            </a:r>
          </a:p>
        </p:txBody>
      </p:sp>
      <p:sp>
        <p:nvSpPr>
          <p:cNvPr id="3" name="L’organisation du parcours">
            <a:extLst xmlns:a="http://schemas.openxmlformats.org/drawingml/2006/main">
              <a:ext uri="{FF2B5EF4-FFF2-40B4-BE49-F238E27FC236}">
                <a16:creationId xmlns:a16="http://schemas.microsoft.com/office/drawing/2014/main" id="{D4B28125-88A4-4954-BDBC-D4E6E818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L’organisation du parcours</a:t>
            </a:r>
          </a:p>
        </p:txBody>
      </p:sp>
      <p:sp>
        <p:nvSpPr>
          <p:cNvPr id="4" name="La durée dépend du secteur et des ateliers retenus">
            <a:extLst xmlns:a="http://schemas.openxmlformats.org/drawingml/2006/main">
              <a:ext uri="{FF2B5EF4-FFF2-40B4-BE49-F238E27FC236}">
                <a16:creationId xmlns:a16="http://schemas.microsoft.com/office/drawing/2014/main" id="{51BD9F2B-CF1A-4D3E-8A31-7BDD2C17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durée dépend du secteur et des ateliers retenus.</a:t>
            </a:r>
          </a:p>
        </p:txBody>
      </p:sp>
      <p:sp>
        <p:nvSpPr>
          <p:cNvPr id="5" name="Le manuel propose un repère de 25 h sur 3 à 4 jour">
            <a:extLst xmlns:a="http://schemas.openxmlformats.org/drawingml/2006/main">
              <a:ext uri="{FF2B5EF4-FFF2-40B4-BE49-F238E27FC236}">
                <a16:creationId xmlns:a16="http://schemas.microsoft.com/office/drawing/2014/main" id="{CF5E4498-6557-4F91-B173-CC3E3233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manuel propose un repère de 25 h sur 3 à 4 jours.</a:t>
            </a:r>
          </a:p>
        </p:txBody>
      </p:sp>
      <p:sp>
        <p:nvSpPr>
          <p:cNvPr id="6" name="La répartition s’adapte aux besoins du groupe et a">
            <a:extLst xmlns:a="http://schemas.openxmlformats.org/drawingml/2006/main">
              <a:ext uri="{FF2B5EF4-FFF2-40B4-BE49-F238E27FC236}">
                <a16:creationId xmlns:a16="http://schemas.microsoft.com/office/drawing/2014/main" id="{7E7948AA-7AD4-4113-A311-A9198CAA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répartition s’adapte aux besoins du groupe et au projet choisi.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48E72544-7D07-4EF0-BF2E-EA43DD11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Confirmer le planning de la session avec le format">
            <a:extLst xmlns:a="http://schemas.openxmlformats.org/drawingml/2006/main">
              <a:ext uri="{FF2B5EF4-FFF2-40B4-BE49-F238E27FC236}">
                <a16:creationId xmlns:a16="http://schemas.microsoft.com/office/drawing/2014/main" id="{ABA03695-ACEB-4CAC-85D4-2C2061CE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Confirmer le planning de la session avec le formateur.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ff2b417db4441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03 / 40">
            <a:extLst xmlns:a="http://schemas.openxmlformats.org/drawingml/2006/main">
              <a:ext uri="{FF2B5EF4-FFF2-40B4-BE49-F238E27FC236}">
                <a16:creationId xmlns:a16="http://schemas.microsoft.com/office/drawing/2014/main" id="{F2B4DE2B-A857-4130-BF23-7602BEA9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03 / 40</a:t>
            </a:r>
          </a:p>
        </p:txBody>
      </p:sp>
    </p:spTree>
    <p:extLst>
      <p:ext uri="{BB962C8B-B14F-4D97-AF65-F5344CB8AC3E}">
        <p14:creationId xmlns:p14="http://schemas.microsoft.com/office/powerpoint/2010/main" val="4545038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663A3B-B814-4E15-A660-C9402414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4">
            <a:extLst xmlns:a="http://schemas.openxmlformats.org/drawingml/2006/main">
              <a:ext uri="{FF2B5EF4-FFF2-40B4-BE49-F238E27FC236}">
                <a16:creationId xmlns:a16="http://schemas.microsoft.com/office/drawing/2014/main" id="{7C916A1C-52DD-4C32-BAD2-3621E9A9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4</a:t>
            </a:r>
          </a:p>
        </p:txBody>
      </p:sp>
      <p:sp>
        <p:nvSpPr>
          <p:cNvPr id="3" name="Le diagnostic métier">
            <a:extLst xmlns:a="http://schemas.openxmlformats.org/drawingml/2006/main">
              <a:ext uri="{FF2B5EF4-FFF2-40B4-BE49-F238E27FC236}">
                <a16:creationId xmlns:a16="http://schemas.microsoft.com/office/drawing/2014/main" id="{1AF19763-87D0-4C1A-A2C0-2E7DC5C8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 diagnostic métier</a:t>
            </a:r>
          </a:p>
        </p:txBody>
      </p:sp>
      <p:sp>
        <p:nvSpPr>
          <p:cNvPr id="4" name="Le diagnostic décrit la situation avant toute expé">
            <a:extLst xmlns:a="http://schemas.openxmlformats.org/drawingml/2006/main">
              <a:ext uri="{FF2B5EF4-FFF2-40B4-BE49-F238E27FC236}">
                <a16:creationId xmlns:a16="http://schemas.microsoft.com/office/drawing/2014/main" id="{6260199F-B7FD-41EA-AE43-B7BD561A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diagnostic décrit la situation avant toute expérimentation.</a:t>
            </a:r>
          </a:p>
        </p:txBody>
      </p:sp>
      <p:sp>
        <p:nvSpPr>
          <p:cNvPr id="5" name="Identifiez la tâche, les personnes concernées et l">
            <a:extLst xmlns:a="http://schemas.openxmlformats.org/drawingml/2006/main">
              <a:ext uri="{FF2B5EF4-FFF2-40B4-BE49-F238E27FC236}">
                <a16:creationId xmlns:a16="http://schemas.microsoft.com/office/drawing/2014/main" id="{5C89A340-9D07-4F43-875B-8536A6F2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Identifiez la tâche, les personnes concernées et les données disponibles.</a:t>
            </a:r>
          </a:p>
        </p:txBody>
      </p:sp>
      <p:sp>
        <p:nvSpPr>
          <p:cNvPr id="6" name="Décrivez le livrable attendu et les erreurs qui au">
            <a:extLst xmlns:a="http://schemas.openxmlformats.org/drawingml/2006/main">
              <a:ext uri="{FF2B5EF4-FFF2-40B4-BE49-F238E27FC236}">
                <a16:creationId xmlns:a16="http://schemas.microsoft.com/office/drawing/2014/main" id="{2E8C8076-58BF-43A9-8CD3-5E648B7A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Décrivez le livrable attendu et les erreurs qui auraient des conséquences.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F7B2DF8F-1070-41C5-8CAD-464ABB13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Partir d’un exemple réel, anonymisé si nécessaire.">
            <a:extLst xmlns:a="http://schemas.openxmlformats.org/drawingml/2006/main">
              <a:ext uri="{FF2B5EF4-FFF2-40B4-BE49-F238E27FC236}">
                <a16:creationId xmlns:a16="http://schemas.microsoft.com/office/drawing/2014/main" id="{4CF9FEFA-CADA-4252-9280-1E726F74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Partir d’un exemple réel, anonymisé si nécessaire.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72676479164ac0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04 / 40">
            <a:extLst xmlns:a="http://schemas.openxmlformats.org/drawingml/2006/main">
              <a:ext uri="{FF2B5EF4-FFF2-40B4-BE49-F238E27FC236}">
                <a16:creationId xmlns:a16="http://schemas.microsoft.com/office/drawing/2014/main" id="{A36EE176-444B-4793-8F47-AA79444D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04 / 40</a:t>
            </a:r>
          </a:p>
        </p:txBody>
      </p:sp>
    </p:spTree>
    <p:extLst>
      <p:ext uri="{BB962C8B-B14F-4D97-AF65-F5344CB8AC3E}">
        <p14:creationId xmlns:p14="http://schemas.microsoft.com/office/powerpoint/2010/main" val="4195161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F24430-DC08-4F59-BBFE-475F52A6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4">
            <a:extLst xmlns:a="http://schemas.openxmlformats.org/drawingml/2006/main">
              <a:ext uri="{FF2B5EF4-FFF2-40B4-BE49-F238E27FC236}">
                <a16:creationId xmlns:a16="http://schemas.microsoft.com/office/drawing/2014/main" id="{2E65489E-F528-4C4A-8445-178BB861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4</a:t>
            </a:r>
          </a:p>
        </p:txBody>
      </p:sp>
      <p:sp>
        <p:nvSpPr>
          <p:cNvPr id="3" name="Les familles d’usages">
            <a:extLst xmlns:a="http://schemas.openxmlformats.org/drawingml/2006/main">
              <a:ext uri="{FF2B5EF4-FFF2-40B4-BE49-F238E27FC236}">
                <a16:creationId xmlns:a16="http://schemas.microsoft.com/office/drawing/2014/main" id="{424FA2D1-09B8-4C74-86F1-14537FDA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Les familles d’usages</a:t>
            </a:r>
          </a:p>
        </p:txBody>
      </p:sp>
      <p:sp>
        <p:nvSpPr>
          <p:cNvPr id="4" name="Les tâches de contenu constituent des points de dé">
            <a:extLst xmlns:a="http://schemas.openxmlformats.org/drawingml/2006/main">
              <a:ext uri="{FF2B5EF4-FFF2-40B4-BE49-F238E27FC236}">
                <a16:creationId xmlns:a16="http://schemas.microsoft.com/office/drawing/2014/main" id="{754D62B5-CF19-4C63-8496-CB8055FE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Les tâches de contenu constituent des points de départ possibles.</a:t>
            </a:r>
          </a:p>
        </p:txBody>
      </p:sp>
      <p:sp>
        <p:nvSpPr>
          <p:cNvPr id="5" name="Rédiger un brouillon, résumer des documents ou cla">
            <a:extLst xmlns:a="http://schemas.openxmlformats.org/drawingml/2006/main">
              <a:ext uri="{FF2B5EF4-FFF2-40B4-BE49-F238E27FC236}">
                <a16:creationId xmlns:a16="http://schemas.microsoft.com/office/drawing/2014/main" id="{08E10016-7268-454D-8577-4AF3D772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Rédiger un brouillon, résumer des documents ou classer des demandes.</a:t>
            </a:r>
          </a:p>
        </p:txBody>
      </p:sp>
      <p:sp>
        <p:nvSpPr>
          <p:cNvPr id="6" name="Rechercher des informations et préparer une répons">
            <a:extLst xmlns:a="http://schemas.openxmlformats.org/drawingml/2006/main">
              <a:ext uri="{FF2B5EF4-FFF2-40B4-BE49-F238E27FC236}">
                <a16:creationId xmlns:a16="http://schemas.microsoft.com/office/drawing/2014/main" id="{1FEF161F-65C3-4E8F-A7DC-88AC554F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Rechercher des informations et préparer une réponse à vérifier.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759C1CA2-E39A-4303-AF33-BA406457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Le besoin métier détermine la pertinence de l’outi">
            <a:extLst xmlns:a="http://schemas.openxmlformats.org/drawingml/2006/main">
              <a:ext uri="{FF2B5EF4-FFF2-40B4-BE49-F238E27FC236}">
                <a16:creationId xmlns:a16="http://schemas.microsoft.com/office/drawing/2014/main" id="{1852302F-6741-4ED0-9258-BADE759C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 besoin métier détermine la pertinence de l’outil.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2f8e03d4148bb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05 / 40">
            <a:extLst xmlns:a="http://schemas.openxmlformats.org/drawingml/2006/main">
              <a:ext uri="{FF2B5EF4-FFF2-40B4-BE49-F238E27FC236}">
                <a16:creationId xmlns:a16="http://schemas.microsoft.com/office/drawing/2014/main" id="{0873E167-D1BB-4794-A51F-59221ED4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05 / 40</a:t>
            </a:r>
          </a:p>
        </p:txBody>
      </p:sp>
    </p:spTree>
    <p:extLst>
      <p:ext uri="{BB962C8B-B14F-4D97-AF65-F5344CB8AC3E}">
        <p14:creationId xmlns:p14="http://schemas.microsoft.com/office/powerpoint/2010/main" val="20999459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EA0EE-1FF9-4414-B3E8-3F65A25A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4">
            <a:extLst xmlns:a="http://schemas.openxmlformats.org/drawingml/2006/main">
              <a:ext uri="{FF2B5EF4-FFF2-40B4-BE49-F238E27FC236}">
                <a16:creationId xmlns:a16="http://schemas.microsoft.com/office/drawing/2014/main" id="{56E882B9-6F84-4418-8758-18547009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4</a:t>
            </a:r>
          </a:p>
        </p:txBody>
      </p:sp>
      <p:sp>
        <p:nvSpPr>
          <p:cNvPr id="3" name="Le choix d’un cas d’usage">
            <a:extLst xmlns:a="http://schemas.openxmlformats.org/drawingml/2006/main">
              <a:ext uri="{FF2B5EF4-FFF2-40B4-BE49-F238E27FC236}">
                <a16:creationId xmlns:a16="http://schemas.microsoft.com/office/drawing/2014/main" id="{84F6581D-0D03-4AE6-8C2C-CA77DD56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 choix d’un cas d’usage</a:t>
            </a:r>
          </a:p>
        </p:txBody>
      </p:sp>
      <p:sp>
        <p:nvSpPr>
          <p:cNvPr id="4" name="La valeur attendue doit rester compatible avec la ">
            <a:extLst xmlns:a="http://schemas.openxmlformats.org/drawingml/2006/main">
              <a:ext uri="{FF2B5EF4-FFF2-40B4-BE49-F238E27FC236}">
                <a16:creationId xmlns:a16="http://schemas.microsoft.com/office/drawing/2014/main" id="{E9A05DEA-F739-4277-9F05-D185C171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valeur attendue doit rester compatible avec la faisabilité.</a:t>
            </a:r>
          </a:p>
        </p:txBody>
      </p:sp>
      <p:sp>
        <p:nvSpPr>
          <p:cNvPr id="5" name="Comparez le bénéfice possible, l’accès aux données">
            <a:extLst xmlns:a="http://schemas.openxmlformats.org/drawingml/2006/main">
              <a:ext uri="{FF2B5EF4-FFF2-40B4-BE49-F238E27FC236}">
                <a16:creationId xmlns:a16="http://schemas.microsoft.com/office/drawing/2014/main" id="{2490878A-879C-4BDC-922C-84A721CC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Comparez le bénéfice possible, l’accès aux données et les compétences nécessaires.</a:t>
            </a:r>
          </a:p>
        </p:txBody>
      </p:sp>
      <p:sp>
        <p:nvSpPr>
          <p:cNvPr id="6" name="Examinez les conséquences d’une erreur et les cont">
            <a:extLst xmlns:a="http://schemas.openxmlformats.org/drawingml/2006/main">
              <a:ext uri="{FF2B5EF4-FFF2-40B4-BE49-F238E27FC236}">
                <a16:creationId xmlns:a16="http://schemas.microsoft.com/office/drawing/2014/main" id="{EE75A43E-1F0F-430D-B64E-C9586938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Examinez les conséquences d’une erreur et les contrôles disponibles.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3E3BE525-1CC4-4C5F-A512-86795DFC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Un usage limité peut constituer un bon premier pil">
            <a:extLst xmlns:a="http://schemas.openxmlformats.org/drawingml/2006/main">
              <a:ext uri="{FF2B5EF4-FFF2-40B4-BE49-F238E27FC236}">
                <a16:creationId xmlns:a16="http://schemas.microsoft.com/office/drawing/2014/main" id="{8E0F9F3A-8FB4-4904-814D-07B8FB39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 usage limité peut constituer un bon premier pilote.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9ae0b66a34c41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06 / 40">
            <a:extLst xmlns:a="http://schemas.openxmlformats.org/drawingml/2006/main">
              <a:ext uri="{FF2B5EF4-FFF2-40B4-BE49-F238E27FC236}">
                <a16:creationId xmlns:a16="http://schemas.microsoft.com/office/drawing/2014/main" id="{E287DFC6-BE2A-4359-A760-A4508377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06 / 40</a:t>
            </a:r>
          </a:p>
        </p:txBody>
      </p:sp>
    </p:spTree>
    <p:extLst>
      <p:ext uri="{BB962C8B-B14F-4D97-AF65-F5344CB8AC3E}">
        <p14:creationId xmlns:p14="http://schemas.microsoft.com/office/powerpoint/2010/main" val="14403044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11D3F4-CD5E-4C5E-ACB9-E9B3D7E4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4">
            <a:extLst xmlns:a="http://schemas.openxmlformats.org/drawingml/2006/main">
              <a:ext uri="{FF2B5EF4-FFF2-40B4-BE49-F238E27FC236}">
                <a16:creationId xmlns:a16="http://schemas.microsoft.com/office/drawing/2014/main" id="{F9C8BCF5-83D7-403D-A91A-EC88A2E4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4</a:t>
            </a:r>
          </a:p>
        </p:txBody>
      </p:sp>
      <p:sp>
        <p:nvSpPr>
          <p:cNvPr id="3" name="La grille de priorité">
            <a:extLst xmlns:a="http://schemas.openxmlformats.org/drawingml/2006/main">
              <a:ext uri="{FF2B5EF4-FFF2-40B4-BE49-F238E27FC236}">
                <a16:creationId xmlns:a16="http://schemas.microsoft.com/office/drawing/2014/main" id="{6070D976-4BED-4B8E-9A5D-9BBBEA45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La grille de priorité</a:t>
            </a:r>
          </a:p>
        </p:txBody>
      </p:sp>
      <p:sp>
        <p:nvSpPr>
          <p:cNvPr id="4" name="Des critères explicites permettent de comparer plu">
            <a:extLst xmlns:a="http://schemas.openxmlformats.org/drawingml/2006/main">
              <a:ext uri="{FF2B5EF4-FFF2-40B4-BE49-F238E27FC236}">
                <a16:creationId xmlns:a16="http://schemas.microsoft.com/office/drawing/2014/main" id="{0996AD87-A110-46A1-B0F6-B46B2FF7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Des critères explicites permettent de comparer plusieurs idées.</a:t>
            </a:r>
          </a:p>
        </p:txBody>
      </p:sp>
      <p:sp>
        <p:nvSpPr>
          <p:cNvPr id="5" name="Pour chaque usage, décrivez la valeur, l’effort et">
            <a:extLst xmlns:a="http://schemas.openxmlformats.org/drawingml/2006/main">
              <a:ext uri="{FF2B5EF4-FFF2-40B4-BE49-F238E27FC236}">
                <a16:creationId xmlns:a16="http://schemas.microsoft.com/office/drawing/2014/main" id="{5800E6CA-60E5-4FCB-B247-DE0D1418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Pour chaque usage, décrivez la valeur, l’effort et les principaux risques.</a:t>
            </a:r>
          </a:p>
        </p:txBody>
      </p:sp>
      <p:sp>
        <p:nvSpPr>
          <p:cNvPr id="6" name="Justifiez vos appréciations avec des observations ">
            <a:extLst xmlns:a="http://schemas.openxmlformats.org/drawingml/2006/main">
              <a:ext uri="{FF2B5EF4-FFF2-40B4-BE49-F238E27FC236}">
                <a16:creationId xmlns:a16="http://schemas.microsoft.com/office/drawing/2014/main" id="{52831F8F-BFBB-4D0B-865B-07F7E3B8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Justifiez vos appréciations avec des observations ou des informations disponibles.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8ACBB161-CCCA-4D13-A17D-EEE7D4BD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Éviter des scores précis sans méthode ni données.">
            <a:extLst xmlns:a="http://schemas.openxmlformats.org/drawingml/2006/main">
              <a:ext uri="{FF2B5EF4-FFF2-40B4-BE49-F238E27FC236}">
                <a16:creationId xmlns:a16="http://schemas.microsoft.com/office/drawing/2014/main" id="{292463FC-D822-48A3-9178-86A75AE4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Éviter des scores précis sans méthode ni données.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ea16ed6ae462e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07 / 40">
            <a:extLst xmlns:a="http://schemas.openxmlformats.org/drawingml/2006/main">
              <a:ext uri="{FF2B5EF4-FFF2-40B4-BE49-F238E27FC236}">
                <a16:creationId xmlns:a16="http://schemas.microsoft.com/office/drawing/2014/main" id="{661A1DE7-4CA9-4027-9478-DF3F25BA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07 / 40</a:t>
            </a:r>
          </a:p>
        </p:txBody>
      </p:sp>
    </p:spTree>
    <p:extLst>
      <p:ext uri="{BB962C8B-B14F-4D97-AF65-F5344CB8AC3E}">
        <p14:creationId xmlns:p14="http://schemas.microsoft.com/office/powerpoint/2010/main" val="11901580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44FBF7-9144-4BE1-8CE5-D3EBE574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MISE EN PRATIQUE">
            <a:extLst xmlns:a="http://schemas.openxmlformats.org/drawingml/2006/main">
              <a:ext uri="{FF2B5EF4-FFF2-40B4-BE49-F238E27FC236}">
                <a16:creationId xmlns:a16="http://schemas.microsoft.com/office/drawing/2014/main" id="{09279430-1C5F-4AC4-9863-AC072B58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8A2E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F8A2E"/>
                </a:solidFill>
                <a:latin typeface="Poppins"/>
                <a:ea typeface="Poppins"/>
                <a:cs typeface="Poppins"/>
              </a:rPr>
              <a:t>MISE EN PRATIQUE</a:t>
            </a:r>
          </a:p>
        </p:txBody>
      </p:sp>
      <p:sp>
        <p:nvSpPr>
          <p:cNvPr id="3" name="Atelier : sélectionner un usage">
            <a:extLst xmlns:a="http://schemas.openxmlformats.org/drawingml/2006/main">
              <a:ext uri="{FF2B5EF4-FFF2-40B4-BE49-F238E27FC236}">
                <a16:creationId xmlns:a16="http://schemas.microsoft.com/office/drawing/2014/main" id="{5F77D59B-6FC7-4FA7-9506-FD2CEDED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Atelier : sélectionner un usage</a:t>
            </a:r>
          </a:p>
        </p:txBody>
      </p:sp>
      <p:sp>
        <p:nvSpPr>
          <p:cNvPr id="4" name="La sélection doit pouvoir s’expliquer à une équipe">
            <a:extLst xmlns:a="http://schemas.openxmlformats.org/drawingml/2006/main">
              <a:ext uri="{FF2B5EF4-FFF2-40B4-BE49-F238E27FC236}">
                <a16:creationId xmlns:a16="http://schemas.microsoft.com/office/drawing/2014/main" id="{B785CABF-4996-4B1D-9A9D-D8FC8006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sélection doit pouvoir s’expliquer à une équipe.</a:t>
            </a:r>
          </a:p>
        </p:txBody>
      </p:sp>
      <p:sp>
        <p:nvSpPr>
          <p:cNvPr id="5" name="Décrivez plusieurs usages possibles dans votre sec">
            <a:extLst xmlns:a="http://schemas.openxmlformats.org/drawingml/2006/main">
              <a:ext uri="{FF2B5EF4-FFF2-40B4-BE49-F238E27FC236}">
                <a16:creationId xmlns:a16="http://schemas.microsoft.com/office/drawing/2014/main" id="{359D964A-5306-4C77-B9E9-F1A99607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Décrivez plusieurs usages possibles dans votre secteur.</a:t>
            </a:r>
          </a:p>
        </p:txBody>
      </p:sp>
      <p:sp>
        <p:nvSpPr>
          <p:cNvPr id="6" name="Comparez-les avec les mêmes critères, puis retenez">
            <a:extLst xmlns:a="http://schemas.openxmlformats.org/drawingml/2006/main">
              <a:ext uri="{FF2B5EF4-FFF2-40B4-BE49-F238E27FC236}">
                <a16:creationId xmlns:a16="http://schemas.microsoft.com/office/drawing/2014/main" id="{BA4EDC58-4167-42AC-95AE-F6326027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Comparez-les avec les mêmes critères, puis retenez un cas pour le projet.</a:t>
            </a:r>
          </a:p>
        </p:txBody>
      </p:sp>
      <p:sp>
        <p:nvSpPr>
          <p:cNvPr id="7" name="LIVRABLE ET CRITÈRES">
            <a:extLst xmlns:a="http://schemas.openxmlformats.org/drawingml/2006/main">
              <a:ext uri="{FF2B5EF4-FFF2-40B4-BE49-F238E27FC236}">
                <a16:creationId xmlns:a16="http://schemas.microsoft.com/office/drawing/2014/main" id="{E5956576-A32E-499A-9378-3E1B6FC9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LIVRABLE ET CRITÈRES</a:t>
            </a:r>
          </a:p>
        </p:txBody>
      </p:sp>
      <p:sp>
        <p:nvSpPr>
          <p:cNvPr id="8" name="À remettre : choix, justification et hypothèses à ">
            <a:extLst xmlns:a="http://schemas.openxmlformats.org/drawingml/2006/main">
              <a:ext uri="{FF2B5EF4-FFF2-40B4-BE49-F238E27FC236}">
                <a16:creationId xmlns:a16="http://schemas.microsoft.com/office/drawing/2014/main" id="{3EE274FD-CB18-4F7D-957B-357CF369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À remettre : choix, justification et hypothèses à vérifier.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8b2ff731a47d4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08 / 40">
            <a:extLst xmlns:a="http://schemas.openxmlformats.org/drawingml/2006/main">
              <a:ext uri="{FF2B5EF4-FFF2-40B4-BE49-F238E27FC236}">
                <a16:creationId xmlns:a16="http://schemas.microsoft.com/office/drawing/2014/main" id="{24A6B9FA-1C6E-4222-8ACC-6121F120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08 / 40</a:t>
            </a:r>
          </a:p>
        </p:txBody>
      </p:sp>
    </p:spTree>
    <p:extLst>
      <p:ext uri="{BB962C8B-B14F-4D97-AF65-F5344CB8AC3E}">
        <p14:creationId xmlns:p14="http://schemas.microsoft.com/office/powerpoint/2010/main" val="348019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BE64AE-F45B-47A3-A399-ABFFF672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4">
            <a:extLst xmlns:a="http://schemas.openxmlformats.org/drawingml/2006/main">
              <a:ext uri="{FF2B5EF4-FFF2-40B4-BE49-F238E27FC236}">
                <a16:creationId xmlns:a16="http://schemas.microsoft.com/office/drawing/2014/main" id="{C2B48C02-10B3-4F11-A027-B97FAE1C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4</a:t>
            </a:r>
          </a:p>
        </p:txBody>
      </p:sp>
      <p:sp>
        <p:nvSpPr>
          <p:cNvPr id="3" name="Les données du projet">
            <a:extLst xmlns:a="http://schemas.openxmlformats.org/drawingml/2006/main">
              <a:ext uri="{FF2B5EF4-FFF2-40B4-BE49-F238E27FC236}">
                <a16:creationId xmlns:a16="http://schemas.microsoft.com/office/drawing/2014/main" id="{7987E285-C95B-414F-B415-6095A641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Les données du projet</a:t>
            </a:r>
          </a:p>
        </p:txBody>
      </p:sp>
      <p:sp>
        <p:nvSpPr>
          <p:cNvPr id="4" name="Le traitement dépend de la nature et de l’accès au">
            <a:extLst xmlns:a="http://schemas.openxmlformats.org/drawingml/2006/main">
              <a:ext uri="{FF2B5EF4-FFF2-40B4-BE49-F238E27FC236}">
                <a16:creationId xmlns:a16="http://schemas.microsoft.com/office/drawing/2014/main" id="{C403A57C-38ED-4F1F-9511-2CAAA72B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traitement dépend de la nature et de l’accès aux informations.</a:t>
            </a:r>
          </a:p>
        </p:txBody>
      </p:sp>
      <p:sp>
        <p:nvSpPr>
          <p:cNvPr id="5" name="Identifiez les sources, leur sensibilité et les pe">
            <a:extLst xmlns:a="http://schemas.openxmlformats.org/drawingml/2006/main">
              <a:ext uri="{FF2B5EF4-FFF2-40B4-BE49-F238E27FC236}">
                <a16:creationId xmlns:a16="http://schemas.microsoft.com/office/drawing/2014/main" id="{D34860A5-DFC0-4803-9D67-15299BEC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Identifiez les sources, leur sensibilité et les personnes autorisées.</a:t>
            </a:r>
          </a:p>
        </p:txBody>
      </p:sp>
      <p:sp>
        <p:nvSpPr>
          <p:cNvPr id="6" name="Déterminez quelles données sont nécessaires et com">
            <a:extLst xmlns:a="http://schemas.openxmlformats.org/drawingml/2006/main">
              <a:ext uri="{FF2B5EF4-FFF2-40B4-BE49-F238E27FC236}">
                <a16:creationId xmlns:a16="http://schemas.microsoft.com/office/drawing/2014/main" id="{2280CABF-25EA-42A6-9313-A31979F8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Déterminez quelles données sont nécessaires et combien de temps les conserver.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E9C20DF4-1DD5-4CF3-A944-C6B63796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Vérifier les règles applicables avant le premier e">
            <a:extLst xmlns:a="http://schemas.openxmlformats.org/drawingml/2006/main">
              <a:ext uri="{FF2B5EF4-FFF2-40B4-BE49-F238E27FC236}">
                <a16:creationId xmlns:a16="http://schemas.microsoft.com/office/drawing/2014/main" id="{C67231C3-23C3-434D-950E-2D3E4E06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Vérifier les règles applicables avant le premier essai.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995590e934679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09 / 40">
            <a:extLst xmlns:a="http://schemas.openxmlformats.org/drawingml/2006/main">
              <a:ext uri="{FF2B5EF4-FFF2-40B4-BE49-F238E27FC236}">
                <a16:creationId xmlns:a16="http://schemas.microsoft.com/office/drawing/2014/main" id="{E8625A22-BCBB-496F-87DF-B17133D1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09 / 40</a:t>
            </a:r>
          </a:p>
        </p:txBody>
      </p:sp>
    </p:spTree>
    <p:extLst>
      <p:ext uri="{BB962C8B-B14F-4D97-AF65-F5344CB8AC3E}">
        <p14:creationId xmlns:p14="http://schemas.microsoft.com/office/powerpoint/2010/main" val="16454866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6FA547-5373-4C75-9C29-28D820F5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4">
            <a:extLst xmlns:a="http://schemas.openxmlformats.org/drawingml/2006/main">
              <a:ext uri="{FF2B5EF4-FFF2-40B4-BE49-F238E27FC236}">
                <a16:creationId xmlns:a16="http://schemas.microsoft.com/office/drawing/2014/main" id="{2B0627D7-5FFE-4409-87E0-E84FF7FC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4</a:t>
            </a:r>
          </a:p>
        </p:txBody>
      </p:sp>
      <p:sp>
        <p:nvSpPr>
          <p:cNvPr id="3" name="La confidentialité">
            <a:extLst xmlns:a="http://schemas.openxmlformats.org/drawingml/2006/main">
              <a:ext uri="{FF2B5EF4-FFF2-40B4-BE49-F238E27FC236}">
                <a16:creationId xmlns:a16="http://schemas.microsoft.com/office/drawing/2014/main" id="{841A9100-632B-4EE9-BFB9-4BDAF82D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La confidentialité</a:t>
            </a:r>
          </a:p>
        </p:txBody>
      </p:sp>
      <p:sp>
        <p:nvSpPr>
          <p:cNvPr id="4" name="Des données fictives permettent de tester sans exp">
            <a:extLst xmlns:a="http://schemas.openxmlformats.org/drawingml/2006/main">
              <a:ext uri="{FF2B5EF4-FFF2-40B4-BE49-F238E27FC236}">
                <a16:creationId xmlns:a16="http://schemas.microsoft.com/office/drawing/2014/main" id="{2F40860C-8A5D-41D2-A444-418BD47A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Des données fictives permettent de tester sans exposer de dossiers réels.</a:t>
            </a:r>
          </a:p>
        </p:txBody>
      </p:sp>
      <p:sp>
        <p:nvSpPr>
          <p:cNvPr id="5" name="Remplacez les noms et les identifiants par des val">
            <a:extLst xmlns:a="http://schemas.openxmlformats.org/drawingml/2006/main">
              <a:ext uri="{FF2B5EF4-FFF2-40B4-BE49-F238E27FC236}">
                <a16:creationId xmlns:a16="http://schemas.microsoft.com/office/drawing/2014/main" id="{4D373911-0B5B-4EAC-8D14-0419EA12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Remplacez les noms et les identifiants par des valeurs fictives cohérentes.</a:t>
            </a:r>
          </a:p>
        </p:txBody>
      </p:sp>
      <p:sp>
        <p:nvSpPr>
          <p:cNvPr id="6" name="Vérifiez qu’aucun détail restant ne permet d’ident">
            <a:extLst xmlns:a="http://schemas.openxmlformats.org/drawingml/2006/main">
              <a:ext uri="{FF2B5EF4-FFF2-40B4-BE49-F238E27FC236}">
                <a16:creationId xmlns:a16="http://schemas.microsoft.com/office/drawing/2014/main" id="{3D46AADD-BAAF-4D3C-AB93-8519DC55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Vérifiez qu’aucun détail restant ne permet d’identifier une personne.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BBF0CD80-0ECB-438F-AE0F-409081D8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L’anonymisation doit tenir compte du contexte du d">
            <a:extLst xmlns:a="http://schemas.openxmlformats.org/drawingml/2006/main">
              <a:ext uri="{FF2B5EF4-FFF2-40B4-BE49-F238E27FC236}">
                <a16:creationId xmlns:a16="http://schemas.microsoft.com/office/drawing/2014/main" id="{08E8863E-DFD3-490B-AB24-0FE78DF1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L’anonymisation doit tenir compte du contexte du document.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e19cfc1e04990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0 / 40">
            <a:extLst xmlns:a="http://schemas.openxmlformats.org/drawingml/2006/main">
              <a:ext uri="{FF2B5EF4-FFF2-40B4-BE49-F238E27FC236}">
                <a16:creationId xmlns:a16="http://schemas.microsoft.com/office/drawing/2014/main" id="{489A87D4-6053-41F7-A3BA-8A209FD8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10 / 40</a:t>
            </a:r>
          </a:p>
        </p:txBody>
      </p:sp>
    </p:spTree>
    <p:extLst>
      <p:ext uri="{BB962C8B-B14F-4D97-AF65-F5344CB8AC3E}">
        <p14:creationId xmlns:p14="http://schemas.microsoft.com/office/powerpoint/2010/main" val="307872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E701D7-9D06-4564-BA8C-F6B94A40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4">
            <a:extLst xmlns:a="http://schemas.openxmlformats.org/drawingml/2006/main">
              <a:ext uri="{FF2B5EF4-FFF2-40B4-BE49-F238E27FC236}">
                <a16:creationId xmlns:a16="http://schemas.microsoft.com/office/drawing/2014/main" id="{E04A5F6E-07A0-473E-9D3C-A4BE09D6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4</a:t>
            </a:r>
          </a:p>
        </p:txBody>
      </p:sp>
      <p:sp>
        <p:nvSpPr>
          <p:cNvPr id="3" name="Le cadre applicable">
            <a:extLst xmlns:a="http://schemas.openxmlformats.org/drawingml/2006/main">
              <a:ext uri="{FF2B5EF4-FFF2-40B4-BE49-F238E27FC236}">
                <a16:creationId xmlns:a16="http://schemas.microsoft.com/office/drawing/2014/main" id="{CD131E21-7CED-410D-9A04-FD2D12F2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 cadre applicable</a:t>
            </a:r>
          </a:p>
        </p:txBody>
      </p:sp>
      <p:sp>
        <p:nvSpPr>
          <p:cNvPr id="4" name="Les exigences dépendent du pays, du secteur et du ">
            <a:extLst xmlns:a="http://schemas.openxmlformats.org/drawingml/2006/main">
              <a:ext uri="{FF2B5EF4-FFF2-40B4-BE49-F238E27FC236}">
                <a16:creationId xmlns:a16="http://schemas.microsoft.com/office/drawing/2014/main" id="{09790B1B-9789-47E2-86FF-427EF413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Les exigences dépendent du pays, du secteur et du traitement prévu.</a:t>
            </a:r>
          </a:p>
        </p:txBody>
      </p:sp>
      <p:sp>
        <p:nvSpPr>
          <p:cNvPr id="5" name="Recensez les règles internes et les obligations qu">
            <a:extLst xmlns:a="http://schemas.openxmlformats.org/drawingml/2006/main">
              <a:ext uri="{FF2B5EF4-FFF2-40B4-BE49-F238E27FC236}">
                <a16:creationId xmlns:a16="http://schemas.microsoft.com/office/drawing/2014/main" id="{FF378C92-340B-4239-A102-0A33AC8F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Recensez les règles internes et les obligations qui peuvent concerner le projet.</a:t>
            </a:r>
          </a:p>
        </p:txBody>
      </p:sp>
      <p:sp>
        <p:nvSpPr>
          <p:cNvPr id="6" name="Faites vérifier les exigences par les personnes co">
            <a:extLst xmlns:a="http://schemas.openxmlformats.org/drawingml/2006/main">
              <a:ext uri="{FF2B5EF4-FFF2-40B4-BE49-F238E27FC236}">
                <a16:creationId xmlns:a16="http://schemas.microsoft.com/office/drawing/2014/main" id="{05BCECAC-20CF-4B55-BDFB-55058EB6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Faites vérifier les exigences par les personnes compétentes avant l’usage réel.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80805F7E-E130-4072-B6E8-5D791144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Le manuel constitue un support pédagogique, pas un">
            <a:extLst xmlns:a="http://schemas.openxmlformats.org/drawingml/2006/main">
              <a:ext uri="{FF2B5EF4-FFF2-40B4-BE49-F238E27FC236}">
                <a16:creationId xmlns:a16="http://schemas.microsoft.com/office/drawing/2014/main" id="{9A2BAEF9-BA5E-4FAB-B538-33A23D7C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 manuel constitue un support pédagogique, pas une validation juridique.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8c3facb7f494f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1 / 40">
            <a:extLst xmlns:a="http://schemas.openxmlformats.org/drawingml/2006/main">
              <a:ext uri="{FF2B5EF4-FFF2-40B4-BE49-F238E27FC236}">
                <a16:creationId xmlns:a16="http://schemas.microsoft.com/office/drawing/2014/main" id="{8C4DE6C0-0618-4E2D-B71B-8F1CC9D7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11 / 40</a:t>
            </a:r>
          </a:p>
        </p:txBody>
      </p:sp>
    </p:spTree>
    <p:extLst>
      <p:ext uri="{BB962C8B-B14F-4D97-AF65-F5344CB8AC3E}">
        <p14:creationId xmlns:p14="http://schemas.microsoft.com/office/powerpoint/2010/main" val="14890835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0305D1-80A6-464B-B8E4-31238793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4">
            <a:extLst xmlns:a="http://schemas.openxmlformats.org/drawingml/2006/main">
              <a:ext uri="{FF2B5EF4-FFF2-40B4-BE49-F238E27FC236}">
                <a16:creationId xmlns:a16="http://schemas.microsoft.com/office/drawing/2014/main" id="{C713A041-7FC0-4233-9C6A-17377977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4</a:t>
            </a:r>
          </a:p>
        </p:txBody>
      </p:sp>
      <p:sp>
        <p:nvSpPr>
          <p:cNvPr id="3" name="Les responsabilités">
            <a:extLst xmlns:a="http://schemas.openxmlformats.org/drawingml/2006/main">
              <a:ext uri="{FF2B5EF4-FFF2-40B4-BE49-F238E27FC236}">
                <a16:creationId xmlns:a16="http://schemas.microsoft.com/office/drawing/2014/main" id="{407CE96F-6A71-4391-B8DA-48A222C3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Les responsabilités</a:t>
            </a:r>
          </a:p>
        </p:txBody>
      </p:sp>
      <p:sp>
        <p:nvSpPr>
          <p:cNvPr id="4" name="Le projet doit attribuer clairement les décisions ">
            <a:extLst xmlns:a="http://schemas.openxmlformats.org/drawingml/2006/main">
              <a:ext uri="{FF2B5EF4-FFF2-40B4-BE49-F238E27FC236}">
                <a16:creationId xmlns:a16="http://schemas.microsoft.com/office/drawing/2014/main" id="{6DA106CE-5D2A-4986-A8A7-CE6BF2FA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projet doit attribuer clairement les décisions et les contrôles.</a:t>
            </a:r>
          </a:p>
        </p:txBody>
      </p:sp>
      <p:sp>
        <p:nvSpPr>
          <p:cNvPr id="5" name="Le responsable métier précise le besoin et les cri">
            <a:extLst xmlns:a="http://schemas.openxmlformats.org/drawingml/2006/main">
              <a:ext uri="{FF2B5EF4-FFF2-40B4-BE49-F238E27FC236}">
                <a16:creationId xmlns:a16="http://schemas.microsoft.com/office/drawing/2014/main" id="{AD4E0BEC-2B32-496E-95C0-4C913EAF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responsable métier précise le besoin et les critères de réussite.</a:t>
            </a:r>
          </a:p>
        </p:txBody>
      </p:sp>
      <p:sp>
        <p:nvSpPr>
          <p:cNvPr id="6" name="Les référents compétents valident les données, les">
            <a:extLst xmlns:a="http://schemas.openxmlformats.org/drawingml/2006/main">
              <a:ext uri="{FF2B5EF4-FFF2-40B4-BE49-F238E27FC236}">
                <a16:creationId xmlns:a16="http://schemas.microsoft.com/office/drawing/2014/main" id="{44069B65-647B-4B92-9A9D-967F9173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Les référents compétents valident les données, les accès et les usages.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F15FBA4A-27A6-4328-A614-853FD3C7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Nommer la personne qui autorise le passage en fonc">
            <a:extLst xmlns:a="http://schemas.openxmlformats.org/drawingml/2006/main">
              <a:ext uri="{FF2B5EF4-FFF2-40B4-BE49-F238E27FC236}">
                <a16:creationId xmlns:a16="http://schemas.microsoft.com/office/drawing/2014/main" id="{CBC9EC9B-42B6-4534-84CD-36AB62B0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Nommer la personne qui autorise le passage en fonctionnement courant.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aa06a666154c7c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2 / 40">
            <a:extLst xmlns:a="http://schemas.openxmlformats.org/drawingml/2006/main">
              <a:ext uri="{FF2B5EF4-FFF2-40B4-BE49-F238E27FC236}">
                <a16:creationId xmlns:a16="http://schemas.microsoft.com/office/drawing/2014/main" id="{E5C3741C-8F31-4ED5-84AB-EA696F31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12 / 40</a:t>
            </a:r>
          </a:p>
        </p:txBody>
      </p:sp>
    </p:spTree>
    <p:extLst>
      <p:ext uri="{BB962C8B-B14F-4D97-AF65-F5344CB8AC3E}">
        <p14:creationId xmlns:p14="http://schemas.microsoft.com/office/powerpoint/2010/main" val="17549218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B7BAB3-036E-4BED-8858-2AF9ABFF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4">
            <a:extLst xmlns:a="http://schemas.openxmlformats.org/drawingml/2006/main">
              <a:ext uri="{FF2B5EF4-FFF2-40B4-BE49-F238E27FC236}">
                <a16:creationId xmlns:a16="http://schemas.microsoft.com/office/drawing/2014/main" id="{981CD795-CB95-4DFF-AAC0-902EBBAD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4</a:t>
            </a:r>
          </a:p>
        </p:txBody>
      </p:sp>
      <p:sp>
        <p:nvSpPr>
          <p:cNvPr id="3" name="La charte d’usage">
            <a:extLst xmlns:a="http://schemas.openxmlformats.org/drawingml/2006/main">
              <a:ext uri="{FF2B5EF4-FFF2-40B4-BE49-F238E27FC236}">
                <a16:creationId xmlns:a16="http://schemas.microsoft.com/office/drawing/2014/main" id="{9A6B8805-BE7C-433C-864F-AF9B77EA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La charte d’usage</a:t>
            </a:r>
          </a:p>
        </p:txBody>
      </p:sp>
      <p:sp>
        <p:nvSpPr>
          <p:cNvPr id="4" name="La charte décrit ce que les utilisateurs peuvent f">
            <a:extLst xmlns:a="http://schemas.openxmlformats.org/drawingml/2006/main">
              <a:ext uri="{FF2B5EF4-FFF2-40B4-BE49-F238E27FC236}">
                <a16:creationId xmlns:a16="http://schemas.microsoft.com/office/drawing/2014/main" id="{B2742B17-BCF0-4EA6-9155-89582F8C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charte décrit ce que les utilisateurs peuvent faire.</a:t>
            </a:r>
          </a:p>
        </p:txBody>
      </p:sp>
      <p:sp>
        <p:nvSpPr>
          <p:cNvPr id="5" name="Précisez les finalités autorisées, les données adm">
            <a:extLst xmlns:a="http://schemas.openxmlformats.org/drawingml/2006/main">
              <a:ext uri="{FF2B5EF4-FFF2-40B4-BE49-F238E27FC236}">
                <a16:creationId xmlns:a16="http://schemas.microsoft.com/office/drawing/2014/main" id="{6CA6C39C-FC57-461A-BAF8-EFA58AD0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Précisez les finalités autorisées, les données admises et les contrôles attendus.</a:t>
            </a:r>
          </a:p>
        </p:txBody>
      </p:sp>
      <p:sp>
        <p:nvSpPr>
          <p:cNvPr id="6" name="Définissez les usages exclus et la procédure de si">
            <a:extLst xmlns:a="http://schemas.openxmlformats.org/drawingml/2006/main">
              <a:ext uri="{FF2B5EF4-FFF2-40B4-BE49-F238E27FC236}">
                <a16:creationId xmlns:a16="http://schemas.microsoft.com/office/drawing/2014/main" id="{6164EC32-C2AD-43A9-8494-6E5C4FBF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Définissez les usages exclus et la procédure de signalement.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236B0824-F75B-48CA-96FD-899E458E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Des exemples concrets facilitent la compréhension ">
            <a:extLst xmlns:a="http://schemas.openxmlformats.org/drawingml/2006/main">
              <a:ext uri="{FF2B5EF4-FFF2-40B4-BE49-F238E27FC236}">
                <a16:creationId xmlns:a16="http://schemas.microsoft.com/office/drawing/2014/main" id="{46347575-2386-4EA3-86AE-166407CE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Des exemples concrets facilitent la compréhension des règles.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5355d61d6485c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3 / 40">
            <a:extLst xmlns:a="http://schemas.openxmlformats.org/drawingml/2006/main">
              <a:ext uri="{FF2B5EF4-FFF2-40B4-BE49-F238E27FC236}">
                <a16:creationId xmlns:a16="http://schemas.microsoft.com/office/drawing/2014/main" id="{DFF302B1-C09D-491C-887B-5D801A23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13 / 40</a:t>
            </a:r>
          </a:p>
        </p:txBody>
      </p:sp>
    </p:spTree>
    <p:extLst>
      <p:ext uri="{BB962C8B-B14F-4D97-AF65-F5344CB8AC3E}">
        <p14:creationId xmlns:p14="http://schemas.microsoft.com/office/powerpoint/2010/main" val="15867936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1685B-22F0-49BD-9F89-5187AACD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MISE EN PRATIQUE">
            <a:extLst xmlns:a="http://schemas.openxmlformats.org/drawingml/2006/main">
              <a:ext uri="{FF2B5EF4-FFF2-40B4-BE49-F238E27FC236}">
                <a16:creationId xmlns:a16="http://schemas.microsoft.com/office/drawing/2014/main" id="{55BFBCD0-FC43-4EAF-A530-432F66DA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8A2E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F8A2E"/>
                </a:solidFill>
                <a:latin typeface="Poppins"/>
                <a:ea typeface="Poppins"/>
                <a:cs typeface="Poppins"/>
              </a:rPr>
              <a:t>MISE EN PRATIQUE</a:t>
            </a:r>
          </a:p>
        </p:txBody>
      </p:sp>
      <p:sp>
        <p:nvSpPr>
          <p:cNvPr id="3" name="Atelier : règles d’usage">
            <a:extLst xmlns:a="http://schemas.openxmlformats.org/drawingml/2006/main">
              <a:ext uri="{FF2B5EF4-FFF2-40B4-BE49-F238E27FC236}">
                <a16:creationId xmlns:a16="http://schemas.microsoft.com/office/drawing/2014/main" id="{1D189878-4DD8-4255-A0AF-9F0E168C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Atelier : règles d’usage</a:t>
            </a:r>
          </a:p>
        </p:txBody>
      </p:sp>
      <p:sp>
        <p:nvSpPr>
          <p:cNvPr id="4" name="Rédiger des règles adaptées à votre cas de projet.">
            <a:extLst xmlns:a="http://schemas.openxmlformats.org/drawingml/2006/main">
              <a:ext uri="{FF2B5EF4-FFF2-40B4-BE49-F238E27FC236}">
                <a16:creationId xmlns:a16="http://schemas.microsoft.com/office/drawing/2014/main" id="{9043230F-494F-4898-992C-33CB434C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Rédiger des règles adaptées à votre cas de projet.</a:t>
            </a:r>
          </a:p>
        </p:txBody>
      </p:sp>
      <p:sp>
        <p:nvSpPr>
          <p:cNvPr id="5" name="Formulez cinq règles sur les données, les résultat">
            <a:extLst xmlns:a="http://schemas.openxmlformats.org/drawingml/2006/main">
              <a:ext uri="{FF2B5EF4-FFF2-40B4-BE49-F238E27FC236}">
                <a16:creationId xmlns:a16="http://schemas.microsoft.com/office/drawing/2014/main" id="{BA1634A7-63D1-4D5A-ABB3-F266225E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Formulez cinq règles sur les données, les résultats et les responsabilités.</a:t>
            </a:r>
          </a:p>
        </p:txBody>
      </p:sp>
      <p:sp>
        <p:nvSpPr>
          <p:cNvPr id="6" name="Testez-les sur un scénario normal et un scénario p">
            <a:extLst xmlns:a="http://schemas.openxmlformats.org/drawingml/2006/main">
              <a:ext uri="{FF2B5EF4-FFF2-40B4-BE49-F238E27FC236}">
                <a16:creationId xmlns:a16="http://schemas.microsoft.com/office/drawing/2014/main" id="{7BD13FE6-6A92-4612-908C-21B821D7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Testez-les sur un scénario normal et un scénario problématique.</a:t>
            </a:r>
          </a:p>
        </p:txBody>
      </p:sp>
      <p:sp>
        <p:nvSpPr>
          <p:cNvPr id="7" name="LIVRABLE ET CRITÈRES">
            <a:extLst xmlns:a="http://schemas.openxmlformats.org/drawingml/2006/main">
              <a:ext uri="{FF2B5EF4-FFF2-40B4-BE49-F238E27FC236}">
                <a16:creationId xmlns:a16="http://schemas.microsoft.com/office/drawing/2014/main" id="{DCD4F52D-94E2-48A2-A675-EB94AA59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LIVRABLE ET CRITÈRES</a:t>
            </a:r>
          </a:p>
        </p:txBody>
      </p:sp>
      <p:sp>
        <p:nvSpPr>
          <p:cNvPr id="8" name="À remettre : règles et explication de leur applica">
            <a:extLst xmlns:a="http://schemas.openxmlformats.org/drawingml/2006/main">
              <a:ext uri="{FF2B5EF4-FFF2-40B4-BE49-F238E27FC236}">
                <a16:creationId xmlns:a16="http://schemas.microsoft.com/office/drawing/2014/main" id="{F1B4E6F3-73B3-4690-BB56-5BE9CD0A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À remettre : règles et explication de leur application.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0a546ec4748e9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4 / 40">
            <a:extLst xmlns:a="http://schemas.openxmlformats.org/drawingml/2006/main">
              <a:ext uri="{FF2B5EF4-FFF2-40B4-BE49-F238E27FC236}">
                <a16:creationId xmlns:a16="http://schemas.microsoft.com/office/drawing/2014/main" id="{D25EEA10-FDEB-4CCD-8EF6-EF6F745B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14 / 40</a:t>
            </a:r>
          </a:p>
        </p:txBody>
      </p:sp>
    </p:spTree>
    <p:extLst>
      <p:ext uri="{BB962C8B-B14F-4D97-AF65-F5344CB8AC3E}">
        <p14:creationId xmlns:p14="http://schemas.microsoft.com/office/powerpoint/2010/main" val="709366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46814-47D1-45B8-B682-6D9C13DC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4">
            <a:extLst xmlns:a="http://schemas.openxmlformats.org/drawingml/2006/main">
              <a:ext uri="{FF2B5EF4-FFF2-40B4-BE49-F238E27FC236}">
                <a16:creationId xmlns:a16="http://schemas.microsoft.com/office/drawing/2014/main" id="{EFFDA7B9-7CF3-4801-B4AD-AD05F1C9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4</a:t>
            </a:r>
          </a:p>
        </p:txBody>
      </p:sp>
      <p:sp>
        <p:nvSpPr>
          <p:cNvPr id="3" name="La gouvernance du projet">
            <a:extLst xmlns:a="http://schemas.openxmlformats.org/drawingml/2006/main">
              <a:ext uri="{FF2B5EF4-FFF2-40B4-BE49-F238E27FC236}">
                <a16:creationId xmlns:a16="http://schemas.microsoft.com/office/drawing/2014/main" id="{6986AAEA-229B-4ACD-AE0E-2F9DB498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La gouvernance du projet</a:t>
            </a:r>
          </a:p>
        </p:txBody>
      </p:sp>
      <p:sp>
        <p:nvSpPr>
          <p:cNvPr id="4" name="La gouvernance organise les décisions pendant tout">
            <a:extLst xmlns:a="http://schemas.openxmlformats.org/drawingml/2006/main">
              <a:ext uri="{FF2B5EF4-FFF2-40B4-BE49-F238E27FC236}">
                <a16:creationId xmlns:a16="http://schemas.microsoft.com/office/drawing/2014/main" id="{B2356740-2407-4754-91EF-1A687E3D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gouvernance organise les décisions pendant toute la vie du système.</a:t>
            </a:r>
          </a:p>
        </p:txBody>
      </p:sp>
      <p:sp>
        <p:nvSpPr>
          <p:cNvPr id="5" name="Définissez qui valide les changements et suit les ">
            <a:extLst xmlns:a="http://schemas.openxmlformats.org/drawingml/2006/main">
              <a:ext uri="{FF2B5EF4-FFF2-40B4-BE49-F238E27FC236}">
                <a16:creationId xmlns:a16="http://schemas.microsoft.com/office/drawing/2014/main" id="{075DABC6-51B3-4C29-9D76-DBA4BB47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Définissez qui valide les changements et suit les résultats.</a:t>
            </a:r>
          </a:p>
        </p:txBody>
      </p:sp>
      <p:sp>
        <p:nvSpPr>
          <p:cNvPr id="6" name="Prévoyez le traitement des incidents et la révisio">
            <a:extLst xmlns:a="http://schemas.openxmlformats.org/drawingml/2006/main">
              <a:ext uri="{FF2B5EF4-FFF2-40B4-BE49-F238E27FC236}">
                <a16:creationId xmlns:a16="http://schemas.microsoft.com/office/drawing/2014/main" id="{1E6B479F-33B2-40A1-91D6-73FA386F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Prévoyez le traitement des incidents et la révision des règles.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3E28AF2C-1254-48BC-81B1-27632599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Conserver les décisions importantes avec leur date">
            <a:extLst xmlns:a="http://schemas.openxmlformats.org/drawingml/2006/main">
              <a:ext uri="{FF2B5EF4-FFF2-40B4-BE49-F238E27FC236}">
                <a16:creationId xmlns:a16="http://schemas.microsoft.com/office/drawing/2014/main" id="{9096FF2F-B2F0-4D4D-B84B-D9981F0C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Conserver les décisions importantes avec leur date et leur motif.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96090f3ea4187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5 / 40">
            <a:extLst xmlns:a="http://schemas.openxmlformats.org/drawingml/2006/main">
              <a:ext uri="{FF2B5EF4-FFF2-40B4-BE49-F238E27FC236}">
                <a16:creationId xmlns:a16="http://schemas.microsoft.com/office/drawing/2014/main" id="{97077CFC-3363-41A1-8E6F-DB5D1BEA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15 / 40</a:t>
            </a:r>
          </a:p>
        </p:txBody>
      </p:sp>
    </p:spTree>
    <p:extLst>
      <p:ext uri="{BB962C8B-B14F-4D97-AF65-F5344CB8AC3E}">
        <p14:creationId xmlns:p14="http://schemas.microsoft.com/office/powerpoint/2010/main" val="11096904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9A20C6-FF6C-4FDF-AB2A-AA35478E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4">
            <a:extLst xmlns:a="http://schemas.openxmlformats.org/drawingml/2006/main">
              <a:ext uri="{FF2B5EF4-FFF2-40B4-BE49-F238E27FC236}">
                <a16:creationId xmlns:a16="http://schemas.microsoft.com/office/drawing/2014/main" id="{6D14BDEC-76BA-4401-AEA2-9ED03F0D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4</a:t>
            </a:r>
          </a:p>
        </p:txBody>
      </p:sp>
      <p:sp>
        <p:nvSpPr>
          <p:cNvPr id="3" name="L’accompagnement des équipes">
            <a:extLst xmlns:a="http://schemas.openxmlformats.org/drawingml/2006/main">
              <a:ext uri="{FF2B5EF4-FFF2-40B4-BE49-F238E27FC236}">
                <a16:creationId xmlns:a16="http://schemas.microsoft.com/office/drawing/2014/main" id="{71A00584-E0DE-4F3B-8A28-6FF2A3CC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L’accompagnement des équipes</a:t>
            </a:r>
          </a:p>
        </p:txBody>
      </p:sp>
      <p:sp>
        <p:nvSpPr>
          <p:cNvPr id="4" name="L’adoption dépend de la compréhension des usages e">
            <a:extLst xmlns:a="http://schemas.openxmlformats.org/drawingml/2006/main">
              <a:ext uri="{FF2B5EF4-FFF2-40B4-BE49-F238E27FC236}">
                <a16:creationId xmlns:a16="http://schemas.microsoft.com/office/drawing/2014/main" id="{6DD491F1-303B-4E17-8519-8B267DE0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L’adoption dépend de la compréhension des usages et de leurs limites.</a:t>
            </a:r>
          </a:p>
        </p:txBody>
      </p:sp>
      <p:sp>
        <p:nvSpPr>
          <p:cNvPr id="5" name="Recueillez les besoins et les difficultés des futu">
            <a:extLst xmlns:a="http://schemas.openxmlformats.org/drawingml/2006/main">
              <a:ext uri="{FF2B5EF4-FFF2-40B4-BE49-F238E27FC236}">
                <a16:creationId xmlns:a16="http://schemas.microsoft.com/office/drawing/2014/main" id="{D7550931-574A-4E7D-85BD-DF31221D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Recueillez les besoins et les difficultés des futurs utilisateurs.</a:t>
            </a:r>
          </a:p>
        </p:txBody>
      </p:sp>
      <p:sp>
        <p:nvSpPr>
          <p:cNvPr id="6" name="Préparez une formation liée aux tâches réellement ">
            <a:extLst xmlns:a="http://schemas.openxmlformats.org/drawingml/2006/main">
              <a:ext uri="{FF2B5EF4-FFF2-40B4-BE49-F238E27FC236}">
                <a16:creationId xmlns:a16="http://schemas.microsoft.com/office/drawing/2014/main" id="{58908AA9-FA57-4866-A6FC-30110C72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Préparez une formation liée aux tâches réellement concernées.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D3CDE97B-7FCF-4371-A8FD-BFAB075E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Prévoir une personne de contact pour les questions">
            <a:extLst xmlns:a="http://schemas.openxmlformats.org/drawingml/2006/main">
              <a:ext uri="{FF2B5EF4-FFF2-40B4-BE49-F238E27FC236}">
                <a16:creationId xmlns:a16="http://schemas.microsoft.com/office/drawing/2014/main" id="{2A3D5C0A-65DE-4307-8123-8AB69E0A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Prévoir une personne de contact pour les questions.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0ef87ca78b4caf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6 / 40">
            <a:extLst xmlns:a="http://schemas.openxmlformats.org/drawingml/2006/main">
              <a:ext uri="{FF2B5EF4-FFF2-40B4-BE49-F238E27FC236}">
                <a16:creationId xmlns:a16="http://schemas.microsoft.com/office/drawing/2014/main" id="{9DE956BF-D80C-4796-924B-486D7523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16 / 40</a:t>
            </a:r>
          </a:p>
        </p:txBody>
      </p:sp>
    </p:spTree>
    <p:extLst>
      <p:ext uri="{BB962C8B-B14F-4D97-AF65-F5344CB8AC3E}">
        <p14:creationId xmlns:p14="http://schemas.microsoft.com/office/powerpoint/2010/main" val="9060696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5AF0C7-D23E-47AE-9BE6-21466C5D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4">
            <a:extLst xmlns:a="http://schemas.openxmlformats.org/drawingml/2006/main">
              <a:ext uri="{FF2B5EF4-FFF2-40B4-BE49-F238E27FC236}">
                <a16:creationId xmlns:a16="http://schemas.microsoft.com/office/drawing/2014/main" id="{E1F20532-A007-49FD-A917-0E545500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4</a:t>
            </a:r>
          </a:p>
        </p:txBody>
      </p:sp>
      <p:sp>
        <p:nvSpPr>
          <p:cNvPr id="3" name="Le pilote">
            <a:extLst xmlns:a="http://schemas.openxmlformats.org/drawingml/2006/main">
              <a:ext uri="{FF2B5EF4-FFF2-40B4-BE49-F238E27FC236}">
                <a16:creationId xmlns:a16="http://schemas.microsoft.com/office/drawing/2014/main" id="{4432766D-AADC-45D2-9D52-2717C57D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 pilote</a:t>
            </a:r>
          </a:p>
        </p:txBody>
      </p:sp>
      <p:sp>
        <p:nvSpPr>
          <p:cNvPr id="4" name="Un essai limité permet d’observer le fonctionnemen">
            <a:extLst xmlns:a="http://schemas.openxmlformats.org/drawingml/2006/main">
              <a:ext uri="{FF2B5EF4-FFF2-40B4-BE49-F238E27FC236}">
                <a16:creationId xmlns:a16="http://schemas.microsoft.com/office/drawing/2014/main" id="{3644523D-96D6-44BE-BB92-FE48F491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 essai limité permet d’observer le fonctionnement en situation.</a:t>
            </a:r>
          </a:p>
        </p:txBody>
      </p:sp>
      <p:sp>
        <p:nvSpPr>
          <p:cNvPr id="5" name="Choisissez un petit périmètre et des utilisateurs ">
            <a:extLst xmlns:a="http://schemas.openxmlformats.org/drawingml/2006/main">
              <a:ext uri="{FF2B5EF4-FFF2-40B4-BE49-F238E27FC236}">
                <a16:creationId xmlns:a16="http://schemas.microsoft.com/office/drawing/2014/main" id="{D12699F7-E00A-4C5B-9EE3-FEF29E5D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Choisissez un petit périmètre et des utilisateurs identifiés.</a:t>
            </a:r>
          </a:p>
        </p:txBody>
      </p:sp>
      <p:sp>
        <p:nvSpPr>
          <p:cNvPr id="6" name="Recueillez les erreurs, les corrections nécessaire">
            <a:extLst xmlns:a="http://schemas.openxmlformats.org/drawingml/2006/main">
              <a:ext uri="{FF2B5EF4-FFF2-40B4-BE49-F238E27FC236}">
                <a16:creationId xmlns:a16="http://schemas.microsoft.com/office/drawing/2014/main" id="{F0A7F0C1-6417-4D72-A886-CB828E66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Recueillez les erreurs, les corrections nécessaires et les retours d’expérience.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36B7036C-CD95-4F8D-B172-9F26C5E9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Décider de la suite à partir des observations du p">
            <a:extLst xmlns:a="http://schemas.openxmlformats.org/drawingml/2006/main">
              <a:ext uri="{FF2B5EF4-FFF2-40B4-BE49-F238E27FC236}">
                <a16:creationId xmlns:a16="http://schemas.microsoft.com/office/drawing/2014/main" id="{E5C4FEF9-E67C-48B6-A6EB-0896DE72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Décider de la suite à partir des observations du pilote.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358b07a934bf2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7 / 40">
            <a:extLst xmlns:a="http://schemas.openxmlformats.org/drawingml/2006/main">
              <a:ext uri="{FF2B5EF4-FFF2-40B4-BE49-F238E27FC236}">
                <a16:creationId xmlns:a16="http://schemas.microsoft.com/office/drawing/2014/main" id="{92FA21D5-AA3B-4964-B67C-7A1D84F1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17 / 40</a:t>
            </a:r>
          </a:p>
        </p:txBody>
      </p:sp>
    </p:spTree>
    <p:extLst>
      <p:ext uri="{BB962C8B-B14F-4D97-AF65-F5344CB8AC3E}">
        <p14:creationId xmlns:p14="http://schemas.microsoft.com/office/powerpoint/2010/main" val="20975716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B2423-570F-4E64-8489-3489C00F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4">
            <a:extLst xmlns:a="http://schemas.openxmlformats.org/drawingml/2006/main">
              <a:ext uri="{FF2B5EF4-FFF2-40B4-BE49-F238E27FC236}">
                <a16:creationId xmlns:a16="http://schemas.microsoft.com/office/drawing/2014/main" id="{9C99FA1D-B452-4C22-85DB-4236888C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4</a:t>
            </a:r>
          </a:p>
        </p:txBody>
      </p:sp>
      <p:sp>
        <p:nvSpPr>
          <p:cNvPr id="3" name="La fiche de cadrage">
            <a:extLst xmlns:a="http://schemas.openxmlformats.org/drawingml/2006/main">
              <a:ext uri="{FF2B5EF4-FFF2-40B4-BE49-F238E27FC236}">
                <a16:creationId xmlns:a16="http://schemas.microsoft.com/office/drawing/2014/main" id="{117B05C6-3445-4FB2-819F-087A020C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La fiche de cadrage</a:t>
            </a:r>
          </a:p>
        </p:txBody>
      </p:sp>
      <p:sp>
        <p:nvSpPr>
          <p:cNvPr id="4" name="Le cadrage définit le problème et les limites du p">
            <a:extLst xmlns:a="http://schemas.openxmlformats.org/drawingml/2006/main">
              <a:ext uri="{FF2B5EF4-FFF2-40B4-BE49-F238E27FC236}">
                <a16:creationId xmlns:a16="http://schemas.microsoft.com/office/drawing/2014/main" id="{8F7E9082-FDE7-465F-BE73-5F2BCE98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cadrage définit le problème et les limites du projet.</a:t>
            </a:r>
          </a:p>
        </p:txBody>
      </p:sp>
      <p:sp>
        <p:nvSpPr>
          <p:cNvPr id="5" name="Précisez le public, le périmètre et les hypothèses">
            <a:extLst xmlns:a="http://schemas.openxmlformats.org/drawingml/2006/main">
              <a:ext uri="{FF2B5EF4-FFF2-40B4-BE49-F238E27FC236}">
                <a16:creationId xmlns:a16="http://schemas.microsoft.com/office/drawing/2014/main" id="{D95E2703-ED9B-4E48-817B-DC439410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Précisez le public, le périmètre et les hypothèses retenues.</a:t>
            </a:r>
          </a:p>
        </p:txBody>
      </p:sp>
      <p:sp>
        <p:nvSpPr>
          <p:cNvPr id="6" name="Décrivez les livrables, les exclusions et les cond">
            <a:extLst xmlns:a="http://schemas.openxmlformats.org/drawingml/2006/main">
              <a:ext uri="{FF2B5EF4-FFF2-40B4-BE49-F238E27FC236}">
                <a16:creationId xmlns:a16="http://schemas.microsoft.com/office/drawing/2014/main" id="{430195EC-15C5-41CF-89F8-38086E5A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Décrivez les livrables, les exclusions et les conditions d’acceptation.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D0F3E97A-5CF4-44DB-80C1-748EF45C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Une demande hors périmètre doit déclencher une nou">
            <a:extLst xmlns:a="http://schemas.openxmlformats.org/drawingml/2006/main">
              <a:ext uri="{FF2B5EF4-FFF2-40B4-BE49-F238E27FC236}">
                <a16:creationId xmlns:a16="http://schemas.microsoft.com/office/drawing/2014/main" id="{29E80CDF-F9A4-4908-B207-E76A98F9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Une demande hors périmètre doit déclencher une nouvelle décision.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6de28f00164b4a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8 / 40">
            <a:extLst xmlns:a="http://schemas.openxmlformats.org/drawingml/2006/main">
              <a:ext uri="{FF2B5EF4-FFF2-40B4-BE49-F238E27FC236}">
                <a16:creationId xmlns:a16="http://schemas.microsoft.com/office/drawing/2014/main" id="{9D92495F-B2EC-4197-A1BB-8D174D8E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18 / 40</a:t>
            </a:r>
          </a:p>
        </p:txBody>
      </p:sp>
    </p:spTree>
    <p:extLst>
      <p:ext uri="{BB962C8B-B14F-4D97-AF65-F5344CB8AC3E}">
        <p14:creationId xmlns:p14="http://schemas.microsoft.com/office/powerpoint/2010/main" val="107473947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BB70F-A6AD-428B-9E0E-5AE24457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4">
            <a:extLst xmlns:a="http://schemas.openxmlformats.org/drawingml/2006/main">
              <a:ext uri="{FF2B5EF4-FFF2-40B4-BE49-F238E27FC236}">
                <a16:creationId xmlns:a16="http://schemas.microsoft.com/office/drawing/2014/main" id="{43C263D7-4B7C-472E-B5EE-9B2F289D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4</a:t>
            </a:r>
          </a:p>
        </p:txBody>
      </p:sp>
      <p:sp>
        <p:nvSpPr>
          <p:cNvPr id="3" name="Les indicateurs de réussite">
            <a:extLst xmlns:a="http://schemas.openxmlformats.org/drawingml/2006/main">
              <a:ext uri="{FF2B5EF4-FFF2-40B4-BE49-F238E27FC236}">
                <a16:creationId xmlns:a16="http://schemas.microsoft.com/office/drawing/2014/main" id="{3C6301DA-06D6-4BAA-BAA6-6EA4BD0C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Les indicateurs de réussite</a:t>
            </a:r>
          </a:p>
        </p:txBody>
      </p:sp>
      <p:sp>
        <p:nvSpPr>
          <p:cNvPr id="4" name="Un indicateur utile correspond à un objectif du pr">
            <a:extLst xmlns:a="http://schemas.openxmlformats.org/drawingml/2006/main">
              <a:ext uri="{FF2B5EF4-FFF2-40B4-BE49-F238E27FC236}">
                <a16:creationId xmlns:a16="http://schemas.microsoft.com/office/drawing/2014/main" id="{AE05418D-3FD5-4D11-A5B5-610740E8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 indicateur utile correspond à un objectif du projet.</a:t>
            </a:r>
          </a:p>
        </p:txBody>
      </p:sp>
      <p:sp>
        <p:nvSpPr>
          <p:cNvPr id="5" name="Mesurez la qualité, le temps de correction ou la s">
            <a:extLst xmlns:a="http://schemas.openxmlformats.org/drawingml/2006/main">
              <a:ext uri="{FF2B5EF4-FFF2-40B4-BE49-F238E27FC236}">
                <a16:creationId xmlns:a16="http://schemas.microsoft.com/office/drawing/2014/main" id="{7F6D2F5B-8527-4EA9-85C3-DBD56559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Mesurez la qualité, le temps de correction ou la satisfaction selon le besoin.</a:t>
            </a:r>
          </a:p>
        </p:txBody>
      </p:sp>
      <p:sp>
        <p:nvSpPr>
          <p:cNvPr id="6" name="Conservez une situation de référence pour pouvoir ">
            <a:extLst xmlns:a="http://schemas.openxmlformats.org/drawingml/2006/main">
              <a:ext uri="{FF2B5EF4-FFF2-40B4-BE49-F238E27FC236}">
                <a16:creationId xmlns:a16="http://schemas.microsoft.com/office/drawing/2014/main" id="{96F8C75D-CAD6-4D9A-893E-C4AE251A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Conservez une situation de référence pour pouvoir comparer.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6B2F296B-89E6-4403-8515-3AAE9F2B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Les incidents et les erreurs font aussi partie du ">
            <a:extLst xmlns:a="http://schemas.openxmlformats.org/drawingml/2006/main">
              <a:ext uri="{FF2B5EF4-FFF2-40B4-BE49-F238E27FC236}">
                <a16:creationId xmlns:a16="http://schemas.microsoft.com/office/drawing/2014/main" id="{7929AEB7-45FB-4947-8E36-2C270DFA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Les incidents et les erreurs font aussi partie du bilan.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424e45e06347d8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9 / 40">
            <a:extLst xmlns:a="http://schemas.openxmlformats.org/drawingml/2006/main">
              <a:ext uri="{FF2B5EF4-FFF2-40B4-BE49-F238E27FC236}">
                <a16:creationId xmlns:a16="http://schemas.microsoft.com/office/drawing/2014/main" id="{F8BA7840-A006-43EC-B3BA-8BE3C505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19 / 40</a:t>
            </a:r>
          </a:p>
        </p:txBody>
      </p:sp>
    </p:spTree>
    <p:extLst>
      <p:ext uri="{BB962C8B-B14F-4D97-AF65-F5344CB8AC3E}">
        <p14:creationId xmlns:p14="http://schemas.microsoft.com/office/powerpoint/2010/main" val="63841362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F43F3-BE2A-4FAC-9E8C-F94691E9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MISE EN PRATIQUE">
            <a:extLst xmlns:a="http://schemas.openxmlformats.org/drawingml/2006/main">
              <a:ext uri="{FF2B5EF4-FFF2-40B4-BE49-F238E27FC236}">
                <a16:creationId xmlns:a16="http://schemas.microsoft.com/office/drawing/2014/main" id="{55C01FD5-D131-49BA-B6A9-E4EFEE57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8A2E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F8A2E"/>
                </a:solidFill>
                <a:latin typeface="Poppins"/>
                <a:ea typeface="Poppins"/>
                <a:cs typeface="Poppins"/>
              </a:rPr>
              <a:t>MISE EN PRATIQUE</a:t>
            </a:r>
          </a:p>
        </p:txBody>
      </p:sp>
      <p:sp>
        <p:nvSpPr>
          <p:cNvPr id="3" name="Atelier : cadrer le projet">
            <a:extLst xmlns:a="http://schemas.openxmlformats.org/drawingml/2006/main">
              <a:ext uri="{FF2B5EF4-FFF2-40B4-BE49-F238E27FC236}">
                <a16:creationId xmlns:a16="http://schemas.microsoft.com/office/drawing/2014/main" id="{5D4A3450-CCD2-4765-AD9D-D88CD53B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Atelier : cadrer le projet</a:t>
            </a:r>
          </a:p>
        </p:txBody>
      </p:sp>
      <p:sp>
        <p:nvSpPr>
          <p:cNvPr id="4" name="La fiche doit permettre à une autre personne de co">
            <a:extLst xmlns:a="http://schemas.openxmlformats.org/drawingml/2006/main">
              <a:ext uri="{FF2B5EF4-FFF2-40B4-BE49-F238E27FC236}">
                <a16:creationId xmlns:a16="http://schemas.microsoft.com/office/drawing/2014/main" id="{30530FD0-BA3A-400B-AB19-CD3E1AE2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fiche doit permettre à une autre personne de comprendre le projet.</a:t>
            </a:r>
          </a:p>
        </p:txBody>
      </p:sp>
      <p:sp>
        <p:nvSpPr>
          <p:cNvPr id="5" name="Décrivez le besoin, les données, les rôles et les ">
            <a:extLst xmlns:a="http://schemas.openxmlformats.org/drawingml/2006/main">
              <a:ext uri="{FF2B5EF4-FFF2-40B4-BE49-F238E27FC236}">
                <a16:creationId xmlns:a16="http://schemas.microsoft.com/office/drawing/2014/main" id="{85D351DD-7294-45CF-9556-7DBB84C7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Décrivez le besoin, les données, les rôles et les étapes envisagées.</a:t>
            </a:r>
          </a:p>
        </p:txBody>
      </p:sp>
      <p:sp>
        <p:nvSpPr>
          <p:cNvPr id="6" name="Ajoutez les critères de réussite et les conditions">
            <a:extLst xmlns:a="http://schemas.openxmlformats.org/drawingml/2006/main">
              <a:ext uri="{FF2B5EF4-FFF2-40B4-BE49-F238E27FC236}">
                <a16:creationId xmlns:a16="http://schemas.microsoft.com/office/drawing/2014/main" id="{539CB39E-F01C-4F69-8752-DE75458C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Ajoutez les critères de réussite et les conditions d’arrêt.</a:t>
            </a:r>
          </a:p>
        </p:txBody>
      </p:sp>
      <p:sp>
        <p:nvSpPr>
          <p:cNvPr id="7" name="LIVRABLE ET CRITÈRES">
            <a:extLst xmlns:a="http://schemas.openxmlformats.org/drawingml/2006/main">
              <a:ext uri="{FF2B5EF4-FFF2-40B4-BE49-F238E27FC236}">
                <a16:creationId xmlns:a16="http://schemas.microsoft.com/office/drawing/2014/main" id="{12FD0CFD-7FE5-45EE-A8FA-A04F569D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LIVRABLE ET CRITÈRES</a:t>
            </a:r>
          </a:p>
        </p:txBody>
      </p:sp>
      <p:sp>
        <p:nvSpPr>
          <p:cNvPr id="8" name="À remettre : fiche de cadrage et questions encore ">
            <a:extLst xmlns:a="http://schemas.openxmlformats.org/drawingml/2006/main">
              <a:ext uri="{FF2B5EF4-FFF2-40B4-BE49-F238E27FC236}">
                <a16:creationId xmlns:a16="http://schemas.microsoft.com/office/drawing/2014/main" id="{9D5742B4-DFF4-4726-929B-0A2FDB94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À remettre : fiche de cadrage et questions encore ouvertes.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77aaa31264331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0 / 40">
            <a:extLst xmlns:a="http://schemas.openxmlformats.org/drawingml/2006/main">
              <a:ext uri="{FF2B5EF4-FFF2-40B4-BE49-F238E27FC236}">
                <a16:creationId xmlns:a16="http://schemas.microsoft.com/office/drawing/2014/main" id="{463D50AD-13D6-48B6-A061-6886E149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20 / 40</a:t>
            </a:r>
          </a:p>
        </p:txBody>
      </p:sp>
    </p:spTree>
    <p:extLst>
      <p:ext uri="{BB962C8B-B14F-4D97-AF65-F5344CB8AC3E}">
        <p14:creationId xmlns:p14="http://schemas.microsoft.com/office/powerpoint/2010/main" val="45329228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98F1C2-B918-4CBA-856A-28696C5B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4">
            <a:extLst xmlns:a="http://schemas.openxmlformats.org/drawingml/2006/main">
              <a:ext uri="{FF2B5EF4-FFF2-40B4-BE49-F238E27FC236}">
                <a16:creationId xmlns:a16="http://schemas.microsoft.com/office/drawing/2014/main" id="{6F7178E5-89A5-4B19-9EF7-9AE48220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4</a:t>
            </a:r>
          </a:p>
        </p:txBody>
      </p:sp>
      <p:sp>
        <p:nvSpPr>
          <p:cNvPr id="3" name="Marketing et communication">
            <a:extLst xmlns:a="http://schemas.openxmlformats.org/drawingml/2006/main">
              <a:ext uri="{FF2B5EF4-FFF2-40B4-BE49-F238E27FC236}">
                <a16:creationId xmlns:a16="http://schemas.microsoft.com/office/drawing/2014/main" id="{4CCB06B9-8526-4205-ACE0-295C08EF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Marketing et communication</a:t>
            </a:r>
          </a:p>
        </p:txBody>
      </p:sp>
      <p:sp>
        <p:nvSpPr>
          <p:cNvPr id="4" name="L’IA peut aider à préparer des variantes de conten">
            <a:extLst xmlns:a="http://schemas.openxmlformats.org/drawingml/2006/main">
              <a:ext uri="{FF2B5EF4-FFF2-40B4-BE49-F238E27FC236}">
                <a16:creationId xmlns:a16="http://schemas.microsoft.com/office/drawing/2014/main" id="{7B389B66-2FCD-4C72-BF65-DD35088B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L’IA peut aider à préparer des variantes de contenu.</a:t>
            </a:r>
          </a:p>
        </p:txBody>
      </p:sp>
      <p:sp>
        <p:nvSpPr>
          <p:cNvPr id="5" name="Fournissez le public, l’offre et les informations ">
            <a:extLst xmlns:a="http://schemas.openxmlformats.org/drawingml/2006/main">
              <a:ext uri="{FF2B5EF4-FFF2-40B4-BE49-F238E27FC236}">
                <a16:creationId xmlns:a16="http://schemas.microsoft.com/office/drawing/2014/main" id="{E918106E-553F-4CFF-BCDF-DCB48D3E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Fournissez le public, l’offre et les informations validées.</a:t>
            </a:r>
          </a:p>
        </p:txBody>
      </p:sp>
      <p:sp>
        <p:nvSpPr>
          <p:cNvPr id="6" name="Relisez les promesses, les chiffres et la cohérenc">
            <a:extLst xmlns:a="http://schemas.openxmlformats.org/drawingml/2006/main">
              <a:ext uri="{FF2B5EF4-FFF2-40B4-BE49-F238E27FC236}">
                <a16:creationId xmlns:a16="http://schemas.microsoft.com/office/drawing/2014/main" id="{D027C9EB-D1A9-42D9-9090-F303FEA3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Relisez les promesses, les chiffres et la cohérence avec la marque.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FFBB4C9C-876B-491A-9525-0841C382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Une personne approuve le contenu avant publication">
            <a:extLst xmlns:a="http://schemas.openxmlformats.org/drawingml/2006/main">
              <a:ext uri="{FF2B5EF4-FFF2-40B4-BE49-F238E27FC236}">
                <a16:creationId xmlns:a16="http://schemas.microsoft.com/office/drawing/2014/main" id="{F5BC9B19-1358-4E5B-81A3-DAE7B73C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Une personne approuve le contenu avant publication.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4b34ce5bcc4781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1 / 40">
            <a:extLst xmlns:a="http://schemas.openxmlformats.org/drawingml/2006/main">
              <a:ext uri="{FF2B5EF4-FFF2-40B4-BE49-F238E27FC236}">
                <a16:creationId xmlns:a16="http://schemas.microsoft.com/office/drawing/2014/main" id="{D53DDFB2-0BF6-45C8-BF1B-3DD780A2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21 / 40</a:t>
            </a:r>
          </a:p>
        </p:txBody>
      </p:sp>
    </p:spTree>
    <p:extLst>
      <p:ext uri="{BB962C8B-B14F-4D97-AF65-F5344CB8AC3E}">
        <p14:creationId xmlns:p14="http://schemas.microsoft.com/office/powerpoint/2010/main" val="120522213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C39C1-4E8F-4047-910D-652E9CCE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MISE EN PRATIQUE">
            <a:extLst xmlns:a="http://schemas.openxmlformats.org/drawingml/2006/main">
              <a:ext uri="{FF2B5EF4-FFF2-40B4-BE49-F238E27FC236}">
                <a16:creationId xmlns:a16="http://schemas.microsoft.com/office/drawing/2014/main" id="{E33DA093-E2AE-4AB2-A432-9CBF4DBF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8A2E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F8A2E"/>
                </a:solidFill>
                <a:latin typeface="Poppins"/>
                <a:ea typeface="Poppins"/>
                <a:cs typeface="Poppins"/>
              </a:rPr>
              <a:t>MISE EN PRATIQUE</a:t>
            </a:r>
          </a:p>
        </p:txBody>
      </p:sp>
      <p:sp>
        <p:nvSpPr>
          <p:cNvPr id="3" name="Atelier : brief marketing">
            <a:extLst xmlns:a="http://schemas.openxmlformats.org/drawingml/2006/main">
              <a:ext uri="{FF2B5EF4-FFF2-40B4-BE49-F238E27FC236}">
                <a16:creationId xmlns:a16="http://schemas.microsoft.com/office/drawing/2014/main" id="{60C53D86-3B6F-4477-BD75-CA481EA9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Atelier : brief marketing</a:t>
            </a:r>
          </a:p>
        </p:txBody>
      </p:sp>
      <p:sp>
        <p:nvSpPr>
          <p:cNvPr id="4" name="Comparer plusieurs propositions à partir d’un même">
            <a:extLst xmlns:a="http://schemas.openxmlformats.org/drawingml/2006/main">
              <a:ext uri="{FF2B5EF4-FFF2-40B4-BE49-F238E27FC236}">
                <a16:creationId xmlns:a16="http://schemas.microsoft.com/office/drawing/2014/main" id="{27749218-6712-41B6-8C8A-F09893A9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Comparer plusieurs propositions à partir d’un même brief.</a:t>
            </a:r>
          </a:p>
        </p:txBody>
      </p:sp>
      <p:sp>
        <p:nvSpPr>
          <p:cNvPr id="5" name="Utilisez une offre fictive et précisez le canal de">
            <a:extLst xmlns:a="http://schemas.openxmlformats.org/drawingml/2006/main">
              <a:ext uri="{FF2B5EF4-FFF2-40B4-BE49-F238E27FC236}">
                <a16:creationId xmlns:a16="http://schemas.microsoft.com/office/drawing/2014/main" id="{A2739769-0334-49F9-B755-C77DD4DE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Utilisez une offre fictive et précisez le canal de diffusion.</a:t>
            </a:r>
          </a:p>
        </p:txBody>
      </p:sp>
      <p:sp>
        <p:nvSpPr>
          <p:cNvPr id="6" name="Demandez des variantes, puis choisissez selon des ">
            <a:extLst xmlns:a="http://schemas.openxmlformats.org/drawingml/2006/main">
              <a:ext uri="{FF2B5EF4-FFF2-40B4-BE49-F238E27FC236}">
                <a16:creationId xmlns:a16="http://schemas.microsoft.com/office/drawing/2014/main" id="{106755C9-4CA3-4D4D-8A01-C7D79A52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Demandez des variantes, puis choisissez selon des critères de clarté et de pertinence.</a:t>
            </a:r>
          </a:p>
        </p:txBody>
      </p:sp>
      <p:sp>
        <p:nvSpPr>
          <p:cNvPr id="7" name="LIVRABLE ET CRITÈRES">
            <a:extLst xmlns:a="http://schemas.openxmlformats.org/drawingml/2006/main">
              <a:ext uri="{FF2B5EF4-FFF2-40B4-BE49-F238E27FC236}">
                <a16:creationId xmlns:a16="http://schemas.microsoft.com/office/drawing/2014/main" id="{9DF8FEF8-2B47-403A-8750-43F6F66D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LIVRABLE ET CRITÈRES</a:t>
            </a:r>
          </a:p>
        </p:txBody>
      </p:sp>
      <p:sp>
        <p:nvSpPr>
          <p:cNvPr id="8" name="À remettre : brief, propositions et choix justifié">
            <a:extLst xmlns:a="http://schemas.openxmlformats.org/drawingml/2006/main">
              <a:ext uri="{FF2B5EF4-FFF2-40B4-BE49-F238E27FC236}">
                <a16:creationId xmlns:a16="http://schemas.microsoft.com/office/drawing/2014/main" id="{801D88F9-65D2-43D6-98B6-B50492EB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À remettre : brief, propositions et choix justifié.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17596ccea430d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2 / 40">
            <a:extLst xmlns:a="http://schemas.openxmlformats.org/drawingml/2006/main">
              <a:ext uri="{FF2B5EF4-FFF2-40B4-BE49-F238E27FC236}">
                <a16:creationId xmlns:a16="http://schemas.microsoft.com/office/drawing/2014/main" id="{E4E1EF48-A3F7-419F-B309-FD07530F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22 / 40</a:t>
            </a:r>
          </a:p>
        </p:txBody>
      </p:sp>
    </p:spTree>
    <p:extLst>
      <p:ext uri="{BB962C8B-B14F-4D97-AF65-F5344CB8AC3E}">
        <p14:creationId xmlns:p14="http://schemas.microsoft.com/office/powerpoint/2010/main" val="50552435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946F1A-A810-4952-A1C9-92C6F65A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4">
            <a:extLst xmlns:a="http://schemas.openxmlformats.org/drawingml/2006/main">
              <a:ext uri="{FF2B5EF4-FFF2-40B4-BE49-F238E27FC236}">
                <a16:creationId xmlns:a16="http://schemas.microsoft.com/office/drawing/2014/main" id="{905B90B2-0A5D-49D7-8DCB-0D1C9E39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4</a:t>
            </a:r>
          </a:p>
        </p:txBody>
      </p:sp>
      <p:sp>
        <p:nvSpPr>
          <p:cNvPr id="3" name="Ressources humaines">
            <a:extLst xmlns:a="http://schemas.openxmlformats.org/drawingml/2006/main">
              <a:ext uri="{FF2B5EF4-FFF2-40B4-BE49-F238E27FC236}">
                <a16:creationId xmlns:a16="http://schemas.microsoft.com/office/drawing/2014/main" id="{09CF44F6-E2B6-475D-BF7D-A72974AD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Ressources humaines</a:t>
            </a:r>
          </a:p>
        </p:txBody>
      </p:sp>
      <p:sp>
        <p:nvSpPr>
          <p:cNvPr id="4" name="Les brouillons RH demandent une relecture attentiv">
            <a:extLst xmlns:a="http://schemas.openxmlformats.org/drawingml/2006/main">
              <a:ext uri="{FF2B5EF4-FFF2-40B4-BE49-F238E27FC236}">
                <a16:creationId xmlns:a16="http://schemas.microsoft.com/office/drawing/2014/main" id="{987C3607-D5DC-4DEA-B286-4C14F235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Les brouillons RH demandent une relecture attentive.</a:t>
            </a:r>
          </a:p>
        </p:txBody>
      </p:sp>
      <p:sp>
        <p:nvSpPr>
          <p:cNvPr id="5" name="L’IA peut aider à structurer une communication ou ">
            <a:extLst xmlns:a="http://schemas.openxmlformats.org/drawingml/2006/main">
              <a:ext uri="{FF2B5EF4-FFF2-40B4-BE49-F238E27FC236}">
                <a16:creationId xmlns:a16="http://schemas.microsoft.com/office/drawing/2014/main" id="{6C444F37-EA8F-4DB4-A95F-1A696284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L’IA peut aider à structurer une communication ou une fiche de poste.</a:t>
            </a:r>
          </a:p>
        </p:txBody>
      </p:sp>
      <p:sp>
        <p:nvSpPr>
          <p:cNvPr id="6" name="Utilisez des données fictives et vérifiez les form">
            <a:extLst xmlns:a="http://schemas.openxmlformats.org/drawingml/2006/main">
              <a:ext uri="{FF2B5EF4-FFF2-40B4-BE49-F238E27FC236}">
                <a16:creationId xmlns:a16="http://schemas.microsoft.com/office/drawing/2014/main" id="{9885B246-963F-46C6-9B81-65B68434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Utilisez des données fictives et vérifiez les formulations qui concernent les personnes.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A269BA6C-D0DE-4750-AE78-7B3310CA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Conserver une décision humaine pour les situations">
            <a:extLst xmlns:a="http://schemas.openxmlformats.org/drawingml/2006/main">
              <a:ext uri="{FF2B5EF4-FFF2-40B4-BE49-F238E27FC236}">
                <a16:creationId xmlns:a16="http://schemas.microsoft.com/office/drawing/2014/main" id="{38BA2537-088A-42AC-A0DC-5B9B1056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Conserver une décision humaine pour les situations individuelles.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4cfc36291148f7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3 / 40">
            <a:extLst xmlns:a="http://schemas.openxmlformats.org/drawingml/2006/main">
              <a:ext uri="{FF2B5EF4-FFF2-40B4-BE49-F238E27FC236}">
                <a16:creationId xmlns:a16="http://schemas.microsoft.com/office/drawing/2014/main" id="{4FD7D504-1EC8-4495-8F18-0E0D51DD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23 / 40</a:t>
            </a:r>
          </a:p>
        </p:txBody>
      </p:sp>
    </p:spTree>
    <p:extLst>
      <p:ext uri="{BB962C8B-B14F-4D97-AF65-F5344CB8AC3E}">
        <p14:creationId xmlns:p14="http://schemas.microsoft.com/office/powerpoint/2010/main" val="85996974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4CF36-4CCB-4251-8C0A-FE9D29C3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MISE EN PRATIQUE">
            <a:extLst xmlns:a="http://schemas.openxmlformats.org/drawingml/2006/main">
              <a:ext uri="{FF2B5EF4-FFF2-40B4-BE49-F238E27FC236}">
                <a16:creationId xmlns:a16="http://schemas.microsoft.com/office/drawing/2014/main" id="{D6899B02-69F9-49D4-8CD8-313A807A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8A2E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F8A2E"/>
                </a:solidFill>
                <a:latin typeface="Poppins"/>
                <a:ea typeface="Poppins"/>
                <a:cs typeface="Poppins"/>
              </a:rPr>
              <a:t>MISE EN PRATIQUE</a:t>
            </a:r>
          </a:p>
        </p:txBody>
      </p:sp>
      <p:sp>
        <p:nvSpPr>
          <p:cNvPr id="3" name="Atelier : fiche de poste">
            <a:extLst xmlns:a="http://schemas.openxmlformats.org/drawingml/2006/main">
              <a:ext uri="{FF2B5EF4-FFF2-40B4-BE49-F238E27FC236}">
                <a16:creationId xmlns:a16="http://schemas.microsoft.com/office/drawing/2014/main" id="{BCE71F19-95A1-4742-B546-FDEEFA6F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Atelier : fiche de poste</a:t>
            </a:r>
          </a:p>
        </p:txBody>
      </p:sp>
      <p:sp>
        <p:nvSpPr>
          <p:cNvPr id="4" name="Une fiche utile décrit les activités et les compét">
            <a:extLst xmlns:a="http://schemas.openxmlformats.org/drawingml/2006/main">
              <a:ext uri="{FF2B5EF4-FFF2-40B4-BE49-F238E27FC236}">
                <a16:creationId xmlns:a16="http://schemas.microsoft.com/office/drawing/2014/main" id="{0AAF5080-42E2-45AA-9DB4-743E5A51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Une fiche utile décrit les activités et les compétences attendues.</a:t>
            </a:r>
          </a:p>
        </p:txBody>
      </p:sp>
      <p:sp>
        <p:nvSpPr>
          <p:cNvPr id="5" name="Préparez une fonction fictive avec ses missions et">
            <a:extLst xmlns:a="http://schemas.openxmlformats.org/drawingml/2006/main">
              <a:ext uri="{FF2B5EF4-FFF2-40B4-BE49-F238E27FC236}">
                <a16:creationId xmlns:a16="http://schemas.microsoft.com/office/drawing/2014/main" id="{D60912F7-F7D1-42CC-9C4E-14F6DB0B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Préparez une fonction fictive avec ses missions et ses contraintes.</a:t>
            </a:r>
          </a:p>
        </p:txBody>
      </p:sp>
      <p:sp>
        <p:nvSpPr>
          <p:cNvPr id="6" name="Demandez une reformulation, puis vérifiez précisio">
            <a:extLst xmlns:a="http://schemas.openxmlformats.org/drawingml/2006/main">
              <a:ext uri="{FF2B5EF4-FFF2-40B4-BE49-F238E27FC236}">
                <a16:creationId xmlns:a16="http://schemas.microsoft.com/office/drawing/2014/main" id="{FABB90A1-1C4B-43EF-9BC3-FB38D2F5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Demandez une reformulation, puis vérifiez précision et équité des critères.</a:t>
            </a:r>
          </a:p>
        </p:txBody>
      </p:sp>
      <p:sp>
        <p:nvSpPr>
          <p:cNvPr id="7" name="LIVRABLE ET CRITÈRES">
            <a:extLst xmlns:a="http://schemas.openxmlformats.org/drawingml/2006/main">
              <a:ext uri="{FF2B5EF4-FFF2-40B4-BE49-F238E27FC236}">
                <a16:creationId xmlns:a16="http://schemas.microsoft.com/office/drawing/2014/main" id="{1923918E-E188-43E6-B8DD-A81115E1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LIVRABLE ET CRITÈRES</a:t>
            </a:r>
          </a:p>
        </p:txBody>
      </p:sp>
      <p:sp>
        <p:nvSpPr>
          <p:cNvPr id="8" name="À remettre : brief, fiche et corrections argumenté">
            <a:extLst xmlns:a="http://schemas.openxmlformats.org/drawingml/2006/main">
              <a:ext uri="{FF2B5EF4-FFF2-40B4-BE49-F238E27FC236}">
                <a16:creationId xmlns:a16="http://schemas.microsoft.com/office/drawing/2014/main" id="{E76A8E8D-BD2B-49CD-B4BF-CF8E01FF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À remettre : brief, fiche et corrections argumentées.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ea67d9d8e40c5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4 / 40">
            <a:extLst xmlns:a="http://schemas.openxmlformats.org/drawingml/2006/main">
              <a:ext uri="{FF2B5EF4-FFF2-40B4-BE49-F238E27FC236}">
                <a16:creationId xmlns:a16="http://schemas.microsoft.com/office/drawing/2014/main" id="{DCACC7EF-DF76-491F-89D3-8D496A9C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24 / 40</a:t>
            </a:r>
          </a:p>
        </p:txBody>
      </p:sp>
    </p:spTree>
    <p:extLst>
      <p:ext uri="{BB962C8B-B14F-4D97-AF65-F5344CB8AC3E}">
        <p14:creationId xmlns:p14="http://schemas.microsoft.com/office/powerpoint/2010/main" val="86283372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34101C-07FF-48B0-8EFC-8922DE86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4">
            <a:extLst xmlns:a="http://schemas.openxmlformats.org/drawingml/2006/main">
              <a:ext uri="{FF2B5EF4-FFF2-40B4-BE49-F238E27FC236}">
                <a16:creationId xmlns:a16="http://schemas.microsoft.com/office/drawing/2014/main" id="{8D7BBB1E-F765-49C4-AE87-15CEC271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4</a:t>
            </a:r>
          </a:p>
        </p:txBody>
      </p:sp>
      <p:sp>
        <p:nvSpPr>
          <p:cNvPr id="3" name="Finance et gestion">
            <a:extLst xmlns:a="http://schemas.openxmlformats.org/drawingml/2006/main">
              <a:ext uri="{FF2B5EF4-FFF2-40B4-BE49-F238E27FC236}">
                <a16:creationId xmlns:a16="http://schemas.microsoft.com/office/drawing/2014/main" id="{6BD9B662-2760-452A-AB60-980377A1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Finance et gestion</a:t>
            </a:r>
          </a:p>
        </p:txBody>
      </p:sp>
      <p:sp>
        <p:nvSpPr>
          <p:cNvPr id="4" name="La synthèse documentaire doit garder la trace des ">
            <a:extLst xmlns:a="http://schemas.openxmlformats.org/drawingml/2006/main">
              <a:ext uri="{FF2B5EF4-FFF2-40B4-BE49-F238E27FC236}">
                <a16:creationId xmlns:a16="http://schemas.microsoft.com/office/drawing/2014/main" id="{52FE37A2-7958-4FA6-BB98-A200141C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synthèse documentaire doit garder la trace des chiffres.</a:t>
            </a:r>
          </a:p>
        </p:txBody>
      </p:sp>
      <p:sp>
        <p:nvSpPr>
          <p:cNvPr id="5" name="Fournissez uniquement les documents autorisés et i">
            <a:extLst xmlns:a="http://schemas.openxmlformats.org/drawingml/2006/main">
              <a:ext uri="{FF2B5EF4-FFF2-40B4-BE49-F238E27FC236}">
                <a16:creationId xmlns:a16="http://schemas.microsoft.com/office/drawing/2014/main" id="{5C4B84B2-E56C-4A1E-B0C2-B5276B99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Fournissez uniquement les documents autorisés et identifiez leur période.</a:t>
            </a:r>
          </a:p>
        </p:txBody>
      </p:sp>
      <p:sp>
        <p:nvSpPr>
          <p:cNvPr id="6" name="Vérifiez les montants, les unités et les référence">
            <a:extLst xmlns:a="http://schemas.openxmlformats.org/drawingml/2006/main">
              <a:ext uri="{FF2B5EF4-FFF2-40B4-BE49-F238E27FC236}">
                <a16:creationId xmlns:a16="http://schemas.microsoft.com/office/drawing/2014/main" id="{4ED6CBF6-204A-4B50-8F23-8D13771B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Vérifiez les montants, les unités et les références des informations extraites.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EBBC7C9A-2DE5-4AEB-B5DC-75D6D49D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Une personne compétente valide l’usage des résulta">
            <a:extLst xmlns:a="http://schemas.openxmlformats.org/drawingml/2006/main">
              <a:ext uri="{FF2B5EF4-FFF2-40B4-BE49-F238E27FC236}">
                <a16:creationId xmlns:a16="http://schemas.microsoft.com/office/drawing/2014/main" id="{26D5498A-CB03-474C-BB50-D118451B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Une personne compétente valide l’usage des résultats.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c73cc075746c3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5 / 40">
            <a:extLst xmlns:a="http://schemas.openxmlformats.org/drawingml/2006/main">
              <a:ext uri="{FF2B5EF4-FFF2-40B4-BE49-F238E27FC236}">
                <a16:creationId xmlns:a16="http://schemas.microsoft.com/office/drawing/2014/main" id="{AA5DBDA8-F6D3-445A-8CBC-619F0748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25 / 40</a:t>
            </a:r>
          </a:p>
        </p:txBody>
      </p:sp>
    </p:spTree>
    <p:extLst>
      <p:ext uri="{BB962C8B-B14F-4D97-AF65-F5344CB8AC3E}">
        <p14:creationId xmlns:p14="http://schemas.microsoft.com/office/powerpoint/2010/main" val="91257994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939A34-F3DE-4FC5-A9C7-34A05C7C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MISE EN PRATIQUE">
            <a:extLst xmlns:a="http://schemas.openxmlformats.org/drawingml/2006/main">
              <a:ext uri="{FF2B5EF4-FFF2-40B4-BE49-F238E27FC236}">
                <a16:creationId xmlns:a16="http://schemas.microsoft.com/office/drawing/2014/main" id="{EB2F7F88-57DC-4622-947D-BDC681F6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8A2E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F8A2E"/>
                </a:solidFill>
                <a:latin typeface="Poppins"/>
                <a:ea typeface="Poppins"/>
                <a:cs typeface="Poppins"/>
              </a:rPr>
              <a:t>MISE EN PRATIQUE</a:t>
            </a:r>
          </a:p>
        </p:txBody>
      </p:sp>
      <p:sp>
        <p:nvSpPr>
          <p:cNvPr id="3" name="Atelier : extraction financière">
            <a:extLst xmlns:a="http://schemas.openxmlformats.org/drawingml/2006/main">
              <a:ext uri="{FF2B5EF4-FFF2-40B4-BE49-F238E27FC236}">
                <a16:creationId xmlns:a16="http://schemas.microsoft.com/office/drawing/2014/main" id="{03878600-8022-4F1B-B93D-DE84AF1E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Atelier : extraction financière</a:t>
            </a:r>
          </a:p>
        </p:txBody>
      </p:sp>
      <p:sp>
        <p:nvSpPr>
          <p:cNvPr id="4" name="Retrouver les informations sans combler les lacune">
            <a:extLst xmlns:a="http://schemas.openxmlformats.org/drawingml/2006/main">
              <a:ext uri="{FF2B5EF4-FFF2-40B4-BE49-F238E27FC236}">
                <a16:creationId xmlns:a16="http://schemas.microsoft.com/office/drawing/2014/main" id="{E55DFA21-31D6-42AF-95B0-C571962A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Retrouver les informations sans combler les lacunes.</a:t>
            </a:r>
          </a:p>
        </p:txBody>
      </p:sp>
      <p:sp>
        <p:nvSpPr>
          <p:cNvPr id="5" name="Utilisez un document fictif avec quelques montants">
            <a:extLst xmlns:a="http://schemas.openxmlformats.org/drawingml/2006/main">
              <a:ext uri="{FF2B5EF4-FFF2-40B4-BE49-F238E27FC236}">
                <a16:creationId xmlns:a16="http://schemas.microsoft.com/office/drawing/2014/main" id="{7199B41D-AE21-4675-9203-96ADF635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Utilisez un document fictif avec quelques montants et périodes explicites.</a:t>
            </a:r>
          </a:p>
        </p:txBody>
      </p:sp>
      <p:sp>
        <p:nvSpPr>
          <p:cNvPr id="6" name="Demandez une extraction et marquez les champs abse">
            <a:extLst xmlns:a="http://schemas.openxmlformats.org/drawingml/2006/main">
              <a:ext uri="{FF2B5EF4-FFF2-40B4-BE49-F238E27FC236}">
                <a16:creationId xmlns:a16="http://schemas.microsoft.com/office/drawing/2014/main" id="{B80F64FC-CCE3-44E8-9569-2AD247BA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Demandez une extraction et marquez les champs absents « Non renseigné ».</a:t>
            </a:r>
          </a:p>
        </p:txBody>
      </p:sp>
      <p:sp>
        <p:nvSpPr>
          <p:cNvPr id="7" name="LIVRABLE ET CRITÈRES">
            <a:extLst xmlns:a="http://schemas.openxmlformats.org/drawingml/2006/main">
              <a:ext uri="{FF2B5EF4-FFF2-40B4-BE49-F238E27FC236}">
                <a16:creationId xmlns:a16="http://schemas.microsoft.com/office/drawing/2014/main" id="{407E8A55-94BD-4B4D-B865-EFCE00BE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LIVRABLE ET CRITÈRES</a:t>
            </a:r>
          </a:p>
        </p:txBody>
      </p:sp>
      <p:sp>
        <p:nvSpPr>
          <p:cNvPr id="8" name="À remettre : tableau de résultats et contrôle de c">
            <a:extLst xmlns:a="http://schemas.openxmlformats.org/drawingml/2006/main">
              <a:ext uri="{FF2B5EF4-FFF2-40B4-BE49-F238E27FC236}">
                <a16:creationId xmlns:a16="http://schemas.microsoft.com/office/drawing/2014/main" id="{F958B383-53E9-49AD-8F68-518D4A8D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À remettre : tableau de résultats et contrôle de chaque valeur.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69f9ca7d14f74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6 / 40">
            <a:extLst xmlns:a="http://schemas.openxmlformats.org/drawingml/2006/main">
              <a:ext uri="{FF2B5EF4-FFF2-40B4-BE49-F238E27FC236}">
                <a16:creationId xmlns:a16="http://schemas.microsoft.com/office/drawing/2014/main" id="{634EBDAD-D1D0-45A4-8A44-09703012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26 / 40</a:t>
            </a:r>
          </a:p>
        </p:txBody>
      </p:sp>
    </p:spTree>
    <p:extLst>
      <p:ext uri="{BB962C8B-B14F-4D97-AF65-F5344CB8AC3E}">
        <p14:creationId xmlns:p14="http://schemas.microsoft.com/office/powerpoint/2010/main" val="73712572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66365B-DE85-4B67-A331-2B95F641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4">
            <a:extLst xmlns:a="http://schemas.openxmlformats.org/drawingml/2006/main">
              <a:ext uri="{FF2B5EF4-FFF2-40B4-BE49-F238E27FC236}">
                <a16:creationId xmlns:a16="http://schemas.microsoft.com/office/drawing/2014/main" id="{695AA343-3CAE-43F4-853B-D3CAF6B1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4</a:t>
            </a:r>
          </a:p>
        </p:txBody>
      </p:sp>
      <p:sp>
        <p:nvSpPr>
          <p:cNvPr id="3" name="Documentation juridique">
            <a:extLst xmlns:a="http://schemas.openxmlformats.org/drawingml/2006/main">
              <a:ext uri="{FF2B5EF4-FFF2-40B4-BE49-F238E27FC236}">
                <a16:creationId xmlns:a16="http://schemas.microsoft.com/office/drawing/2014/main" id="{80DDB74E-6CF0-4F4A-BF20-8D52B7AE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Documentation juridique</a:t>
            </a:r>
          </a:p>
        </p:txBody>
      </p:sp>
      <p:sp>
        <p:nvSpPr>
          <p:cNvPr id="4" name="L’assistance documentaire exige des sources identi">
            <a:extLst xmlns:a="http://schemas.openxmlformats.org/drawingml/2006/main">
              <a:ext uri="{FF2B5EF4-FFF2-40B4-BE49-F238E27FC236}">
                <a16:creationId xmlns:a16="http://schemas.microsoft.com/office/drawing/2014/main" id="{D656999C-8949-447B-B746-C579BF66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L’assistance documentaire exige des sources identifiables.</a:t>
            </a:r>
          </a:p>
        </p:txBody>
      </p:sp>
      <p:sp>
        <p:nvSpPr>
          <p:cNvPr id="5" name="Le système peut préparer un repérage de passages d">
            <a:extLst xmlns:a="http://schemas.openxmlformats.org/drawingml/2006/main">
              <a:ext uri="{FF2B5EF4-FFF2-40B4-BE49-F238E27FC236}">
                <a16:creationId xmlns:a16="http://schemas.microsoft.com/office/drawing/2014/main" id="{528D7746-C37E-40CB-9385-70ACA0E1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système peut préparer un repérage de passages dans les documents fournis.</a:t>
            </a:r>
          </a:p>
        </p:txBody>
      </p:sp>
      <p:sp>
        <p:nvSpPr>
          <p:cNvPr id="6" name="Il doit signaler les informations absentes ou cont">
            <a:extLst xmlns:a="http://schemas.openxmlformats.org/drawingml/2006/main">
              <a:ext uri="{FF2B5EF4-FFF2-40B4-BE49-F238E27FC236}">
                <a16:creationId xmlns:a16="http://schemas.microsoft.com/office/drawing/2014/main" id="{5E8C64B3-085D-4320-9672-CA62B858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Il doit signaler les informations absentes ou contradictoires.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C167A5D5-AEC4-415C-9583-A5162E9B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Un professionnel compétent valide toute utilisatio">
            <a:extLst xmlns:a="http://schemas.openxmlformats.org/drawingml/2006/main">
              <a:ext uri="{FF2B5EF4-FFF2-40B4-BE49-F238E27FC236}">
                <a16:creationId xmlns:a16="http://schemas.microsoft.com/office/drawing/2014/main" id="{3D320A90-605D-4D48-827A-B381FD7F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 professionnel compétent valide toute utilisation juridique.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5f61e9953a43ac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7 / 40">
            <a:extLst xmlns:a="http://schemas.openxmlformats.org/drawingml/2006/main">
              <a:ext uri="{FF2B5EF4-FFF2-40B4-BE49-F238E27FC236}">
                <a16:creationId xmlns:a16="http://schemas.microsoft.com/office/drawing/2014/main" id="{8793B6E8-27C7-4E42-80D7-CCEF371E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27 / 40</a:t>
            </a:r>
          </a:p>
        </p:txBody>
      </p:sp>
    </p:spTree>
    <p:extLst>
      <p:ext uri="{BB962C8B-B14F-4D97-AF65-F5344CB8AC3E}">
        <p14:creationId xmlns:p14="http://schemas.microsoft.com/office/powerpoint/2010/main" val="203663840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06A8FE-9CF7-42F5-AFD6-B79CB851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MISE EN PRATIQUE">
            <a:extLst xmlns:a="http://schemas.openxmlformats.org/drawingml/2006/main">
              <a:ext uri="{FF2B5EF4-FFF2-40B4-BE49-F238E27FC236}">
                <a16:creationId xmlns:a16="http://schemas.microsoft.com/office/drawing/2014/main" id="{EC75E977-1C10-4584-805B-CA8AE437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8A2E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F8A2E"/>
                </a:solidFill>
                <a:latin typeface="Poppins"/>
                <a:ea typeface="Poppins"/>
                <a:cs typeface="Poppins"/>
              </a:rPr>
              <a:t>MISE EN PRATIQUE</a:t>
            </a:r>
          </a:p>
        </p:txBody>
      </p:sp>
      <p:sp>
        <p:nvSpPr>
          <p:cNvPr id="3" name="Atelier : comparer des documents">
            <a:extLst xmlns:a="http://schemas.openxmlformats.org/drawingml/2006/main">
              <a:ext uri="{FF2B5EF4-FFF2-40B4-BE49-F238E27FC236}">
                <a16:creationId xmlns:a16="http://schemas.microsoft.com/office/drawing/2014/main" id="{24434E00-E2E6-4928-AF5A-98F2BD12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Atelier : comparer des documents</a:t>
            </a:r>
          </a:p>
        </p:txBody>
      </p:sp>
      <p:sp>
        <p:nvSpPr>
          <p:cNvPr id="4" name="La comparaison décrit les différences observables.">
            <a:extLst xmlns:a="http://schemas.openxmlformats.org/drawingml/2006/main">
              <a:ext uri="{FF2B5EF4-FFF2-40B4-BE49-F238E27FC236}">
                <a16:creationId xmlns:a16="http://schemas.microsoft.com/office/drawing/2014/main" id="{7C8E4B5D-A056-4D15-9FB3-A0DA9A05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comparaison décrit les différences observables.</a:t>
            </a:r>
          </a:p>
        </p:txBody>
      </p:sp>
      <p:sp>
        <p:nvSpPr>
          <p:cNvPr id="5" name="Fournissez deux versions fictives d’un même docume">
            <a:extLst xmlns:a="http://schemas.openxmlformats.org/drawingml/2006/main">
              <a:ext uri="{FF2B5EF4-FFF2-40B4-BE49-F238E27FC236}">
                <a16:creationId xmlns:a16="http://schemas.microsoft.com/office/drawing/2014/main" id="{FC8824AA-ADE7-4DEB-A4A5-D46E133E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Fournissez deux versions fictives d’un même document.</a:t>
            </a:r>
          </a:p>
        </p:txBody>
      </p:sp>
      <p:sp>
        <p:nvSpPr>
          <p:cNvPr id="6" name="Demandez les modifications avec leurs passages de ">
            <a:extLst xmlns:a="http://schemas.openxmlformats.org/drawingml/2006/main">
              <a:ext uri="{FF2B5EF4-FFF2-40B4-BE49-F238E27FC236}">
                <a16:creationId xmlns:a16="http://schemas.microsoft.com/office/drawing/2014/main" id="{C6E87A68-3586-4907-9F40-69F880AF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Demandez les modifications avec leurs passages de référence, sans conclusion juridique inventée.</a:t>
            </a:r>
          </a:p>
        </p:txBody>
      </p:sp>
      <p:sp>
        <p:nvSpPr>
          <p:cNvPr id="7" name="LIVRABLE ET CRITÈRES">
            <a:extLst xmlns:a="http://schemas.openxmlformats.org/drawingml/2006/main">
              <a:ext uri="{FF2B5EF4-FFF2-40B4-BE49-F238E27FC236}">
                <a16:creationId xmlns:a16="http://schemas.microsoft.com/office/drawing/2014/main" id="{7F73BA06-0081-42E3-A4B9-A01814F5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LIVRABLE ET CRITÈRES</a:t>
            </a:r>
          </a:p>
        </p:txBody>
      </p:sp>
      <p:sp>
        <p:nvSpPr>
          <p:cNvPr id="8" name="À remettre : comparaison et vérification des extra">
            <a:extLst xmlns:a="http://schemas.openxmlformats.org/drawingml/2006/main">
              <a:ext uri="{FF2B5EF4-FFF2-40B4-BE49-F238E27FC236}">
                <a16:creationId xmlns:a16="http://schemas.microsoft.com/office/drawing/2014/main" id="{812D0A64-D5CD-4DB1-ADD6-11F36A87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À remettre : comparaison et vérification des extraits.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803bd16c44e6f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8 / 40">
            <a:extLst xmlns:a="http://schemas.openxmlformats.org/drawingml/2006/main">
              <a:ext uri="{FF2B5EF4-FFF2-40B4-BE49-F238E27FC236}">
                <a16:creationId xmlns:a16="http://schemas.microsoft.com/office/drawing/2014/main" id="{28A4045C-851A-4861-A848-8D9A1528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28 / 40</a:t>
            </a:r>
          </a:p>
        </p:txBody>
      </p:sp>
    </p:spTree>
    <p:extLst>
      <p:ext uri="{BB962C8B-B14F-4D97-AF65-F5344CB8AC3E}">
        <p14:creationId xmlns:p14="http://schemas.microsoft.com/office/powerpoint/2010/main" val="100036091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820DD-1F58-4171-8805-3337166E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4">
            <a:extLst xmlns:a="http://schemas.openxmlformats.org/drawingml/2006/main">
              <a:ext uri="{FF2B5EF4-FFF2-40B4-BE49-F238E27FC236}">
                <a16:creationId xmlns:a16="http://schemas.microsoft.com/office/drawing/2014/main" id="{F6809112-79B9-49F4-9AE2-A9B1BEAF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4</a:t>
            </a:r>
          </a:p>
        </p:txBody>
      </p:sp>
      <p:sp>
        <p:nvSpPr>
          <p:cNvPr id="3" name="Information en santé">
            <a:extLst xmlns:a="http://schemas.openxmlformats.org/drawingml/2006/main">
              <a:ext uri="{FF2B5EF4-FFF2-40B4-BE49-F238E27FC236}">
                <a16:creationId xmlns:a16="http://schemas.microsoft.com/office/drawing/2014/main" id="{929AE43F-D488-41BD-9836-33A92AC9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Information en santé</a:t>
            </a:r>
          </a:p>
        </p:txBody>
      </p:sp>
      <p:sp>
        <p:nvSpPr>
          <p:cNvPr id="4" name="Un usage pédagogique doit rester dans un périmètre">
            <a:extLst xmlns:a="http://schemas.openxmlformats.org/drawingml/2006/main">
              <a:ext uri="{FF2B5EF4-FFF2-40B4-BE49-F238E27FC236}">
                <a16:creationId xmlns:a16="http://schemas.microsoft.com/office/drawing/2014/main" id="{DC529496-128B-4B3C-A430-E1DA0D8F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 usage pédagogique doit rester dans un périmètre contrôlé.</a:t>
            </a:r>
          </a:p>
        </p:txBody>
      </p:sp>
      <p:sp>
        <p:nvSpPr>
          <p:cNvPr id="5" name="Préparez une explication à partir de documents val">
            <a:extLst xmlns:a="http://schemas.openxmlformats.org/drawingml/2006/main">
              <a:ext uri="{FF2B5EF4-FFF2-40B4-BE49-F238E27FC236}">
                <a16:creationId xmlns:a16="http://schemas.microsoft.com/office/drawing/2014/main" id="{8B34D8AA-D54C-49FF-83FF-A6990498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Préparez une explication à partir de documents validés et destinés au public concerné.</a:t>
            </a:r>
          </a:p>
        </p:txBody>
      </p:sp>
      <p:sp>
        <p:nvSpPr>
          <p:cNvPr id="6" name="Faites relire le résultat par un professionnel com">
            <a:extLst xmlns:a="http://schemas.openxmlformats.org/drawingml/2006/main">
              <a:ext uri="{FF2B5EF4-FFF2-40B4-BE49-F238E27FC236}">
                <a16:creationId xmlns:a16="http://schemas.microsoft.com/office/drawing/2014/main" id="{F353BB32-5654-450F-99C8-C5BB4DA2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Faites relire le résultat par un professionnel compétent.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6E58383F-3F78-4D01-A6A6-ED727924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Ce cas ne prévoit ni diagnostic ni décision cliniq">
            <a:extLst xmlns:a="http://schemas.openxmlformats.org/drawingml/2006/main">
              <a:ext uri="{FF2B5EF4-FFF2-40B4-BE49-F238E27FC236}">
                <a16:creationId xmlns:a16="http://schemas.microsoft.com/office/drawing/2014/main" id="{BEA58817-8EFD-492D-B0DE-977EA1B8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Ce cas ne prévoit ni diagnostic ni décision clinique automatisée.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4d1a9450f42f7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9 / 40">
            <a:extLst xmlns:a="http://schemas.openxmlformats.org/drawingml/2006/main">
              <a:ext uri="{FF2B5EF4-FFF2-40B4-BE49-F238E27FC236}">
                <a16:creationId xmlns:a16="http://schemas.microsoft.com/office/drawing/2014/main" id="{69304E9E-C327-42CE-835A-C01726A3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29 / 40</a:t>
            </a:r>
          </a:p>
        </p:txBody>
      </p:sp>
    </p:spTree>
    <p:extLst>
      <p:ext uri="{BB962C8B-B14F-4D97-AF65-F5344CB8AC3E}">
        <p14:creationId xmlns:p14="http://schemas.microsoft.com/office/powerpoint/2010/main" val="83764374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A929C9-E024-49F1-9B07-0DA15D78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4">
            <a:extLst xmlns:a="http://schemas.openxmlformats.org/drawingml/2006/main">
              <a:ext uri="{FF2B5EF4-FFF2-40B4-BE49-F238E27FC236}">
                <a16:creationId xmlns:a16="http://schemas.microsoft.com/office/drawing/2014/main" id="{A27F5462-FE56-4B33-A62A-70C63239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4</a:t>
            </a:r>
          </a:p>
        </p:txBody>
      </p:sp>
      <p:sp>
        <p:nvSpPr>
          <p:cNvPr id="3" name="Éducation et formation">
            <a:extLst xmlns:a="http://schemas.openxmlformats.org/drawingml/2006/main">
              <a:ext uri="{FF2B5EF4-FFF2-40B4-BE49-F238E27FC236}">
                <a16:creationId xmlns:a16="http://schemas.microsoft.com/office/drawing/2014/main" id="{00E777A8-2461-48F3-AAAD-AE56678B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Éducation et formation</a:t>
            </a:r>
          </a:p>
        </p:txBody>
      </p:sp>
      <p:sp>
        <p:nvSpPr>
          <p:cNvPr id="4" name="L’IA peut aider à adapter une explication à un pub">
            <a:extLst xmlns:a="http://schemas.openxmlformats.org/drawingml/2006/main">
              <a:ext uri="{FF2B5EF4-FFF2-40B4-BE49-F238E27FC236}">
                <a16:creationId xmlns:a16="http://schemas.microsoft.com/office/drawing/2014/main" id="{9577891A-0D24-4ABB-844F-A8A4B5EB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L’IA peut aider à adapter une explication à un public.</a:t>
            </a:r>
          </a:p>
        </p:txBody>
      </p:sp>
      <p:sp>
        <p:nvSpPr>
          <p:cNvPr id="5" name="Précisez les prérequis, l’objectif et le niveau de">
            <a:extLst xmlns:a="http://schemas.openxmlformats.org/drawingml/2006/main">
              <a:ext uri="{FF2B5EF4-FFF2-40B4-BE49-F238E27FC236}">
                <a16:creationId xmlns:a16="http://schemas.microsoft.com/office/drawing/2014/main" id="{CCC379BD-7597-49AE-806D-28CC3DA5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Précisez les prérequis, l’objectif et le niveau de langage.</a:t>
            </a:r>
          </a:p>
        </p:txBody>
      </p:sp>
      <p:sp>
        <p:nvSpPr>
          <p:cNvPr id="6" name="Relisez les exemples et vérifiez que l’activité év">
            <a:extLst xmlns:a="http://schemas.openxmlformats.org/drawingml/2006/main">
              <a:ext uri="{FF2B5EF4-FFF2-40B4-BE49-F238E27FC236}">
                <a16:creationId xmlns:a16="http://schemas.microsoft.com/office/drawing/2014/main" id="{CD18F66C-46DA-4FF4-BACB-2179E3F5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Relisez les exemples et vérifiez que l’activité évalue bien l’objectif.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3E383DA2-6F9C-4976-A7EE-2E261EF0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Le formateur garde la responsabilité du contenu et">
            <a:extLst xmlns:a="http://schemas.openxmlformats.org/drawingml/2006/main">
              <a:ext uri="{FF2B5EF4-FFF2-40B4-BE49-F238E27FC236}">
                <a16:creationId xmlns:a16="http://schemas.microsoft.com/office/drawing/2014/main" id="{B87CD154-9F78-403B-BE03-629EB0D8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 formateur garde la responsabilité du contenu et de la correction.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ae09b2df7d4dde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30 / 40">
            <a:extLst xmlns:a="http://schemas.openxmlformats.org/drawingml/2006/main">
              <a:ext uri="{FF2B5EF4-FFF2-40B4-BE49-F238E27FC236}">
                <a16:creationId xmlns:a16="http://schemas.microsoft.com/office/drawing/2014/main" id="{D5C44616-0B2F-428B-B450-812A1BCC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30 / 40</a:t>
            </a:r>
          </a:p>
        </p:txBody>
      </p:sp>
    </p:spTree>
    <p:extLst>
      <p:ext uri="{BB962C8B-B14F-4D97-AF65-F5344CB8AC3E}">
        <p14:creationId xmlns:p14="http://schemas.microsoft.com/office/powerpoint/2010/main" val="108810485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2CD767-8D32-43EC-87BC-9B1DE232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MISE EN PRATIQUE">
            <a:extLst xmlns:a="http://schemas.openxmlformats.org/drawingml/2006/main">
              <a:ext uri="{FF2B5EF4-FFF2-40B4-BE49-F238E27FC236}">
                <a16:creationId xmlns:a16="http://schemas.microsoft.com/office/drawing/2014/main" id="{DC74A486-AF5D-408D-9C2B-C45564F5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8A2E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F8A2E"/>
                </a:solidFill>
                <a:latin typeface="Poppins"/>
                <a:ea typeface="Poppins"/>
                <a:cs typeface="Poppins"/>
              </a:rPr>
              <a:t>MISE EN PRATIQUE</a:t>
            </a:r>
          </a:p>
        </p:txBody>
      </p:sp>
      <p:sp>
        <p:nvSpPr>
          <p:cNvPr id="3" name="Atelier : activité pédagogique">
            <a:extLst xmlns:a="http://schemas.openxmlformats.org/drawingml/2006/main">
              <a:ext uri="{FF2B5EF4-FFF2-40B4-BE49-F238E27FC236}">
                <a16:creationId xmlns:a16="http://schemas.microsoft.com/office/drawing/2014/main" id="{FA9CD991-520A-4159-A345-36BCC0E6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Atelier : activité pédagogique</a:t>
            </a:r>
          </a:p>
        </p:txBody>
      </p:sp>
      <p:sp>
        <p:nvSpPr>
          <p:cNvPr id="4" name="L’activité doit rendre la compétence observable.">
            <a:extLst xmlns:a="http://schemas.openxmlformats.org/drawingml/2006/main">
              <a:ext uri="{FF2B5EF4-FFF2-40B4-BE49-F238E27FC236}">
                <a16:creationId xmlns:a16="http://schemas.microsoft.com/office/drawing/2014/main" id="{BCE5543A-1250-4CBB-9303-77D17258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L’activité doit rendre la compétence observable.</a:t>
            </a:r>
          </a:p>
        </p:txBody>
      </p:sp>
      <p:sp>
        <p:nvSpPr>
          <p:cNvPr id="5" name="Choisissez un objectif et créez un exercice pour u">
            <a:extLst xmlns:a="http://schemas.openxmlformats.org/drawingml/2006/main">
              <a:ext uri="{FF2B5EF4-FFF2-40B4-BE49-F238E27FC236}">
                <a16:creationId xmlns:a16="http://schemas.microsoft.com/office/drawing/2014/main" id="{BE72DB39-DC6D-404A-A2B9-ABE659B0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Choisissez un objectif et créez un exercice pour un public défini.</a:t>
            </a:r>
          </a:p>
        </p:txBody>
      </p:sp>
      <p:sp>
        <p:nvSpPr>
          <p:cNvPr id="6" name="Précisez la production attendue et les critères de">
            <a:extLst xmlns:a="http://schemas.openxmlformats.org/drawingml/2006/main">
              <a:ext uri="{FF2B5EF4-FFF2-40B4-BE49-F238E27FC236}">
                <a16:creationId xmlns:a16="http://schemas.microsoft.com/office/drawing/2014/main" id="{2FBD8290-F2F0-4FF8-A92B-8AD2D1DB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Précisez la production attendue et les critères de correction.</a:t>
            </a:r>
          </a:p>
        </p:txBody>
      </p:sp>
      <p:sp>
        <p:nvSpPr>
          <p:cNvPr id="7" name="LIVRABLE ET CRITÈRES">
            <a:extLst xmlns:a="http://schemas.openxmlformats.org/drawingml/2006/main">
              <a:ext uri="{FF2B5EF4-FFF2-40B4-BE49-F238E27FC236}">
                <a16:creationId xmlns:a16="http://schemas.microsoft.com/office/drawing/2014/main" id="{3DE1310A-F450-448B-8245-C245664D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LIVRABLE ET CRITÈRES</a:t>
            </a:r>
          </a:p>
        </p:txBody>
      </p:sp>
      <p:sp>
        <p:nvSpPr>
          <p:cNvPr id="8" name="À remettre : objectif, activité et éléments de cor">
            <a:extLst xmlns:a="http://schemas.openxmlformats.org/drawingml/2006/main">
              <a:ext uri="{FF2B5EF4-FFF2-40B4-BE49-F238E27FC236}">
                <a16:creationId xmlns:a16="http://schemas.microsoft.com/office/drawing/2014/main" id="{89E16615-A669-4805-9A0B-2E612472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À remettre : objectif, activité et éléments de correction.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c74f88bd954e13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31 / 40">
            <a:extLst xmlns:a="http://schemas.openxmlformats.org/drawingml/2006/main">
              <a:ext uri="{FF2B5EF4-FFF2-40B4-BE49-F238E27FC236}">
                <a16:creationId xmlns:a16="http://schemas.microsoft.com/office/drawing/2014/main" id="{8EC58965-F726-42E5-9C9B-A9886A56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31 / 40</a:t>
            </a:r>
          </a:p>
        </p:txBody>
      </p:sp>
    </p:spTree>
    <p:extLst>
      <p:ext uri="{BB962C8B-B14F-4D97-AF65-F5344CB8AC3E}">
        <p14:creationId xmlns:p14="http://schemas.microsoft.com/office/powerpoint/2010/main" val="40113991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C02096-3EEE-47A8-ACCB-8D43A6CA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4">
            <a:extLst xmlns:a="http://schemas.openxmlformats.org/drawingml/2006/main">
              <a:ext uri="{FF2B5EF4-FFF2-40B4-BE49-F238E27FC236}">
                <a16:creationId xmlns:a16="http://schemas.microsoft.com/office/drawing/2014/main" id="{1E640E63-B85E-4F4E-BF1E-7B1B1A35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4</a:t>
            </a:r>
          </a:p>
        </p:txBody>
      </p:sp>
      <p:sp>
        <p:nvSpPr>
          <p:cNvPr id="3" name="Immobilier">
            <a:extLst xmlns:a="http://schemas.openxmlformats.org/drawingml/2006/main">
              <a:ext uri="{FF2B5EF4-FFF2-40B4-BE49-F238E27FC236}">
                <a16:creationId xmlns:a16="http://schemas.microsoft.com/office/drawing/2014/main" id="{62002C1A-E984-47C4-A4E3-8DEB00C2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Immobilier</a:t>
            </a:r>
          </a:p>
        </p:txBody>
      </p:sp>
      <p:sp>
        <p:nvSpPr>
          <p:cNvPr id="4" name="La rédaction doit rester fidèle à la fiche du bien">
            <a:extLst xmlns:a="http://schemas.openxmlformats.org/drawingml/2006/main">
              <a:ext uri="{FF2B5EF4-FFF2-40B4-BE49-F238E27FC236}">
                <a16:creationId xmlns:a16="http://schemas.microsoft.com/office/drawing/2014/main" id="{487F3370-FA9E-43C1-A727-2832B528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rédaction doit rester fidèle à la fiche du bien.</a:t>
            </a:r>
          </a:p>
        </p:txBody>
      </p:sp>
      <p:sp>
        <p:nvSpPr>
          <p:cNvPr id="5" name="Fournissez les caractéristiques vérifiées et les i">
            <a:extLst xmlns:a="http://schemas.openxmlformats.org/drawingml/2006/main">
              <a:ext uri="{FF2B5EF4-FFF2-40B4-BE49-F238E27FC236}">
                <a16:creationId xmlns:a16="http://schemas.microsoft.com/office/drawing/2014/main" id="{8996BB92-2E46-4FF3-B913-23DC0741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Fournissez les caractéristiques vérifiées et les informations autorisées.</a:t>
            </a:r>
          </a:p>
        </p:txBody>
      </p:sp>
      <p:sp>
        <p:nvSpPr>
          <p:cNvPr id="6" name="Contrôlez les surfaces, les équipements et les con">
            <a:extLst xmlns:a="http://schemas.openxmlformats.org/drawingml/2006/main">
              <a:ext uri="{FF2B5EF4-FFF2-40B4-BE49-F238E27FC236}">
                <a16:creationId xmlns:a16="http://schemas.microsoft.com/office/drawing/2014/main" id="{3ADC57AF-2570-42B6-90EE-A31DF01F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Contrôlez les surfaces, les équipements et les conditions mentionnées.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8C4A9CD1-2B46-47A1-9CC7-B0D23F66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Ne pas ajouter un avantage ou une caractéristique ">
            <a:extLst xmlns:a="http://schemas.openxmlformats.org/drawingml/2006/main">
              <a:ext uri="{FF2B5EF4-FFF2-40B4-BE49-F238E27FC236}">
                <a16:creationId xmlns:a16="http://schemas.microsoft.com/office/drawing/2014/main" id="{AB5A96EF-0046-4EB6-BEF6-9E7CFE66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Ne pas ajouter un avantage ou une caractéristique absente de la source.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6c93721384b55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32 / 40">
            <a:extLst xmlns:a="http://schemas.openxmlformats.org/drawingml/2006/main">
              <a:ext uri="{FF2B5EF4-FFF2-40B4-BE49-F238E27FC236}">
                <a16:creationId xmlns:a16="http://schemas.microsoft.com/office/drawing/2014/main" id="{26461924-169E-4A5C-B251-835AF408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32 / 40</a:t>
            </a:r>
          </a:p>
        </p:txBody>
      </p:sp>
    </p:spTree>
    <p:extLst>
      <p:ext uri="{BB962C8B-B14F-4D97-AF65-F5344CB8AC3E}">
        <p14:creationId xmlns:p14="http://schemas.microsoft.com/office/powerpoint/2010/main" val="197023955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22F8C4-38A3-4603-B567-20C2682B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4">
            <a:extLst xmlns:a="http://schemas.openxmlformats.org/drawingml/2006/main">
              <a:ext uri="{FF2B5EF4-FFF2-40B4-BE49-F238E27FC236}">
                <a16:creationId xmlns:a16="http://schemas.microsoft.com/office/drawing/2014/main" id="{42E4CF34-001F-45B8-9D03-28AFA12D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4</a:t>
            </a:r>
          </a:p>
        </p:txBody>
      </p:sp>
      <p:sp>
        <p:nvSpPr>
          <p:cNvPr id="3" name="Industrie">
            <a:extLst xmlns:a="http://schemas.openxmlformats.org/drawingml/2006/main">
              <a:ext uri="{FF2B5EF4-FFF2-40B4-BE49-F238E27FC236}">
                <a16:creationId xmlns:a16="http://schemas.microsoft.com/office/drawing/2014/main" id="{C33F0B36-CDCB-4614-967A-F1918A7E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Industrie</a:t>
            </a:r>
          </a:p>
        </p:txBody>
      </p:sp>
      <p:sp>
        <p:nvSpPr>
          <p:cNvPr id="4" name="L’assistance documentaire doit respecter les consi">
            <a:extLst xmlns:a="http://schemas.openxmlformats.org/drawingml/2006/main">
              <a:ext uri="{FF2B5EF4-FFF2-40B4-BE49-F238E27FC236}">
                <a16:creationId xmlns:a16="http://schemas.microsoft.com/office/drawing/2014/main" id="{57991177-EB85-40CC-ABD5-D520B940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L’assistance documentaire doit respecter les consignes de sécurité.</a:t>
            </a:r>
          </a:p>
        </p:txBody>
      </p:sp>
      <p:sp>
        <p:nvSpPr>
          <p:cNvPr id="5" name="Utilisez une documentation autorisée et identifiez">
            <a:extLst xmlns:a="http://schemas.openxmlformats.org/drawingml/2006/main">
              <a:ext uri="{FF2B5EF4-FFF2-40B4-BE49-F238E27FC236}">
                <a16:creationId xmlns:a16="http://schemas.microsoft.com/office/drawing/2014/main" id="{84C226FA-1083-4E5B-8820-F689863C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Utilisez une documentation autorisée et identifiez sa version.</a:t>
            </a:r>
          </a:p>
        </p:txBody>
      </p:sp>
      <p:sp>
        <p:nvSpPr>
          <p:cNvPr id="6" name="Vérifiez les références et transmettez les cas inc">
            <a:extLst xmlns:a="http://schemas.openxmlformats.org/drawingml/2006/main">
              <a:ext uri="{FF2B5EF4-FFF2-40B4-BE49-F238E27FC236}">
                <a16:creationId xmlns:a16="http://schemas.microsoft.com/office/drawing/2014/main" id="{2D6DC423-635F-4A61-9762-818C1A1C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Vérifiez les références et transmettez les cas incertains à une personne habilitée.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D3F049AC-A538-4B77-B6DD-7ECC20BB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Une réponse générée ne suffit pas à autoriser une ">
            <a:extLst xmlns:a="http://schemas.openxmlformats.org/drawingml/2006/main">
              <a:ext uri="{FF2B5EF4-FFF2-40B4-BE49-F238E27FC236}">
                <a16:creationId xmlns:a16="http://schemas.microsoft.com/office/drawing/2014/main" id="{009A6AB1-9E99-428F-9E33-A7B7B4ED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Une réponse générée ne suffit pas à autoriser une opération technique.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f9fd59e784658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33 / 40">
            <a:extLst xmlns:a="http://schemas.openxmlformats.org/drawingml/2006/main">
              <a:ext uri="{FF2B5EF4-FFF2-40B4-BE49-F238E27FC236}">
                <a16:creationId xmlns:a16="http://schemas.microsoft.com/office/drawing/2014/main" id="{BB163B18-8AEB-4E2C-9B1B-D7F7FAAE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33 / 40</a:t>
            </a:r>
          </a:p>
        </p:txBody>
      </p:sp>
    </p:spTree>
    <p:extLst>
      <p:ext uri="{BB962C8B-B14F-4D97-AF65-F5344CB8AC3E}">
        <p14:creationId xmlns:p14="http://schemas.microsoft.com/office/powerpoint/2010/main" val="63927028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68413D-10C8-4941-8956-3BB1A47C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4">
            <a:extLst xmlns:a="http://schemas.openxmlformats.org/drawingml/2006/main">
              <a:ext uri="{FF2B5EF4-FFF2-40B4-BE49-F238E27FC236}">
                <a16:creationId xmlns:a16="http://schemas.microsoft.com/office/drawing/2014/main" id="{ADE2B2E9-D8C1-4D63-BA2E-199FF3C8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4</a:t>
            </a:r>
          </a:p>
        </p:txBody>
      </p:sp>
      <p:sp>
        <p:nvSpPr>
          <p:cNvPr id="3" name="Les contrôles selon le secteur">
            <a:extLst xmlns:a="http://schemas.openxmlformats.org/drawingml/2006/main">
              <a:ext uri="{FF2B5EF4-FFF2-40B4-BE49-F238E27FC236}">
                <a16:creationId xmlns:a16="http://schemas.microsoft.com/office/drawing/2014/main" id="{5500E00C-F12C-4012-BFFB-9F5DC7B5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Les contrôles selon le secteur</a:t>
            </a:r>
          </a:p>
        </p:txBody>
      </p:sp>
      <p:sp>
        <p:nvSpPr>
          <p:cNvPr id="4" name="Le risque détermine la profondeur de la validation">
            <a:extLst xmlns:a="http://schemas.openxmlformats.org/drawingml/2006/main">
              <a:ext uri="{FF2B5EF4-FFF2-40B4-BE49-F238E27FC236}">
                <a16:creationId xmlns:a16="http://schemas.microsoft.com/office/drawing/2014/main" id="{F8865C79-36FB-44DD-91F2-8FFECC8D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risque détermine la profondeur de la validation.</a:t>
            </a:r>
          </a:p>
        </p:txBody>
      </p:sp>
      <p:sp>
        <p:nvSpPr>
          <p:cNvPr id="5" name="Communication : vérifier les promesses. Finance : ">
            <a:extLst xmlns:a="http://schemas.openxmlformats.org/drawingml/2006/main">
              <a:ext uri="{FF2B5EF4-FFF2-40B4-BE49-F238E27FC236}">
                <a16:creationId xmlns:a16="http://schemas.microsoft.com/office/drawing/2014/main" id="{11FC4157-8055-4C2C-8671-64382CFE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Communication : vérifier les promesses. Finance : contrôler chiffres et sources.</a:t>
            </a:r>
          </a:p>
        </p:txBody>
      </p:sp>
      <p:sp>
        <p:nvSpPr>
          <p:cNvPr id="6" name="RH, santé et juridique : protéger les données et p">
            <a:extLst xmlns:a="http://schemas.openxmlformats.org/drawingml/2006/main">
              <a:ext uri="{FF2B5EF4-FFF2-40B4-BE49-F238E27FC236}">
                <a16:creationId xmlns:a16="http://schemas.microsoft.com/office/drawing/2014/main" id="{C731FE2B-6008-4EB0-BE03-B764638D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RH, santé et juridique : protéger les données et prévoir une validation spécialisée.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96798C0B-908B-4F6C-92BC-E56A7294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Chaque organisation précise les responsabilités et">
            <a:extLst xmlns:a="http://schemas.openxmlformats.org/drawingml/2006/main">
              <a:ext uri="{FF2B5EF4-FFF2-40B4-BE49-F238E27FC236}">
                <a16:creationId xmlns:a16="http://schemas.microsoft.com/office/drawing/2014/main" id="{7162EA31-D211-4E6E-802D-02153320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Chaque organisation précise les responsabilités et les limites.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b3ae139014de0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34 / 40">
            <a:extLst xmlns:a="http://schemas.openxmlformats.org/drawingml/2006/main">
              <a:ext uri="{FF2B5EF4-FFF2-40B4-BE49-F238E27FC236}">
                <a16:creationId xmlns:a16="http://schemas.microsoft.com/office/drawing/2014/main" id="{D7F03A83-D6BF-42E7-A5DE-19D0DC43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34 / 40</a:t>
            </a:r>
          </a:p>
        </p:txBody>
      </p:sp>
    </p:spTree>
    <p:extLst>
      <p:ext uri="{BB962C8B-B14F-4D97-AF65-F5344CB8AC3E}">
        <p14:creationId xmlns:p14="http://schemas.microsoft.com/office/powerpoint/2010/main" val="16160018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1739BB-E140-4A63-9A0F-D93E8C2B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4">
            <a:extLst xmlns:a="http://schemas.openxmlformats.org/drawingml/2006/main">
              <a:ext uri="{FF2B5EF4-FFF2-40B4-BE49-F238E27FC236}">
                <a16:creationId xmlns:a16="http://schemas.microsoft.com/office/drawing/2014/main" id="{41D6A385-7DAD-4F79-AB39-CC07814A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4</a:t>
            </a:r>
          </a:p>
        </p:txBody>
      </p:sp>
      <p:sp>
        <p:nvSpPr>
          <p:cNvPr id="3" name="Les modèles réutilisables">
            <a:extLst xmlns:a="http://schemas.openxmlformats.org/drawingml/2006/main">
              <a:ext uri="{FF2B5EF4-FFF2-40B4-BE49-F238E27FC236}">
                <a16:creationId xmlns:a16="http://schemas.microsoft.com/office/drawing/2014/main" id="{AF3A2529-A273-4DA8-99EA-5E0B4B29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Les modèles réutilisables</a:t>
            </a:r>
          </a:p>
        </p:txBody>
      </p:sp>
      <p:sp>
        <p:nvSpPr>
          <p:cNvPr id="4" name="Un kit commun facilite le travail de l’équipe.">
            <a:extLst xmlns:a="http://schemas.openxmlformats.org/drawingml/2006/main">
              <a:ext uri="{FF2B5EF4-FFF2-40B4-BE49-F238E27FC236}">
                <a16:creationId xmlns:a16="http://schemas.microsoft.com/office/drawing/2014/main" id="{8E1688B0-397B-44AD-A882-1DAB6DCA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 kit commun facilite le travail de l’équipe.</a:t>
            </a:r>
          </a:p>
        </p:txBody>
      </p:sp>
      <p:sp>
        <p:nvSpPr>
          <p:cNvPr id="5" name="Conservez une fiche d’usage, une charte et un brie">
            <a:extLst xmlns:a="http://schemas.openxmlformats.org/drawingml/2006/main">
              <a:ext uri="{FF2B5EF4-FFF2-40B4-BE49-F238E27FC236}">
                <a16:creationId xmlns:a16="http://schemas.microsoft.com/office/drawing/2014/main" id="{7CAFAE5A-8DF6-4177-B36B-6064C368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Conservez une fiche d’usage, une charte et un brief de référence.</a:t>
            </a:r>
          </a:p>
        </p:txBody>
      </p:sp>
      <p:sp>
        <p:nvSpPr>
          <p:cNvPr id="6" name="Ajoutez un compte rendu de test et les critères de">
            <a:extLst xmlns:a="http://schemas.openxmlformats.org/drawingml/2006/main">
              <a:ext uri="{FF2B5EF4-FFF2-40B4-BE49-F238E27FC236}">
                <a16:creationId xmlns:a16="http://schemas.microsoft.com/office/drawing/2014/main" id="{C84837E6-0863-442C-8CC6-87D200AD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Ajoutez un compte rendu de test et les critères de validation.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63BE6B0B-4DAB-4E2B-A2FC-319F39B0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Adapter les modèles au secteur plutôt que les repr">
            <a:extLst xmlns:a="http://schemas.openxmlformats.org/drawingml/2006/main">
              <a:ext uri="{FF2B5EF4-FFF2-40B4-BE49-F238E27FC236}">
                <a16:creationId xmlns:a16="http://schemas.microsoft.com/office/drawing/2014/main" id="{FB589125-4BCC-4018-8AD1-3B15C987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Adapter les modèles au secteur plutôt que les reprendre sans examen.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c3d24e19f4b93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35 / 40">
            <a:extLst xmlns:a="http://schemas.openxmlformats.org/drawingml/2006/main">
              <a:ext uri="{FF2B5EF4-FFF2-40B4-BE49-F238E27FC236}">
                <a16:creationId xmlns:a16="http://schemas.microsoft.com/office/drawing/2014/main" id="{6A5D1323-AAFD-40AF-BF93-F292A6A5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35 / 40</a:t>
            </a:r>
          </a:p>
        </p:txBody>
      </p:sp>
    </p:spTree>
    <p:extLst>
      <p:ext uri="{BB962C8B-B14F-4D97-AF65-F5344CB8AC3E}">
        <p14:creationId xmlns:p14="http://schemas.microsoft.com/office/powerpoint/2010/main" val="153496599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EED2A-6E76-42D6-8E61-0899243F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4">
            <a:extLst xmlns:a="http://schemas.openxmlformats.org/drawingml/2006/main">
              <a:ext uri="{FF2B5EF4-FFF2-40B4-BE49-F238E27FC236}">
                <a16:creationId xmlns:a16="http://schemas.microsoft.com/office/drawing/2014/main" id="{0288F5C3-87D6-46BD-B697-4CE3F0D9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4</a:t>
            </a:r>
          </a:p>
        </p:txBody>
      </p:sp>
      <p:sp>
        <p:nvSpPr>
          <p:cNvPr id="3" name="Le passage en fonctionnement">
            <a:extLst xmlns:a="http://schemas.openxmlformats.org/drawingml/2006/main">
              <a:ext uri="{FF2B5EF4-FFF2-40B4-BE49-F238E27FC236}">
                <a16:creationId xmlns:a16="http://schemas.microsoft.com/office/drawing/2014/main" id="{FBA86CE4-47A8-4670-B5F4-42D262A8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 passage en fonctionnement</a:t>
            </a:r>
          </a:p>
        </p:txBody>
      </p:sp>
      <p:sp>
        <p:nvSpPr>
          <p:cNvPr id="4" name="Le passage du pilote à l’usage courant exige une d">
            <a:extLst xmlns:a="http://schemas.openxmlformats.org/drawingml/2006/main">
              <a:ext uri="{FF2B5EF4-FFF2-40B4-BE49-F238E27FC236}">
                <a16:creationId xmlns:a16="http://schemas.microsoft.com/office/drawing/2014/main" id="{6CFCE136-1611-4D72-B3F2-82EFF5D5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passage du pilote à l’usage courant exige une décision documentée.</a:t>
            </a:r>
          </a:p>
        </p:txBody>
      </p:sp>
      <p:sp>
        <p:nvSpPr>
          <p:cNvPr id="5" name="Examinez les résultats, les incidents et les corre">
            <a:extLst xmlns:a="http://schemas.openxmlformats.org/drawingml/2006/main">
              <a:ext uri="{FF2B5EF4-FFF2-40B4-BE49-F238E27FC236}">
                <a16:creationId xmlns:a16="http://schemas.microsoft.com/office/drawing/2014/main" id="{1EA233F8-921A-485B-8730-1121922E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Examinez les résultats, les incidents et les corrections encore nécessaires.</a:t>
            </a:r>
          </a:p>
        </p:txBody>
      </p:sp>
      <p:sp>
        <p:nvSpPr>
          <p:cNvPr id="6" name="Organisez l’accompagnement, le suivi et les condit">
            <a:extLst xmlns:a="http://schemas.openxmlformats.org/drawingml/2006/main">
              <a:ext uri="{FF2B5EF4-FFF2-40B4-BE49-F238E27FC236}">
                <a16:creationId xmlns:a16="http://schemas.microsoft.com/office/drawing/2014/main" id="{41A9709F-814F-4616-80F3-69F5DD34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Organisez l’accompagnement, le suivi et les conditions d’arrêt.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500B8AEC-232C-43F0-A91F-3969861F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Une nouvelle version importante doit faire l’objet">
            <a:extLst xmlns:a="http://schemas.openxmlformats.org/drawingml/2006/main">
              <a:ext uri="{FF2B5EF4-FFF2-40B4-BE49-F238E27FC236}">
                <a16:creationId xmlns:a16="http://schemas.microsoft.com/office/drawing/2014/main" id="{F2BB2F1F-ADB1-4058-9241-41C8FADE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Une nouvelle version importante doit faire l’objet de nouveaux tests.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21367b7ea143f1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36 / 40">
            <a:extLst xmlns:a="http://schemas.openxmlformats.org/drawingml/2006/main">
              <a:ext uri="{FF2B5EF4-FFF2-40B4-BE49-F238E27FC236}">
                <a16:creationId xmlns:a16="http://schemas.microsoft.com/office/drawing/2014/main" id="{40891511-149E-4C48-8A76-0660B8F8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36 / 40</a:t>
            </a:r>
          </a:p>
        </p:txBody>
      </p:sp>
    </p:spTree>
    <p:extLst>
      <p:ext uri="{BB962C8B-B14F-4D97-AF65-F5344CB8AC3E}">
        <p14:creationId xmlns:p14="http://schemas.microsoft.com/office/powerpoint/2010/main" val="89770491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23B47-6938-46CA-AB06-C670DDA3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4">
            <a:extLst xmlns:a="http://schemas.openxmlformats.org/drawingml/2006/main">
              <a:ext uri="{FF2B5EF4-FFF2-40B4-BE49-F238E27FC236}">
                <a16:creationId xmlns:a16="http://schemas.microsoft.com/office/drawing/2014/main" id="{C0894664-53C7-4955-AA59-49B4E38F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4</a:t>
            </a:r>
          </a:p>
        </p:txBody>
      </p:sp>
      <p:sp>
        <p:nvSpPr>
          <p:cNvPr id="3" name="Projet : solution sectorielle">
            <a:extLst xmlns:a="http://schemas.openxmlformats.org/drawingml/2006/main">
              <a:ext uri="{FF2B5EF4-FFF2-40B4-BE49-F238E27FC236}">
                <a16:creationId xmlns:a16="http://schemas.microsoft.com/office/drawing/2014/main" id="{73DBEB54-1EDA-4EC8-A481-C8E9C1C8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Projet : solution sectorielle</a:t>
            </a:r>
          </a:p>
        </p:txBody>
      </p:sp>
      <p:sp>
        <p:nvSpPr>
          <p:cNvPr id="4" name="Le projet rassemble un cas d’usage et son cadre d’">
            <a:extLst xmlns:a="http://schemas.openxmlformats.org/drawingml/2006/main">
              <a:ext uri="{FF2B5EF4-FFF2-40B4-BE49-F238E27FC236}">
                <a16:creationId xmlns:a16="http://schemas.microsoft.com/office/drawing/2014/main" id="{776B87D5-01CE-407E-A122-6941B5FC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projet rassemble un cas d’usage et son cadre d’exploitation.</a:t>
            </a:r>
          </a:p>
        </p:txBody>
      </p:sp>
      <p:sp>
        <p:nvSpPr>
          <p:cNvPr id="5" name="Préparez une fiche de cadrage et un kit de trois à">
            <a:extLst xmlns:a="http://schemas.openxmlformats.org/drawingml/2006/main">
              <a:ext uri="{FF2B5EF4-FFF2-40B4-BE49-F238E27FC236}">
                <a16:creationId xmlns:a16="http://schemas.microsoft.com/office/drawing/2014/main" id="{9435183B-6062-4EF7-83A4-D1DAE4E4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Préparez une fiche de cadrage et un kit de trois à cinq prompts.</a:t>
            </a:r>
          </a:p>
        </p:txBody>
      </p:sp>
      <p:sp>
        <p:nvSpPr>
          <p:cNvPr id="6" name="Ajoutez la charte, les indicateurs et le plan d’ad">
            <a:extLst xmlns:a="http://schemas.openxmlformats.org/drawingml/2006/main">
              <a:ext uri="{FF2B5EF4-FFF2-40B4-BE49-F238E27FC236}">
                <a16:creationId xmlns:a16="http://schemas.microsoft.com/office/drawing/2014/main" id="{0FA8DB13-D8DA-4131-8A68-BE1C63C8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Ajoutez la charte, les indicateurs et le plan d’adoption.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D1CFF679-5584-4194-B47E-EDE2DEE2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Présenter un prototype ou une démonstration propor">
            <a:extLst xmlns:a="http://schemas.openxmlformats.org/drawingml/2006/main">
              <a:ext uri="{FF2B5EF4-FFF2-40B4-BE49-F238E27FC236}">
                <a16:creationId xmlns:a16="http://schemas.microsoft.com/office/drawing/2014/main" id="{73285A6F-6B83-4A21-8400-CD0F91D1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Présenter un prototype ou une démonstration proportionnée au besoin.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2cb85f142e46ed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37 / 40">
            <a:extLst xmlns:a="http://schemas.openxmlformats.org/drawingml/2006/main">
              <a:ext uri="{FF2B5EF4-FFF2-40B4-BE49-F238E27FC236}">
                <a16:creationId xmlns:a16="http://schemas.microsoft.com/office/drawing/2014/main" id="{7A27B9EB-534C-478F-A9CA-4C5695C7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37 / 40</a:t>
            </a:r>
          </a:p>
        </p:txBody>
      </p:sp>
    </p:spTree>
    <p:extLst>
      <p:ext uri="{BB962C8B-B14F-4D97-AF65-F5344CB8AC3E}">
        <p14:creationId xmlns:p14="http://schemas.microsoft.com/office/powerpoint/2010/main" val="7341000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FCCA39-A068-4994-AB7D-6CBAA632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4">
            <a:extLst xmlns:a="http://schemas.openxmlformats.org/drawingml/2006/main">
              <a:ext uri="{FF2B5EF4-FFF2-40B4-BE49-F238E27FC236}">
                <a16:creationId xmlns:a16="http://schemas.microsoft.com/office/drawing/2014/main" id="{B8E3886B-2557-4ECE-8686-91570DC5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4</a:t>
            </a:r>
          </a:p>
        </p:txBody>
      </p:sp>
      <p:sp>
        <p:nvSpPr>
          <p:cNvPr id="3" name="Le dossier de restitution">
            <a:extLst xmlns:a="http://schemas.openxmlformats.org/drawingml/2006/main">
              <a:ext uri="{FF2B5EF4-FFF2-40B4-BE49-F238E27FC236}">
                <a16:creationId xmlns:a16="http://schemas.microsoft.com/office/drawing/2014/main" id="{630FED70-7D58-4EEC-B22B-65F33184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 dossier de restitution</a:t>
            </a:r>
          </a:p>
        </p:txBody>
      </p:sp>
      <p:sp>
        <p:nvSpPr>
          <p:cNvPr id="4" name="Le dossier explique les choix et les résultats rée">
            <a:extLst xmlns:a="http://schemas.openxmlformats.org/drawingml/2006/main">
              <a:ext uri="{FF2B5EF4-FFF2-40B4-BE49-F238E27FC236}">
                <a16:creationId xmlns:a16="http://schemas.microsoft.com/office/drawing/2014/main" id="{4B7F92DA-C841-4CD6-AE48-A68ACDC2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dossier explique les choix et les résultats réellement observés.</a:t>
            </a:r>
          </a:p>
        </p:txBody>
      </p:sp>
      <p:sp>
        <p:nvSpPr>
          <p:cNvPr id="5" name="Présentez le besoin, les données et le processus r">
            <a:extLst xmlns:a="http://schemas.openxmlformats.org/drawingml/2006/main">
              <a:ext uri="{FF2B5EF4-FFF2-40B4-BE49-F238E27FC236}">
                <a16:creationId xmlns:a16="http://schemas.microsoft.com/office/drawing/2014/main" id="{4CB9FE80-78A3-458C-8463-1092145C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Présentez le besoin, les données et le processus retenu.</a:t>
            </a:r>
          </a:p>
        </p:txBody>
      </p:sp>
      <p:sp>
        <p:nvSpPr>
          <p:cNvPr id="6" name="Ajoutez les essais, les limites, les contrôles et ">
            <a:extLst xmlns:a="http://schemas.openxmlformats.org/drawingml/2006/main">
              <a:ext uri="{FF2B5EF4-FFF2-40B4-BE49-F238E27FC236}">
                <a16:creationId xmlns:a16="http://schemas.microsoft.com/office/drawing/2014/main" id="{2CB94060-81B2-4FE2-A89C-EC6ACA0C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Ajoutez les essais, les limites, les contrôles et les prochaines étapes.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C59ABEC0-F892-443E-817A-0F4D27AE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Le support prévoit une présentation finale de 10 à">
            <a:extLst xmlns:a="http://schemas.openxmlformats.org/drawingml/2006/main">
              <a:ext uri="{FF2B5EF4-FFF2-40B4-BE49-F238E27FC236}">
                <a16:creationId xmlns:a16="http://schemas.microsoft.com/office/drawing/2014/main" id="{39EFDF47-8BA2-49EC-8ADA-4C7B0F61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 support prévoit une présentation finale de 10 à 15 slides.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9f93dac0ea40d1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38 / 40">
            <a:extLst xmlns:a="http://schemas.openxmlformats.org/drawingml/2006/main">
              <a:ext uri="{FF2B5EF4-FFF2-40B4-BE49-F238E27FC236}">
                <a16:creationId xmlns:a16="http://schemas.microsoft.com/office/drawing/2014/main" id="{108F627D-94D3-4DBB-9944-44DCC8E7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38 / 40</a:t>
            </a:r>
          </a:p>
        </p:txBody>
      </p:sp>
    </p:spTree>
    <p:extLst>
      <p:ext uri="{BB962C8B-B14F-4D97-AF65-F5344CB8AC3E}">
        <p14:creationId xmlns:p14="http://schemas.microsoft.com/office/powerpoint/2010/main" val="165263197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48F05-1E1A-4577-9D81-393274B2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4">
            <a:extLst xmlns:a="http://schemas.openxmlformats.org/drawingml/2006/main">
              <a:ext uri="{FF2B5EF4-FFF2-40B4-BE49-F238E27FC236}">
                <a16:creationId xmlns:a16="http://schemas.microsoft.com/office/drawing/2014/main" id="{776FEE1F-74BC-4D04-9E8F-F789875D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4</a:t>
            </a:r>
          </a:p>
        </p:txBody>
      </p:sp>
      <p:sp>
        <p:nvSpPr>
          <p:cNvPr id="3" name="L’évaluation du niveau 4">
            <a:extLst xmlns:a="http://schemas.openxmlformats.org/drawingml/2006/main">
              <a:ext uri="{FF2B5EF4-FFF2-40B4-BE49-F238E27FC236}">
                <a16:creationId xmlns:a16="http://schemas.microsoft.com/office/drawing/2014/main" id="{08BB48AF-BFC0-4D6C-86A4-59DF35A2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L’évaluation du niveau 4</a:t>
            </a:r>
          </a:p>
        </p:txBody>
      </p:sp>
      <p:sp>
        <p:nvSpPr>
          <p:cNvPr id="4" name="Le manuel prévoit un QCM et un projet sectoriel.">
            <a:extLst xmlns:a="http://schemas.openxmlformats.org/drawingml/2006/main">
              <a:ext uri="{FF2B5EF4-FFF2-40B4-BE49-F238E27FC236}">
                <a16:creationId xmlns:a16="http://schemas.microsoft.com/office/drawing/2014/main" id="{5DA6CBF9-9ED2-4546-BB3C-E39F9178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manuel prévoit un QCM et un projet sectoriel.</a:t>
            </a:r>
          </a:p>
        </p:txBody>
      </p:sp>
      <p:sp>
        <p:nvSpPr>
          <p:cNvPr id="5" name="QCM annoncé : 30 questions. Projet : 70 points.">
            <a:extLst xmlns:a="http://schemas.openxmlformats.org/drawingml/2006/main">
              <a:ext uri="{FF2B5EF4-FFF2-40B4-BE49-F238E27FC236}">
                <a16:creationId xmlns:a16="http://schemas.microsoft.com/office/drawing/2014/main" id="{390ABDAF-38FA-4482-BD77-FBA0FB45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QCM annoncé : 30 questions. Projet : 70 points.</a:t>
            </a:r>
          </a:p>
        </p:txBody>
      </p:sp>
      <p:sp>
        <p:nvSpPr>
          <p:cNvPr id="6" name="Les critères portent notamment sur le cas, les pro">
            <a:extLst xmlns:a="http://schemas.openxmlformats.org/drawingml/2006/main">
              <a:ext uri="{FF2B5EF4-FFF2-40B4-BE49-F238E27FC236}">
                <a16:creationId xmlns:a16="http://schemas.microsoft.com/office/drawing/2014/main" id="{2220CF27-C70F-4E5F-878F-E9089A88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Les critères portent notamment sur le cas, les prompts, les risques et le déploiement.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AD8D93EF-2C7B-49D9-894C-CA34F987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Consulter la grille complète du manuel pour prépar">
            <a:extLst xmlns:a="http://schemas.openxmlformats.org/drawingml/2006/main">
              <a:ext uri="{FF2B5EF4-FFF2-40B4-BE49-F238E27FC236}">
                <a16:creationId xmlns:a16="http://schemas.microsoft.com/office/drawing/2014/main" id="{4939B04D-F88D-44A1-BB29-589724AD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Consulter la grille complète du manuel pour préparer la restitution.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29a12d808d4c41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39 / 40">
            <a:extLst xmlns:a="http://schemas.openxmlformats.org/drawingml/2006/main">
              <a:ext uri="{FF2B5EF4-FFF2-40B4-BE49-F238E27FC236}">
                <a16:creationId xmlns:a16="http://schemas.microsoft.com/office/drawing/2014/main" id="{74A8E1A6-1EAF-488B-BC96-F26E6470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39 / 40</a:t>
            </a:r>
          </a:p>
        </p:txBody>
      </p:sp>
    </p:spTree>
    <p:extLst>
      <p:ext uri="{BB962C8B-B14F-4D97-AF65-F5344CB8AC3E}">
        <p14:creationId xmlns:p14="http://schemas.microsoft.com/office/powerpoint/2010/main" val="186746523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E6361D-69EC-43E0-907B-3C820B6E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4">
            <a:extLst xmlns:a="http://schemas.openxmlformats.org/drawingml/2006/main">
              <a:ext uri="{FF2B5EF4-FFF2-40B4-BE49-F238E27FC236}">
                <a16:creationId xmlns:a16="http://schemas.microsoft.com/office/drawing/2014/main" id="{E71A4768-D6A3-4796-801B-2D9B4D2B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4</a:t>
            </a:r>
          </a:p>
        </p:txBody>
      </p:sp>
      <p:sp>
        <p:nvSpPr>
          <p:cNvPr id="3" name="La consolidation du parcours">
            <a:extLst xmlns:a="http://schemas.openxmlformats.org/drawingml/2006/main">
              <a:ext uri="{FF2B5EF4-FFF2-40B4-BE49-F238E27FC236}">
                <a16:creationId xmlns:a16="http://schemas.microsoft.com/office/drawing/2014/main" id="{70852CFA-948A-429C-A0BE-AB31F043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La consolidation du parcours</a:t>
            </a:r>
          </a:p>
        </p:txBody>
      </p:sp>
      <p:sp>
        <p:nvSpPr>
          <p:cNvPr id="4" name="La maîtrise se construit par des usages documentés">
            <a:extLst xmlns:a="http://schemas.openxmlformats.org/drawingml/2006/main">
              <a:ext uri="{FF2B5EF4-FFF2-40B4-BE49-F238E27FC236}">
                <a16:creationId xmlns:a16="http://schemas.microsoft.com/office/drawing/2014/main" id="{9F5393FA-982A-4841-B73F-DC0C7E5C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maîtrise se construit par des usages documentés et vérifiés.</a:t>
            </a:r>
          </a:p>
        </p:txBody>
      </p:sp>
      <p:sp>
        <p:nvSpPr>
          <p:cNvPr id="5" name="Conservez vos meilleurs exemples ainsi que les cas">
            <a:extLst xmlns:a="http://schemas.openxmlformats.org/drawingml/2006/main">
              <a:ext uri="{FF2B5EF4-FFF2-40B4-BE49-F238E27FC236}">
                <a16:creationId xmlns:a16="http://schemas.microsoft.com/office/drawing/2014/main" id="{18B4D576-782F-48DA-A65E-CA001BCD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Conservez vos meilleurs exemples ainsi que les cas où le système échoue.</a:t>
            </a:r>
          </a:p>
        </p:txBody>
      </p:sp>
      <p:sp>
        <p:nvSpPr>
          <p:cNvPr id="6" name="Révisez les pratiques lorsque les besoins, les don">
            <a:extLst xmlns:a="http://schemas.openxmlformats.org/drawingml/2006/main">
              <a:ext uri="{FF2B5EF4-FFF2-40B4-BE49-F238E27FC236}">
                <a16:creationId xmlns:a16="http://schemas.microsoft.com/office/drawing/2014/main" id="{0D75CAE5-6FA4-490A-A95E-192BCC39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Révisez les pratiques lorsque les besoins, les données ou les outils changent.</a:t>
            </a:r>
          </a:p>
        </p:txBody>
      </p:sp>
      <p:sp>
        <p:nvSpPr>
          <p:cNvPr id="7" name="POUR POURSUIVRE">
            <a:extLst xmlns:a="http://schemas.openxmlformats.org/drawingml/2006/main">
              <a:ext uri="{FF2B5EF4-FFF2-40B4-BE49-F238E27FC236}">
                <a16:creationId xmlns:a16="http://schemas.microsoft.com/office/drawing/2014/main" id="{6A680660-F070-43AE-BB58-DBE82649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POUR POURSUIVRE</a:t>
            </a:r>
          </a:p>
        </p:txBody>
      </p:sp>
      <p:sp>
        <p:nvSpPr>
          <p:cNvPr id="8" name="Ressource de référence : le manuel complet du nive">
            <a:extLst xmlns:a="http://schemas.openxmlformats.org/drawingml/2006/main">
              <a:ext uri="{FF2B5EF4-FFF2-40B4-BE49-F238E27FC236}">
                <a16:creationId xmlns:a16="http://schemas.microsoft.com/office/drawing/2014/main" id="{192AED59-0FE7-4E38-AB90-F8E0FB67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Ressource de référence : le manuel complet du niveau 4.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2652a007f34cd4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40 / 40">
            <a:extLst xmlns:a="http://schemas.openxmlformats.org/drawingml/2006/main">
              <a:ext uri="{FF2B5EF4-FFF2-40B4-BE49-F238E27FC236}">
                <a16:creationId xmlns:a16="http://schemas.microsoft.com/office/drawing/2014/main" id="{88B6EC4B-5700-4FBE-B2A7-CE6F05F9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40 / 40</a:t>
            </a:r>
          </a:p>
        </p:txBody>
      </p:sp>
    </p:spTree>
    <p:extLst>
      <p:ext uri="{BB962C8B-B14F-4D97-AF65-F5344CB8AC3E}">
        <p14:creationId xmlns:p14="http://schemas.microsoft.com/office/powerpoint/2010/main" val="899228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2026-10-02T23:21:54.7410000Z</dcterms:created>
  <dcterms:modified xsi:type="dcterms:W3CDTF">2026-10-02T23:21:54.7410000Z</dcterms:modified>
</coreProperties>
</file>