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9c9229f9884c1b" /><Relationship Type="http://schemas.openxmlformats.org/officeDocument/2006/relationships/extended-properties" Target="/docProps/app.xml" Id="R229639068eb748a7" /><Relationship Type="http://schemas.openxmlformats.org/officeDocument/2006/relationships/officeDocument" Target="/ppt/presentation.xml" Id="R756b350d9a9641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6eb258057e4c2a"/>
  </p:sldMasterIdLst>
  <p:notesMasterIdLst>
    <p:notesMasterId xmlns:r="http://schemas.openxmlformats.org/officeDocument/2006/relationships" r:id="Ra5b9e2bfcf904fc7"/>
  </p:notesMasterIdLst>
  <p:sldIdLst>
    <p:sldId xmlns:r="http://schemas.openxmlformats.org/officeDocument/2006/relationships" id="256" r:id="R033ce459540147df"/>
    <p:sldId xmlns:r="http://schemas.openxmlformats.org/officeDocument/2006/relationships" id="257" r:id="Rd869ba9f15b3465a"/>
    <p:sldId xmlns:r="http://schemas.openxmlformats.org/officeDocument/2006/relationships" id="258" r:id="R4d651952f69d487d"/>
    <p:sldId xmlns:r="http://schemas.openxmlformats.org/officeDocument/2006/relationships" id="259" r:id="Rfd2c04af41b74bea"/>
    <p:sldId xmlns:r="http://schemas.openxmlformats.org/officeDocument/2006/relationships" id="260" r:id="R20955b843b7948fa"/>
    <p:sldId xmlns:r="http://schemas.openxmlformats.org/officeDocument/2006/relationships" id="261" r:id="Rdae0f3ff9f7b4daa"/>
    <p:sldId xmlns:r="http://schemas.openxmlformats.org/officeDocument/2006/relationships" id="262" r:id="Rc5183a28e41b4c09"/>
    <p:sldId xmlns:r="http://schemas.openxmlformats.org/officeDocument/2006/relationships" id="263" r:id="Rf3fbb9c0acd24887"/>
    <p:sldId xmlns:r="http://schemas.openxmlformats.org/officeDocument/2006/relationships" id="264" r:id="R1e98f6c94e804668"/>
    <p:sldId xmlns:r="http://schemas.openxmlformats.org/officeDocument/2006/relationships" id="265" r:id="R7bca2669fe184ec3"/>
    <p:sldId xmlns:r="http://schemas.openxmlformats.org/officeDocument/2006/relationships" id="266" r:id="R4fb6a3833419448f"/>
    <p:sldId xmlns:r="http://schemas.openxmlformats.org/officeDocument/2006/relationships" id="267" r:id="R9c6096c980784914"/>
    <p:sldId xmlns:r="http://schemas.openxmlformats.org/officeDocument/2006/relationships" id="268" r:id="R24ff8e1ca1c8476e"/>
    <p:sldId xmlns:r="http://schemas.openxmlformats.org/officeDocument/2006/relationships" id="269" r:id="R8f9557c9280b4927"/>
    <p:sldId xmlns:r="http://schemas.openxmlformats.org/officeDocument/2006/relationships" id="270" r:id="Rf1bcce5e657141dc"/>
    <p:sldId xmlns:r="http://schemas.openxmlformats.org/officeDocument/2006/relationships" id="271" r:id="Rf2c3f527dff54d2e"/>
    <p:sldId xmlns:r="http://schemas.openxmlformats.org/officeDocument/2006/relationships" id="272" r:id="R5b3f6390549046cc"/>
    <p:sldId xmlns:r="http://schemas.openxmlformats.org/officeDocument/2006/relationships" id="273" r:id="R1746afcbddad4d5a"/>
    <p:sldId xmlns:r="http://schemas.openxmlformats.org/officeDocument/2006/relationships" id="274" r:id="R54ff5f09b7df4527"/>
    <p:sldId xmlns:r="http://schemas.openxmlformats.org/officeDocument/2006/relationships" id="275" r:id="Rca55e0942e4e4b14"/>
    <p:sldId xmlns:r="http://schemas.openxmlformats.org/officeDocument/2006/relationships" id="276" r:id="R9e2b4c48a17044d2"/>
    <p:sldId xmlns:r="http://schemas.openxmlformats.org/officeDocument/2006/relationships" id="277" r:id="R3c95f72464284009"/>
    <p:sldId xmlns:r="http://schemas.openxmlformats.org/officeDocument/2006/relationships" id="278" r:id="Ra17a20d266c54067"/>
    <p:sldId xmlns:r="http://schemas.openxmlformats.org/officeDocument/2006/relationships" id="279" r:id="R5b70f139f49a40d3"/>
    <p:sldId xmlns:r="http://schemas.openxmlformats.org/officeDocument/2006/relationships" id="280" r:id="Rde37d3454371412f"/>
    <p:sldId xmlns:r="http://schemas.openxmlformats.org/officeDocument/2006/relationships" id="281" r:id="R92b3334e7708485d"/>
    <p:sldId xmlns:r="http://schemas.openxmlformats.org/officeDocument/2006/relationships" id="282" r:id="R6ae0811ab7d44503"/>
    <p:sldId xmlns:r="http://schemas.openxmlformats.org/officeDocument/2006/relationships" id="283" r:id="Rec0111688fa241d4"/>
    <p:sldId xmlns:r="http://schemas.openxmlformats.org/officeDocument/2006/relationships" id="284" r:id="Rc630ed24a4dd4edb"/>
    <p:sldId xmlns:r="http://schemas.openxmlformats.org/officeDocument/2006/relationships" id="285" r:id="R5fda421d94964b60"/>
    <p:sldId xmlns:r="http://schemas.openxmlformats.org/officeDocument/2006/relationships" id="286" r:id="R5c110302439d411f"/>
    <p:sldId xmlns:r="http://schemas.openxmlformats.org/officeDocument/2006/relationships" id="287" r:id="R293fb940a8f4434c"/>
    <p:sldId xmlns:r="http://schemas.openxmlformats.org/officeDocument/2006/relationships" id="288" r:id="R5c05aa3d30024642"/>
    <p:sldId xmlns:r="http://schemas.openxmlformats.org/officeDocument/2006/relationships" id="289" r:id="R1e40ede101d34c56"/>
    <p:sldId xmlns:r="http://schemas.openxmlformats.org/officeDocument/2006/relationships" id="290" r:id="Rbfb28389485c43cf"/>
    <p:sldId xmlns:r="http://schemas.openxmlformats.org/officeDocument/2006/relationships" id="291" r:id="R61420c1fc90a46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4e9d3f384c4c6c" /><Relationship Type="http://schemas.openxmlformats.org/officeDocument/2006/relationships/slideMaster" Target="/ppt/slideMasters/slideMaster1.xml" Id="R006eb258057e4c2a" /><Relationship Type="http://schemas.openxmlformats.org/officeDocument/2006/relationships/notesMaster" Target="/ppt/notesMasters/notesMaster1.xml" Id="Ra5b9e2bfcf904fc7" /><Relationship Type="http://schemas.openxmlformats.org/officeDocument/2006/relationships/presProps" Target="/ppt/presProps.xml" Id="R140ca9d455de4ac9" /><Relationship Type="http://schemas.openxmlformats.org/officeDocument/2006/relationships/tableStyles" Target="/ppt/tableStyles.xml" Id="R2861e8d3113b40b0" /><Relationship Type="http://schemas.openxmlformats.org/officeDocument/2006/relationships/slide" Target="/ppt/slides/slide1.xml" Id="R033ce459540147df" /><Relationship Type="http://schemas.openxmlformats.org/officeDocument/2006/relationships/slide" Target="/ppt/slides/slide2.xml" Id="Rd869ba9f15b3465a" /><Relationship Type="http://schemas.openxmlformats.org/officeDocument/2006/relationships/slide" Target="/ppt/slides/slide3.xml" Id="R4d651952f69d487d" /><Relationship Type="http://schemas.openxmlformats.org/officeDocument/2006/relationships/slide" Target="/ppt/slides/slide4.xml" Id="Rfd2c04af41b74bea" /><Relationship Type="http://schemas.openxmlformats.org/officeDocument/2006/relationships/slide" Target="/ppt/slides/slide5.xml" Id="R20955b843b7948fa" /><Relationship Type="http://schemas.openxmlformats.org/officeDocument/2006/relationships/slide" Target="/ppt/slides/slide6.xml" Id="Rdae0f3ff9f7b4daa" /><Relationship Type="http://schemas.openxmlformats.org/officeDocument/2006/relationships/slide" Target="/ppt/slides/slide7.xml" Id="Rc5183a28e41b4c09" /><Relationship Type="http://schemas.openxmlformats.org/officeDocument/2006/relationships/slide" Target="/ppt/slides/slide8.xml" Id="Rf3fbb9c0acd24887" /><Relationship Type="http://schemas.openxmlformats.org/officeDocument/2006/relationships/slide" Target="/ppt/slides/slide9.xml" Id="R1e98f6c94e804668" /><Relationship Type="http://schemas.openxmlformats.org/officeDocument/2006/relationships/slide" Target="/ppt/slides/slide10.xml" Id="R7bca2669fe184ec3" /><Relationship Type="http://schemas.openxmlformats.org/officeDocument/2006/relationships/slide" Target="/ppt/slides/slide11.xml" Id="R4fb6a3833419448f" /><Relationship Type="http://schemas.openxmlformats.org/officeDocument/2006/relationships/slide" Target="/ppt/slides/slide12.xml" Id="R9c6096c980784914" /><Relationship Type="http://schemas.openxmlformats.org/officeDocument/2006/relationships/slide" Target="/ppt/slides/slide13.xml" Id="R24ff8e1ca1c8476e" /><Relationship Type="http://schemas.openxmlformats.org/officeDocument/2006/relationships/slide" Target="/ppt/slides/slide14.xml" Id="R8f9557c9280b4927" /><Relationship Type="http://schemas.openxmlformats.org/officeDocument/2006/relationships/slide" Target="/ppt/slides/slide15.xml" Id="Rf1bcce5e657141dc" /><Relationship Type="http://schemas.openxmlformats.org/officeDocument/2006/relationships/slide" Target="/ppt/slides/slide16.xml" Id="Rf2c3f527dff54d2e" /><Relationship Type="http://schemas.openxmlformats.org/officeDocument/2006/relationships/slide" Target="/ppt/slides/slide17.xml" Id="R5b3f6390549046cc" /><Relationship Type="http://schemas.openxmlformats.org/officeDocument/2006/relationships/slide" Target="/ppt/slides/slide18.xml" Id="R1746afcbddad4d5a" /><Relationship Type="http://schemas.openxmlformats.org/officeDocument/2006/relationships/slide" Target="/ppt/slides/slide19.xml" Id="R54ff5f09b7df4527" /><Relationship Type="http://schemas.openxmlformats.org/officeDocument/2006/relationships/slide" Target="/ppt/slides/slide20.xml" Id="Rca55e0942e4e4b14" /><Relationship Type="http://schemas.openxmlformats.org/officeDocument/2006/relationships/slide" Target="/ppt/slides/slide21.xml" Id="R9e2b4c48a17044d2" /><Relationship Type="http://schemas.openxmlformats.org/officeDocument/2006/relationships/slide" Target="/ppt/slides/slide22.xml" Id="R3c95f72464284009" /><Relationship Type="http://schemas.openxmlformats.org/officeDocument/2006/relationships/slide" Target="/ppt/slides/slide23.xml" Id="Ra17a20d266c54067" /><Relationship Type="http://schemas.openxmlformats.org/officeDocument/2006/relationships/slide" Target="/ppt/slides/slide24.xml" Id="R5b70f139f49a40d3" /><Relationship Type="http://schemas.openxmlformats.org/officeDocument/2006/relationships/slide" Target="/ppt/slides/slide25.xml" Id="Rde37d3454371412f" /><Relationship Type="http://schemas.openxmlformats.org/officeDocument/2006/relationships/slide" Target="/ppt/slides/slide26.xml" Id="R92b3334e7708485d" /><Relationship Type="http://schemas.openxmlformats.org/officeDocument/2006/relationships/slide" Target="/ppt/slides/slide27.xml" Id="R6ae0811ab7d44503" /><Relationship Type="http://schemas.openxmlformats.org/officeDocument/2006/relationships/slide" Target="/ppt/slides/slide28.xml" Id="Rec0111688fa241d4" /><Relationship Type="http://schemas.openxmlformats.org/officeDocument/2006/relationships/slide" Target="/ppt/slides/slide29.xml" Id="Rc630ed24a4dd4edb" /><Relationship Type="http://schemas.openxmlformats.org/officeDocument/2006/relationships/slide" Target="/ppt/slides/slide30.xml" Id="R5fda421d94964b60" /><Relationship Type="http://schemas.openxmlformats.org/officeDocument/2006/relationships/slide" Target="/ppt/slides/slide31.xml" Id="R5c110302439d411f" /><Relationship Type="http://schemas.openxmlformats.org/officeDocument/2006/relationships/slide" Target="/ppt/slides/slide32.xml" Id="R293fb940a8f4434c" /><Relationship Type="http://schemas.openxmlformats.org/officeDocument/2006/relationships/slide" Target="/ppt/slides/slide33.xml" Id="R5c05aa3d30024642" /><Relationship Type="http://schemas.openxmlformats.org/officeDocument/2006/relationships/slide" Target="/ppt/slides/slide34.xml" Id="R1e40ede101d34c56" /><Relationship Type="http://schemas.openxmlformats.org/officeDocument/2006/relationships/slide" Target="/ppt/slides/slide35.xml" Id="Rbfb28389485c43cf" /><Relationship Type="http://schemas.openxmlformats.org/officeDocument/2006/relationships/slide" Target="/ppt/slides/slide36.xml" Id="R61420c1fc90a46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f49e7d687648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928de512504f23" /><Relationship Type="http://schemas.openxmlformats.org/officeDocument/2006/relationships/notesMaster" Target="/ppt/notesMasters/notesMaster1.xml" Id="Rdd1f99b6ed6b41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997450056b43cf" /><Relationship Type="http://schemas.openxmlformats.org/officeDocument/2006/relationships/notesMaster" Target="/ppt/notesMasters/notesMaster1.xml" Id="Rb808d710430048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4acf04f301487f" /><Relationship Type="http://schemas.openxmlformats.org/officeDocument/2006/relationships/notesMaster" Target="/ppt/notesMasters/notesMaster1.xml" Id="R600ce171f5d249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0a90f9a0c4989" /><Relationship Type="http://schemas.openxmlformats.org/officeDocument/2006/relationships/notesMaster" Target="/ppt/notesMasters/notesMaster1.xml" Id="R00d2334a68d548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6ba7e5a7f43db" /><Relationship Type="http://schemas.openxmlformats.org/officeDocument/2006/relationships/notesMaster" Target="/ppt/notesMasters/notesMaster1.xml" Id="R259b5da5c198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dd2d37689c48cb" /><Relationship Type="http://schemas.openxmlformats.org/officeDocument/2006/relationships/notesMaster" Target="/ppt/notesMasters/notesMaster1.xml" Id="Rd9b41b043d1745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c31afa22804833" /><Relationship Type="http://schemas.openxmlformats.org/officeDocument/2006/relationships/notesMaster" Target="/ppt/notesMasters/notesMaster1.xml" Id="R472b1cbbbe5148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5d8a09094846e0" /><Relationship Type="http://schemas.openxmlformats.org/officeDocument/2006/relationships/notesMaster" Target="/ppt/notesMasters/notesMaster1.xml" Id="R1aa1c57fdbbe44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3f2cd759304e7c" /><Relationship Type="http://schemas.openxmlformats.org/officeDocument/2006/relationships/notesMaster" Target="/ppt/notesMasters/notesMaster1.xml" Id="R7b5c007443ff4f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78e73cd59194307" /><Relationship Type="http://schemas.openxmlformats.org/officeDocument/2006/relationships/notesMaster" Target="/ppt/notesMasters/notesMaster1.xml" Id="R7a96cdca1e894d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9899e7b62b4d4a" /><Relationship Type="http://schemas.openxmlformats.org/officeDocument/2006/relationships/notesMaster" Target="/ppt/notesMasters/notesMaster1.xml" Id="R0d9fb2e3191948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914f459f7de4b5a" /><Relationship Type="http://schemas.openxmlformats.org/officeDocument/2006/relationships/notesMaster" Target="/ppt/notesMasters/notesMaster1.xml" Id="R60c564cb3d0745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8d15a6115b344fc" /><Relationship Type="http://schemas.openxmlformats.org/officeDocument/2006/relationships/notesMaster" Target="/ppt/notesMasters/notesMaster1.xml" Id="R6ec41182340641f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0386a491724e73" /><Relationship Type="http://schemas.openxmlformats.org/officeDocument/2006/relationships/notesMaster" Target="/ppt/notesMasters/notesMaster1.xml" Id="R94ebb152366147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999c8c864aa4093" /><Relationship Type="http://schemas.openxmlformats.org/officeDocument/2006/relationships/notesMaster" Target="/ppt/notesMasters/notesMaster1.xml" Id="Rbc64b85d7b844c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392c0e75f04382" /><Relationship Type="http://schemas.openxmlformats.org/officeDocument/2006/relationships/notesMaster" Target="/ppt/notesMasters/notesMaster1.xml" Id="Rf1130853ef7643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9cb44ee8d842e4" /><Relationship Type="http://schemas.openxmlformats.org/officeDocument/2006/relationships/notesMaster" Target="/ppt/notesMasters/notesMaster1.xml" Id="R4cbfa620c8a74c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245c667264e4129" /><Relationship Type="http://schemas.openxmlformats.org/officeDocument/2006/relationships/notesMaster" Target="/ppt/notesMasters/notesMaster1.xml" Id="Re6ae2ade44b4499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38f97e8cb747c5" /><Relationship Type="http://schemas.openxmlformats.org/officeDocument/2006/relationships/notesMaster" Target="/ppt/notesMasters/notesMaster1.xml" Id="Rc6db35728f094f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6de97ba2bb947aa" /><Relationship Type="http://schemas.openxmlformats.org/officeDocument/2006/relationships/notesMaster" Target="/ppt/notesMasters/notesMaster1.xml" Id="R64f40e10d1074d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a7fed1e9a04947" /><Relationship Type="http://schemas.openxmlformats.org/officeDocument/2006/relationships/notesMaster" Target="/ppt/notesMasters/notesMaster1.xml" Id="R4172553f0f644ad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1dbf8d6b4549e8" /><Relationship Type="http://schemas.openxmlformats.org/officeDocument/2006/relationships/notesMaster" Target="/ppt/notesMasters/notesMaster1.xml" Id="Rb60839028e7e40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a3904b6ba8741dd" /><Relationship Type="http://schemas.openxmlformats.org/officeDocument/2006/relationships/notesMaster" Target="/ppt/notesMasters/notesMaster1.xml" Id="R91e5852ac987412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d46b53c5f504d24" /><Relationship Type="http://schemas.openxmlformats.org/officeDocument/2006/relationships/notesMaster" Target="/ppt/notesMasters/notesMaster1.xml" Id="R89b100d5cd1d41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080c9c233ba4e1e" /><Relationship Type="http://schemas.openxmlformats.org/officeDocument/2006/relationships/notesMaster" Target="/ppt/notesMasters/notesMaster1.xml" Id="R72a12566fb374e6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ab4ce0779a409f" /><Relationship Type="http://schemas.openxmlformats.org/officeDocument/2006/relationships/notesMaster" Target="/ppt/notesMasters/notesMaster1.xml" Id="Rf7ad2eb37cc34e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8655bb195bc4524" /><Relationship Type="http://schemas.openxmlformats.org/officeDocument/2006/relationships/notesMaster" Target="/ppt/notesMasters/notesMaster1.xml" Id="Red0fbb4af8fd43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4c09ffd65ff40ac" /><Relationship Type="http://schemas.openxmlformats.org/officeDocument/2006/relationships/notesMaster" Target="/ppt/notesMasters/notesMaster1.xml" Id="Re22b76ef8951439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f22284ea024f3a" /><Relationship Type="http://schemas.openxmlformats.org/officeDocument/2006/relationships/notesMaster" Target="/ppt/notesMasters/notesMaster1.xml" Id="R365dbcbacf1440c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080f82f341241e0" /><Relationship Type="http://schemas.openxmlformats.org/officeDocument/2006/relationships/notesMaster" Target="/ppt/notesMasters/notesMaster1.xml" Id="R1e86bdcee087472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418531b08e4516" /><Relationship Type="http://schemas.openxmlformats.org/officeDocument/2006/relationships/notesMaster" Target="/ppt/notesMasters/notesMaster1.xml" Id="R68b91b21901d44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981e53740aa434c" /><Relationship Type="http://schemas.openxmlformats.org/officeDocument/2006/relationships/notesMaster" Target="/ppt/notesMasters/notesMaster1.xml" Id="R134ac6b479314b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2e12fa2be57483e" /><Relationship Type="http://schemas.openxmlformats.org/officeDocument/2006/relationships/notesMaster" Target="/ppt/notesMasters/notesMaster1.xml" Id="Rdbf2bdd04282432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7994923db49461d" /><Relationship Type="http://schemas.openxmlformats.org/officeDocument/2006/relationships/notesMaster" Target="/ppt/notesMasters/notesMaster1.xml" Id="Rf666937688664b5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b1b7d82b24948e7" /><Relationship Type="http://schemas.openxmlformats.org/officeDocument/2006/relationships/notesMaster" Target="/ppt/notesMasters/notesMaster1.xml" Id="R5adaff7bd4fa45e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a674db397c4471" /><Relationship Type="http://schemas.openxmlformats.org/officeDocument/2006/relationships/notesMaster" Target="/ppt/notesMasters/notesMaster1.xml" Id="R35195b88b6c245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Concevoir des systèmes RAG, des agents et des adaptations de modèles.</a:t>
            </a:r>
          </a:p>
          <a:p xmlns:a="http://schemas.openxmlformats.org/drawingml/2006/main">
            <a:r>
              <a:t>Niveau 3 Parcours technique</a:t>
            </a:r>
          </a:p>
          <a:p xmlns:a="http://schemas.openxmlformats.org/drawingml/2006/main">
            <a:r>
              <a:t>35 heures Support de cours</a:t>
            </a:r>
          </a:p>
          <a:p xmlns:a="http://schemas.openxmlformats.org/drawingml/2006/main">
            <a:r>
              <a:t>De novice à expert engineer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conception relie architecture, besoin métier et évaluation.</a:t>
            </a:r>
          </a:p>
          <a:p xmlns:a="http://schemas.openxmlformats.org/drawingml/2006/main">
            <a:r>
              <a:t>Construire un système documentaire et encadrer les appels d’outils.</a:t>
            </a:r>
          </a:p>
          <a:p xmlns:a="http://schemas.openxmlformats.org/drawingml/2006/main">
            <a:r>
              <a:t>Choisir une méthode d’adaptation et mesurer les résultats.</a:t>
            </a:r>
          </a:p>
          <a:p xmlns:a="http://schemas.openxmlformats.org/drawingml/2006/main">
            <a:r>
              <a:t>Projet : un assistant métier documenté et testé.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2–4.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module suppose des bases de programmation et de données.</a:t>
            </a:r>
          </a:p>
          <a:p xmlns:a="http://schemas.openxmlformats.org/drawingml/2006/main">
            <a:r>
              <a:t>Python recommandé, notions d’API et de bases de données.</a:t>
            </a:r>
          </a:p>
          <a:p xmlns:a="http://schemas.openxmlformats.org/drawingml/2006/main">
            <a:r>
              <a:t>14 h de théorie, 16 h de pratique et 5 h d’évaluation.</a:t>
            </a:r>
          </a:p>
          <a:p xmlns:a="http://schemas.openxmlformats.org/drawingml/2006/main">
            <a:r>
              <a:t>Le manuel contient les ateliers techniques et les ressources associées.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4.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besoin détermine les choix d’architecture.</a:t>
            </a:r>
          </a:p>
          <a:p xmlns:a="http://schemas.openxmlformats.org/drawingml/2006/main">
            <a:r>
              <a:t>Décrivez les questions à traiter et les documents disponibles.</a:t>
            </a:r>
          </a:p>
          <a:p xmlns:a="http://schemas.openxmlformats.org/drawingml/2006/main">
            <a:r>
              <a:t>Précisez les accès autorisés, les contraintes de délai et les critères de réussite.</a:t>
            </a:r>
          </a:p>
          <a:p xmlns:a="http://schemas.openxmlformats.org/drawingml/2006/main">
            <a:r>
              <a:t>Un prototype limité facilite les premiers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5.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L’architecture combine des représentations et des mécanismes d’attention.</a:t>
            </a:r>
          </a:p>
          <a:p xmlns:a="http://schemas.openxmlformats.org/drawingml/2006/main">
            <a:r>
              <a:t>Les tokens deviennent des représentations numériques traitées dans plusieurs couches.</a:t>
            </a:r>
          </a:p>
          <a:p xmlns:a="http://schemas.openxmlformats.org/drawingml/2006/main">
            <a:r>
              <a:t>Les transformations successives contribuent à produire la sortie.</a:t>
            </a:r>
          </a:p>
          <a:p xmlns:a="http://schemas.openxmlformats.org/drawingml/2006/main">
            <a:r>
              <a:t>Cette vue générale ne décrit pas tous les modèles de manière identique.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5.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L’attention pondère les relations entre éléments du contexte.</a:t>
            </a:r>
          </a:p>
          <a:p xmlns:a="http://schemas.openxmlformats.org/drawingml/2006/main">
            <a:r>
              <a:t>Elle aide le modèle à exploiter les informations utiles à une position donnée.</a:t>
            </a:r>
          </a:p>
          <a:p xmlns:a="http://schemas.openxmlformats.org/drawingml/2006/main">
            <a:r>
              <a:t>Les pondérations dépendent des représentations calculées par le modèle.</a:t>
            </a:r>
          </a:p>
          <a:p xmlns:a="http://schemas.openxmlformats.org/drawingml/2006/main">
            <a:r>
              <a:t>Attention élevée et preuve factuelle sont deux notions distinctes.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5.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L’ordre des éléments contribue au sens du texte.</a:t>
            </a:r>
          </a:p>
          <a:p xmlns:a="http://schemas.openxmlformats.org/drawingml/2006/main">
            <a:r>
              <a:t>Un mécanisme de position complète la représentation des tokens.</a:t>
            </a:r>
          </a:p>
          <a:p xmlns:a="http://schemas.openxmlformats.org/drawingml/2006/main">
            <a:r>
              <a:t>Il permet au système d’exploiter des relations liées à leur ordre.</a:t>
            </a:r>
          </a:p>
          <a:p xmlns:a="http://schemas.openxmlformats.org/drawingml/2006/main">
            <a:r>
              <a:t>Les approches de positionnement varient selon l’architecture.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embedding représente un contenu par un vecteur numérique.</a:t>
            </a:r>
          </a:p>
          <a:p xmlns:a="http://schemas.openxmlformats.org/drawingml/2006/main">
            <a:r>
              <a:t>Des contenus proches peuvent recevoir des représentations proches dans cet espace.</a:t>
            </a:r>
          </a:p>
          <a:p xmlns:a="http://schemas.openxmlformats.org/drawingml/2006/main">
            <a:r>
              <a:t>La représentation dépend du modèle et de la tâche pour laquelle il convient.</a:t>
            </a:r>
          </a:p>
          <a:p xmlns:a="http://schemas.openxmlformats.org/drawingml/2006/main">
            <a:r>
              <a:t>Exemple : retrouver un passage qui reformule la question.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Une mesure de proximité aide à classer les résultats.</a:t>
            </a:r>
          </a:p>
          <a:p xmlns:a="http://schemas.openxmlformats.org/drawingml/2006/main">
            <a:r>
              <a:t>La similarité cosinus compare l’orientation de deux vecteurs.</a:t>
            </a:r>
          </a:p>
          <a:p xmlns:a="http://schemas.openxmlformats.org/drawingml/2006/main">
            <a:r>
              <a:t>Un score élevé peut guider la recherche sans garantir une réponse pertinente.</a:t>
            </a:r>
          </a:p>
          <a:p xmlns:a="http://schemas.openxmlformats.org/drawingml/2006/main">
            <a:r>
              <a:t>Évaluer les résultats sur de vraies questions du domaine.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6.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L’index facilite la recherche parmi des représentations.</a:t>
            </a:r>
          </a:p>
          <a:p xmlns:a="http://schemas.openxmlformats.org/drawingml/2006/main">
            <a:r>
              <a:t>Chaque fragment associe un vecteur au texte et à ses métadonnées.</a:t>
            </a:r>
          </a:p>
          <a:p xmlns:a="http://schemas.openxmlformats.org/drawingml/2006/main">
            <a:r>
              <a:t>La recherche retourne des candidats à examiner ou à réordonner.</a:t>
            </a:r>
          </a:p>
          <a:p xmlns:a="http://schemas.openxmlformats.org/drawingml/2006/main">
            <a:r>
              <a:t>Les droits d’accès doivent s’appliquer aux documents retrouvés.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Deux phases organisent le fonctionnement documentaire.</a:t>
            </a:r>
          </a:p>
          <a:p xmlns:a="http://schemas.openxmlformats.org/drawingml/2006/main">
            <a:r>
              <a:t>Préparation : collecter les sources, les découper et les indexer.</a:t>
            </a:r>
          </a:p>
          <a:p xmlns:a="http://schemas.openxmlformats.org/drawingml/2006/main">
            <a:r>
              <a:t>Réponse : chercher des extraits, construire le contexte et générer une réponse.</a:t>
            </a:r>
          </a:p>
          <a:p xmlns:a="http://schemas.openxmlformats.org/drawingml/2006/main">
            <a:r>
              <a:t>Séparer les phases aide à diagnostiquer les erreurs.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nettoyage prépare les contenus à la recherche.</a:t>
            </a:r>
          </a:p>
          <a:p xmlns:a="http://schemas.openxmlformats.org/drawingml/2006/main">
            <a:r>
              <a:t>Écartez les doublons et extrayez le texte utile avec sa structure.</a:t>
            </a:r>
          </a:p>
          <a:p xmlns:a="http://schemas.openxmlformats.org/drawingml/2006/main">
            <a:r>
              <a:t>Conservez la source, la version, la date et les règles d’accès.</a:t>
            </a:r>
          </a:p>
          <a:p xmlns:a="http://schemas.openxmlformats.org/drawingml/2006/main">
            <a:r>
              <a:t>Vérifier particulièrement les tableaux et les PDF mal extraits.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fragment doit garder suffisamment de contexte pour être compris.</a:t>
            </a:r>
          </a:p>
          <a:p xmlns:a="http://schemas.openxmlformats.org/drawingml/2006/main">
            <a:r>
              <a:t>Testez des découpages qui respectent les titres et les unités de sens.</a:t>
            </a:r>
          </a:p>
          <a:p xmlns:a="http://schemas.openxmlformats.org/drawingml/2006/main">
            <a:r>
              <a:t>Comparez plusieurs réglages avec les mêmes questions de référence.</a:t>
            </a:r>
          </a:p>
          <a:p xmlns:a="http://schemas.openxmlformats.org/drawingml/2006/main">
            <a:r>
              <a:t>Il n’existe pas de taille optimale universelle.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recherche vise les informations nécessaires à la réponse.</a:t>
            </a:r>
          </a:p>
          <a:p xmlns:a="http://schemas.openxmlformats.org/drawingml/2006/main">
            <a:r>
              <a:t>Transformez la question dans le format attendu par le moteur de recherche.</a:t>
            </a:r>
          </a:p>
          <a:p xmlns:a="http://schemas.openxmlformats.org/drawingml/2006/main">
            <a:r>
              <a:t>Examinez les résultats et leurs métadonnées avant de construire le contexte.</a:t>
            </a:r>
          </a:p>
          <a:p xmlns:a="http://schemas.openxmlformats.org/drawingml/2006/main">
            <a:r>
              <a:t>Une erreur de recherche ne se corrige pas toujours dans le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Plusieurs signaux peuvent améliorer le classement des passages.</a:t>
            </a:r>
          </a:p>
          <a:p xmlns:a="http://schemas.openxmlformats.org/drawingml/2006/main">
            <a:r>
              <a:t>Une recherche hybride peut combiner termes exacts et proximité sémantique.</a:t>
            </a:r>
          </a:p>
          <a:p xmlns:a="http://schemas.openxmlformats.org/drawingml/2006/main">
            <a:r>
              <a:t>Un réordonnancement peut affiner la sélection des premiers résultats.</a:t>
            </a:r>
          </a:p>
          <a:p xmlns:a="http://schemas.openxmlformats.org/drawingml/2006/main">
            <a:r>
              <a:t>Comparer la qualité obtenue avec le coût et la latence ajoutés.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7–8.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contexte documentaire délimite les éléments disponibles.</a:t>
            </a:r>
          </a:p>
          <a:p xmlns:a="http://schemas.openxmlformats.org/drawingml/2006/main">
            <a:r>
              <a:t>Demandez une réponse liée aux passages fournis et des références identifiables.</a:t>
            </a:r>
          </a:p>
          <a:p xmlns:a="http://schemas.openxmlformats.org/drawingml/2006/main">
            <a:r>
              <a:t>Prévoyez une réponse d’incertitude lorsque les extraits sont insuffisants.</a:t>
            </a:r>
          </a:p>
          <a:p xmlns:a="http://schemas.openxmlformats.org/drawingml/2006/main">
            <a:r>
              <a:t>Contrôler les citations et la fidélité au contenu.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17–23.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Construire un premier parcours documentaire testable.</a:t>
            </a:r>
          </a:p>
          <a:p xmlns:a="http://schemas.openxmlformats.org/drawingml/2006/main">
            <a:r>
              <a:t>Préparez un petit corpus fictif ou autorisé et un ensemble de questions.</a:t>
            </a:r>
          </a:p>
          <a:p xmlns:a="http://schemas.openxmlformats.org/drawingml/2006/main">
            <a:r>
              <a:t>Implémentez l’ingestion et la recherche, puis inspectez les passages retrouvés.</a:t>
            </a:r>
          </a:p>
          <a:p xmlns:a="http://schemas.openxmlformats.org/drawingml/2006/main">
            <a:r>
              <a:t>À remettre : code, corpus d’essai et exemples de réponses.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13–14.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recherche se mesure avant la qualité de rédaction.</a:t>
            </a:r>
          </a:p>
          <a:p xmlns:a="http://schemas.openxmlformats.org/drawingml/2006/main">
            <a:r>
              <a:t>Comparez les passages retrouvés aux documents attendus pour chaque question.</a:t>
            </a:r>
          </a:p>
          <a:p xmlns:a="http://schemas.openxmlformats.org/drawingml/2006/main">
            <a:r>
              <a:t>Analysez les résultats utiles et les sources importantes manquées.</a:t>
            </a:r>
          </a:p>
          <a:p xmlns:a="http://schemas.openxmlformats.org/drawingml/2006/main">
            <a:r>
              <a:t>Conserver un jeu de tests distinct des essais de réglage.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9–10.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agent peut choisir des actions dans un cadre défini.</a:t>
            </a:r>
          </a:p>
          <a:p xmlns:a="http://schemas.openxmlformats.org/drawingml/2006/main">
            <a:r>
              <a:t>Le modèle s’appuie sur des outils, un état et des règles d’orchestration.</a:t>
            </a:r>
          </a:p>
          <a:p xmlns:a="http://schemas.openxmlformats.org/drawingml/2006/main">
            <a:r>
              <a:t>L’application contrôle les possibilités d’action et les étapes d’exécution.</a:t>
            </a:r>
          </a:p>
          <a:p xmlns:a="http://schemas.openxmlformats.org/drawingml/2006/main">
            <a:r>
              <a:t>L’autonomie doit rester proportionnée au besoin.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9–10.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appel d’outil exige une entrée et un résultat contrôlés.</a:t>
            </a:r>
          </a:p>
          <a:p xmlns:a="http://schemas.openxmlformats.org/drawingml/2006/main">
            <a:r>
              <a:t>Définissez les paramètres, les types attendus et les erreurs possibles.</a:t>
            </a:r>
          </a:p>
          <a:p xmlns:a="http://schemas.openxmlformats.org/drawingml/2006/main">
            <a:r>
              <a:t>Vérifiez les arguments et les autorisations avant d’exécuter l’action.</a:t>
            </a:r>
          </a:p>
          <a:p xmlns:a="http://schemas.openxmlformats.org/drawingml/2006/main">
            <a:r>
              <a:t>Le code applicatif impose les limites, même si le modèle demande autre chose.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9–10.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mémoire persistante nécessite une conception explicite.</a:t>
            </a:r>
          </a:p>
          <a:p xmlns:a="http://schemas.openxmlformats.org/drawingml/2006/main">
            <a:r>
              <a:t>Le contexte temporaire correspond aux informations utilisées pendant un échange.</a:t>
            </a:r>
          </a:p>
          <a:p xmlns:a="http://schemas.openxmlformats.org/drawingml/2006/main">
            <a:r>
              <a:t>Un stockage externe peut conserver des données pour de futurs échanges.</a:t>
            </a:r>
          </a:p>
          <a:p xmlns:a="http://schemas.openxmlformats.org/drawingml/2006/main">
            <a:r>
              <a:t>Définir ce qui reste, qui y accède et quand le supprimer.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9–10.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règles d’arrêt limitent les conséquences d’un comportement imprévu.</a:t>
            </a:r>
          </a:p>
          <a:p xmlns:a="http://schemas.openxmlformats.org/drawingml/2006/main">
            <a:r>
              <a:t>Fixez un nombre d’étapes, un budget et les outils autorisés.</a:t>
            </a:r>
          </a:p>
          <a:p xmlns:a="http://schemas.openxmlformats.org/drawingml/2006/main">
            <a:r>
              <a:t>Demandez une validation humaine avant les actions sensibles.</a:t>
            </a:r>
          </a:p>
          <a:p xmlns:a="http://schemas.openxmlformats.org/drawingml/2006/main">
            <a:r>
              <a:t>Journaliser les décisions et les erreurs pour pouvoir les analyser.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17–23.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L’agent utilise un outil de recherche dans un périmètre limité.</a:t>
            </a:r>
          </a:p>
          <a:p xmlns:a="http://schemas.openxmlformats.org/drawingml/2006/main">
            <a:r>
              <a:t>Autorisez seulement la recherche sur un corpus de test.</a:t>
            </a:r>
          </a:p>
          <a:p xmlns:a="http://schemas.openxmlformats.org/drawingml/2006/main">
            <a:r>
              <a:t>Testez une question couverte, une hors périmètre et un échec de l’outil.</a:t>
            </a:r>
          </a:p>
          <a:p xmlns:a="http://schemas.openxmlformats.org/drawingml/2006/main">
            <a:r>
              <a:t>À remettre : contrat de l’outil, journal d’essai et conditions d’arrêt.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L’adaptation ajuste un modèle à partir d’exemples d’entraînement.</a:t>
            </a:r>
          </a:p>
          <a:p xmlns:a="http://schemas.openxmlformats.org/drawingml/2006/main">
            <a:r>
              <a:t>Elle peut aider à stabiliser un format ou un comportement attendu.</a:t>
            </a:r>
          </a:p>
          <a:p xmlns:a="http://schemas.openxmlformats.org/drawingml/2006/main">
            <a:r>
              <a:t>Elle demande des données de qualité et une évaluation séparée.</a:t>
            </a:r>
          </a:p>
          <a:p xmlns:a="http://schemas.openxmlformats.org/drawingml/2006/main">
            <a:r>
              <a:t>Le fine-tuning ne garantit pas la mise à jour des connaissances.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Ces méthodes limitent le nombre de paramètres à adapter.</a:t>
            </a:r>
          </a:p>
          <a:p xmlns:a="http://schemas.openxmlformats.org/drawingml/2006/main">
            <a:r>
              <a:t>PEFT désigne une famille de méthodes d’adaptation économes en paramètres.</a:t>
            </a:r>
          </a:p>
          <a:p xmlns:a="http://schemas.openxmlformats.org/drawingml/2006/main">
            <a:r>
              <a:t>LoRA utilise des adaptations de faible rang dans certaines transformations.</a:t>
            </a:r>
          </a:p>
          <a:p xmlns:a="http://schemas.openxmlformats.org/drawingml/2006/main">
            <a:r>
              <a:t>La configuration dépend du modèle et des ressources disponibles.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méthode doit répondre au problème observé.</a:t>
            </a:r>
          </a:p>
          <a:p xmlns:a="http://schemas.openxmlformats.org/drawingml/2006/main">
            <a:r>
              <a:t>Prompt : clarifier une demande. RAG : fournir des sources pertinentes.</a:t>
            </a:r>
          </a:p>
          <a:p xmlns:a="http://schemas.openxmlformats.org/drawingml/2006/main">
            <a:r>
              <a:t>Adaptation : travailler un comportement répété à partir d’exemples.</a:t>
            </a:r>
          </a:p>
          <a:p xmlns:a="http://schemas.openxmlformats.org/drawingml/2006/main">
            <a:r>
              <a:t>Commencer par une solution simple et mesurer ses limites.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11–12. Les exemples et mises en pratique sont des adaptations pédagogiques. Consulter le manuel pour le cours détaillé.</a:t>
            </a:r>
          </a:p>
          <a:p xmlns:a="http://schemas.openxmlformats.org/drawingml/2006/main">
            <a:r>
              <a:t>Les exemples doivent correspondre au comportement recherché.</a:t>
            </a:r>
          </a:p>
          <a:p xmlns:a="http://schemas.openxmlformats.org/drawingml/2006/main">
            <a:r>
              <a:t>Contrôlez la qualité, les droits d’usage et les informations sensibles.</a:t>
            </a:r>
          </a:p>
          <a:p xmlns:a="http://schemas.openxmlformats.org/drawingml/2006/main">
            <a:r>
              <a:t>Séparez les données d’entraînement de celles utilisées pour l’évaluation.</a:t>
            </a:r>
          </a:p>
          <a:p xmlns:a="http://schemas.openxmlformats.org/drawingml/2006/main">
            <a:r>
              <a:t>Éviter les doublons qui faussent les résultats des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17–23. Les exemples et mises en pratique sont des adaptations pédagogiques. Consulter le manuel pour le cours détaillé.</a:t>
            </a:r>
          </a:p>
          <a:p xmlns:a="http://schemas.openxmlformats.org/drawingml/2006/main">
            <a:r>
              <a:t>Préparer l’expérience avant de lancer un entraînement.</a:t>
            </a:r>
          </a:p>
          <a:p xmlns:a="http://schemas.openxmlformats.org/drawingml/2006/main">
            <a:r>
              <a:t>Choisissez une tâche, un jeu d’exemples et une méthode de référence.</a:t>
            </a:r>
          </a:p>
          <a:p xmlns:a="http://schemas.openxmlformats.org/drawingml/2006/main">
            <a:r>
              <a:t>Définissez les critères et comparez le modèle initial au modèle adapté si l’essai est réalisé.</a:t>
            </a:r>
          </a:p>
          <a:p xmlns:a="http://schemas.openxmlformats.org/drawingml/2006/main">
            <a:r>
              <a:t>À remettre : protocole et résultats réellement observés.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13–14.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qualité comprend aussi le comportement en situation difficile.</a:t>
            </a:r>
          </a:p>
          <a:p xmlns:a="http://schemas.openxmlformats.org/drawingml/2006/main">
            <a:r>
              <a:t>Mesurez la fidélité et la robustesse sur des cas représentatifs.</a:t>
            </a:r>
          </a:p>
          <a:p xmlns:a="http://schemas.openxmlformats.org/drawingml/2006/main">
            <a:r>
              <a:t>Relevez la latence et le coût du parcours complet dans les mêmes conditions.</a:t>
            </a:r>
          </a:p>
          <a:p xmlns:a="http://schemas.openxmlformats.org/drawingml/2006/main">
            <a:r>
              <a:t>Présenter les limites du jeu de tests avec les résultats.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13–14. Les exemples et mises en pratique sont des adaptations pédagogiques. Consulter le manuel pour le cours détaillé.</a:t>
            </a:r>
          </a:p>
          <a:p xmlns:a="http://schemas.openxmlformats.org/drawingml/2006/main">
            <a:r>
              <a:t>Chaque accès et chaque action doivent respecter le périmètre autorisé.</a:t>
            </a:r>
          </a:p>
          <a:p xmlns:a="http://schemas.openxmlformats.org/drawingml/2006/main">
            <a:r>
              <a:t>Testez les contenus malveillants dans les documents et les sorties d’outils.</a:t>
            </a:r>
          </a:p>
          <a:p xmlns:a="http://schemas.openxmlformats.org/drawingml/2006/main">
            <a:r>
              <a:t>Contrôlez les accès, les arguments et les informations restituées.</a:t>
            </a:r>
          </a:p>
          <a:p xmlns:a="http://schemas.openxmlformats.org/drawingml/2006/main">
            <a:r>
              <a:t>Prévoir un arrêt sûr et une procédure de signalement.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24–26. Les exemples et mises en pratique sont des adaptations pédagogiques. Consulter le manuel pour le cours détaillé.</a:t>
            </a:r>
          </a:p>
          <a:p xmlns:a="http://schemas.openxmlformats.org/drawingml/2006/main">
            <a:r>
              <a:t>L’assistant facilite la lecture d’un corpus déterminé.</a:t>
            </a:r>
          </a:p>
          <a:p xmlns:a="http://schemas.openxmlformats.org/drawingml/2006/main">
            <a:r>
              <a:t>Extrayez les informations demandées en conservant leurs références.</a:t>
            </a:r>
          </a:p>
          <a:p xmlns:a="http://schemas.openxmlformats.org/drawingml/2006/main">
            <a:r>
              <a:t>Signalez les données manquantes et les écarts entre documents.</a:t>
            </a:r>
          </a:p>
          <a:p xmlns:a="http://schemas.openxmlformats.org/drawingml/2006/main">
            <a:r>
              <a:t>Cas pédagogique avec validation humaine, sans conseil financier automatisé.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24–26.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format stable facilite la relecture des résultats.</a:t>
            </a:r>
          </a:p>
          <a:p xmlns:a="http://schemas.openxmlformats.org/drawingml/2006/main">
            <a:r>
              <a:t>Définissez les rubriques attendues et les données qui alimentent chacune.</a:t>
            </a:r>
          </a:p>
          <a:p xmlns:a="http://schemas.openxmlformats.org/drawingml/2006/main">
            <a:r>
              <a:t>Testez la conformité du format et la fidélité de son contenu.</a:t>
            </a:r>
          </a:p>
          <a:p xmlns:a="http://schemas.openxmlformats.org/drawingml/2006/main">
            <a:r>
              <a:t>Un document bien présenté peut rester factuellement incorrect.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27–28. Les exemples et mises en pratique sont des adaptations pédagogiques. Consulter le manuel pour le cours détaillé.</a:t>
            </a:r>
          </a:p>
          <a:p xmlns:a="http://schemas.openxmlformats.org/drawingml/2006/main">
            <a:r>
              <a:t>Des contrats explicites rendent le système plus maintenable.</a:t>
            </a:r>
          </a:p>
          <a:p xmlns:a="http://schemas.openxmlformats.org/drawingml/2006/main">
            <a:r>
              <a:t>Conservez les schémas d’entrée et de sortie ainsi que les consignes sourcées.</a:t>
            </a:r>
          </a:p>
          <a:p xmlns:a="http://schemas.openxmlformats.org/drawingml/2006/main">
            <a:r>
              <a:t>Ajoutez des cas de test et une procédure de gestion des erreurs.</a:t>
            </a:r>
          </a:p>
          <a:p xmlns:a="http://schemas.openxmlformats.org/drawingml/2006/main">
            <a:r>
              <a:t>Versionner les changements importants avec leur motif.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32–33. Les exemples et mises en pratique sont des adaptations pédagogiques. Consulter le manuel pour le cours détaillé.</a:t>
            </a:r>
          </a:p>
          <a:p xmlns:a="http://schemas.openxmlformats.org/drawingml/2006/main">
            <a:r>
              <a:t>Le projet réunit recherche, génération et contrôles.</a:t>
            </a:r>
          </a:p>
          <a:p xmlns:a="http://schemas.openxmlformats.org/drawingml/2006/main">
            <a:r>
              <a:t>Présentez le corpus, l’architecture et une interface permettant de tester le besoin.</a:t>
            </a:r>
          </a:p>
          <a:p xmlns:a="http://schemas.openxmlformats.org/drawingml/2006/main">
            <a:r>
              <a:t>Documentez les accès, les coûts observés et les limites du prototype.</a:t>
            </a:r>
          </a:p>
          <a:p xmlns:a="http://schemas.openxmlformats.org/drawingml/2006/main">
            <a:r>
              <a:t>Livrables : code, documentation, démonstration et bilan d’évaluation.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29–36. Les exemples et mises en pratique sont des adaptations pédagogiques. Consulter le manuel pour le cours détaillé.</a:t>
            </a:r>
          </a:p>
          <a:p xmlns:a="http://schemas.openxmlformats.org/drawingml/2006/main">
            <a:r>
              <a:t>La démonstration doit montrer le fonctionnement et les limites.</a:t>
            </a:r>
          </a:p>
          <a:p xmlns:a="http://schemas.openxmlformats.org/drawingml/2006/main">
            <a:r>
              <a:t>Présentez une question réussie, un cas difficile et le comportement attendu en échec.</a:t>
            </a:r>
          </a:p>
          <a:p xmlns:a="http://schemas.openxmlformats.org/drawingml/2006/main">
            <a:r>
              <a:t>Expliquez vos choix d’architecture à partir des tests réalisés.</a:t>
            </a:r>
          </a:p>
          <a:p xmlns:a="http://schemas.openxmlformats.org/drawingml/2006/main">
            <a:r>
              <a:t>Le manuel prévoit également un QCM et les critères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Académie IA Générative. Support pédagogique du niveau 3. Source : manuel fourni par l’utilisateur, version août 2026, pages 37–40. Les exemples et mises en pratique sont des adaptations pédagogiques. Consulter le manuel pour le cours détaillé.</a:t>
            </a:r>
          </a:p>
          <a:p xmlns:a="http://schemas.openxmlformats.org/drawingml/2006/main">
            <a:r>
              <a:t>Un système utile reste évalué pendant son évolution.</a:t>
            </a:r>
          </a:p>
          <a:p xmlns:a="http://schemas.openxmlformats.org/drawingml/2006/main">
            <a:r>
              <a:t>Conservez les tests de référence et surveillez les changements du corpus.</a:t>
            </a:r>
          </a:p>
          <a:p xmlns:a="http://schemas.openxmlformats.org/drawingml/2006/main">
            <a:r>
              <a:t>Le niveau 4 adapte ces méthodes aux contraintes des métiers.</a:t>
            </a:r>
          </a:p>
          <a:p xmlns:a="http://schemas.openxmlformats.org/drawingml/2006/main">
            <a:r>
              <a:t>Ressource de référence : le manuel complet du niveau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5766f87794c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7f0f2e499c46c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3fe70b268547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ad8c70581645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9adef880d47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d062bdeaad41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ECD46CF-5FB2-450C-B7BE-87396E54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64278E2-E152-4DF8-8CD1-B22D4C0AE4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A701530-8988-4659-BCF6-525C2885FB9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071D3D5-24DA-4EF6-A750-8ABF7AF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F2A727-9C88-41DB-BC1A-1104CC8C79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43F1194-8071-48B6-991E-EE393FD4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4214FE-6FAE-4A50-BAD4-8FD46E4FD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8FF52A9-C94F-4B6B-ADD3-A10FAAE9B9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A643EAE-38F1-4C89-BE76-D0455B00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D641B81-CDA2-4AAB-8105-4384E6504B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FB95E6D-3FF8-4C02-BD0C-AB13BB837C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0ED3EC2-FEB6-4427-A5F1-BA9D876661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45B95E9-0B28-43CC-90C7-6C7503E9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5CA4D-4ED2-4817-8C16-865F8F1AC1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2C56C-9513-4EE6-ACD1-BFCBAC2D74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d03c0ed50342f8" /><Relationship Type="http://schemas.openxmlformats.org/officeDocument/2006/relationships/slideLayout" Target="/ppt/slideLayouts/slideLayout1.xml" Id="Ra6d72ee0698247c4" /><Relationship Type="http://schemas.openxmlformats.org/officeDocument/2006/relationships/slideLayout" Target="/ppt/slideLayouts/slideLayout2.xml" Id="R2250dca1feae4f62" /><Relationship Type="http://schemas.openxmlformats.org/officeDocument/2006/relationships/slideLayout" Target="/ppt/slideLayouts/slideLayout3.xml" Id="Rb6fbc5b818c64d45" /><Relationship Type="http://schemas.openxmlformats.org/officeDocument/2006/relationships/slideLayout" Target="/ppt/slideLayouts/slideLayout4.xml" Id="R27d94d9ec545487f" /><Relationship Type="http://schemas.openxmlformats.org/officeDocument/2006/relationships/slideLayout" Target="/ppt/slideLayouts/slideLayout5.xml" Id="Raa327fa0ed274507" /><Relationship Type="http://schemas.openxmlformats.org/officeDocument/2006/relationships/slideLayout" Target="/ppt/slideLayouts/slideLayout6.xml" Id="R3c9765f461774d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72ee0698247c4"/>
    <p:sldLayoutId xmlns:r="http://schemas.openxmlformats.org/officeDocument/2006/relationships" id="2147483650" r:id="R2250dca1feae4f62"/>
    <p:sldLayoutId xmlns:r="http://schemas.openxmlformats.org/officeDocument/2006/relationships" id="2147483651" r:id="Rb6fbc5b818c64d45"/>
    <p:sldLayoutId xmlns:r="http://schemas.openxmlformats.org/officeDocument/2006/relationships" id="2147483652" r:id="R27d94d9ec545487f"/>
    <p:sldLayoutId xmlns:r="http://schemas.openxmlformats.org/officeDocument/2006/relationships" id="2147483653" r:id="Raa327fa0ed274507"/>
    <p:sldLayoutId xmlns:r="http://schemas.openxmlformats.org/officeDocument/2006/relationships" id="2147483654" r:id="R3c9765f461774d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da088752145a3" /><Relationship Type="http://schemas.openxmlformats.org/officeDocument/2006/relationships/image" Target="/ppt/media/image.png" Id="R350eb43ae85b447f" /><Relationship Type="http://schemas.openxmlformats.org/officeDocument/2006/relationships/notesSlide" Target="/ppt/notesSlides/notesSlide1.xml" Id="R8453fb32443b41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6f869ef534ee4" /><Relationship Type="http://schemas.openxmlformats.org/officeDocument/2006/relationships/image" Target="/ppt/media/image2.png" Id="R25551f73670941b0" /><Relationship Type="http://schemas.openxmlformats.org/officeDocument/2006/relationships/notesSlide" Target="/ppt/notesSlides/notesSlide2.xml" Id="Rb2cab47568f946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4b68dbb1b349fc" /><Relationship Type="http://schemas.openxmlformats.org/officeDocument/2006/relationships/image" Target="/ppt/media/image3.png" Id="R8f13ab668c9f44f5" /><Relationship Type="http://schemas.openxmlformats.org/officeDocument/2006/relationships/notesSlide" Target="/ppt/notesSlides/notesSlide3.xml" Id="R0badbbf59e2648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dd2b9a57514281" /><Relationship Type="http://schemas.openxmlformats.org/officeDocument/2006/relationships/image" Target="/ppt/media/image4.png" Id="R62319d07bb7a4990" /><Relationship Type="http://schemas.openxmlformats.org/officeDocument/2006/relationships/notesSlide" Target="/ppt/notesSlides/notesSlide4.xml" Id="Rbd84e3e306b842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9a539d6286413d" /><Relationship Type="http://schemas.openxmlformats.org/officeDocument/2006/relationships/image" Target="/ppt/media/image5.png" Id="Ra5e1bd283433461b" /><Relationship Type="http://schemas.openxmlformats.org/officeDocument/2006/relationships/notesSlide" Target="/ppt/notesSlides/notesSlide5.xml" Id="R7a945bb37e5247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e69a607b1f446b" /><Relationship Type="http://schemas.openxmlformats.org/officeDocument/2006/relationships/image" Target="/ppt/media/image6.png" Id="Rb66cf1e1c7524641" /><Relationship Type="http://schemas.openxmlformats.org/officeDocument/2006/relationships/notesSlide" Target="/ppt/notesSlides/notesSlide6.xml" Id="R3361a9c40da2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b4daa87134ebb" /><Relationship Type="http://schemas.openxmlformats.org/officeDocument/2006/relationships/image" Target="/ppt/media/image7.png" Id="R6541afa09b1248da" /><Relationship Type="http://schemas.openxmlformats.org/officeDocument/2006/relationships/notesSlide" Target="/ppt/notesSlides/notesSlide7.xml" Id="R7a037da8a91b44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449d863b644c98" /><Relationship Type="http://schemas.openxmlformats.org/officeDocument/2006/relationships/image" Target="/ppt/media/image8.png" Id="R34b7412926aa44ad" /><Relationship Type="http://schemas.openxmlformats.org/officeDocument/2006/relationships/notesSlide" Target="/ppt/notesSlides/notesSlide8.xml" Id="R783e7b85b4014e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f0a3521aaf464c" /><Relationship Type="http://schemas.openxmlformats.org/officeDocument/2006/relationships/image" Target="/ppt/media/image9.png" Id="Rb198664719dc438a" /><Relationship Type="http://schemas.openxmlformats.org/officeDocument/2006/relationships/notesSlide" Target="/ppt/notesSlides/notesSlide9.xml" Id="R59d746fba55a4a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836dd376d4234" /><Relationship Type="http://schemas.openxmlformats.org/officeDocument/2006/relationships/image" Target="/ppt/media/image10.png" Id="Rdfde6957fbd841af" /><Relationship Type="http://schemas.openxmlformats.org/officeDocument/2006/relationships/notesSlide" Target="/ppt/notesSlides/notesSlide10.xml" Id="Rf1a4cc36d74c46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b4f4855bf4f90" /><Relationship Type="http://schemas.openxmlformats.org/officeDocument/2006/relationships/image" Target="/ppt/media/image11.png" Id="Rc464e58f7bcc48d6" /><Relationship Type="http://schemas.openxmlformats.org/officeDocument/2006/relationships/notesSlide" Target="/ppt/notesSlides/notesSlide11.xml" Id="R12e0312ee695407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09d62fe9484f59" /><Relationship Type="http://schemas.openxmlformats.org/officeDocument/2006/relationships/image" Target="/ppt/media/image12.png" Id="Rb9918581d75a400f" /><Relationship Type="http://schemas.openxmlformats.org/officeDocument/2006/relationships/notesSlide" Target="/ppt/notesSlides/notesSlide12.xml" Id="R9d6d46e6e48e41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c783566f44c3b" /><Relationship Type="http://schemas.openxmlformats.org/officeDocument/2006/relationships/image" Target="/ppt/media/image13.png" Id="Ra6fb4b48fe834229" /><Relationship Type="http://schemas.openxmlformats.org/officeDocument/2006/relationships/notesSlide" Target="/ppt/notesSlides/notesSlide13.xml" Id="R46b776b665cf489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a43ca58a541cd" /><Relationship Type="http://schemas.openxmlformats.org/officeDocument/2006/relationships/image" Target="/ppt/media/image14.png" Id="R70c86ec41e3741f9" /><Relationship Type="http://schemas.openxmlformats.org/officeDocument/2006/relationships/notesSlide" Target="/ppt/notesSlides/notesSlide14.xml" Id="R12c97ac68e1d44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e4f8b35cb540b9" /><Relationship Type="http://schemas.openxmlformats.org/officeDocument/2006/relationships/image" Target="/ppt/media/image15.png" Id="R1473bce7b8484dcf" /><Relationship Type="http://schemas.openxmlformats.org/officeDocument/2006/relationships/notesSlide" Target="/ppt/notesSlides/notesSlide15.xml" Id="R4d0a173abbc6427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e6b3305b184095" /><Relationship Type="http://schemas.openxmlformats.org/officeDocument/2006/relationships/image" Target="/ppt/media/image16.png" Id="Rde01540d84da4713" /><Relationship Type="http://schemas.openxmlformats.org/officeDocument/2006/relationships/notesSlide" Target="/ppt/notesSlides/notesSlide16.xml" Id="R4cc533d963f944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f2c71ad22490d" /><Relationship Type="http://schemas.openxmlformats.org/officeDocument/2006/relationships/image" Target="/ppt/media/image17.png" Id="R6cb0a4f8616646bb" /><Relationship Type="http://schemas.openxmlformats.org/officeDocument/2006/relationships/notesSlide" Target="/ppt/notesSlides/notesSlide17.xml" Id="R55f97431439e456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4380ba772451e" /><Relationship Type="http://schemas.openxmlformats.org/officeDocument/2006/relationships/image" Target="/ppt/media/image18.png" Id="R6a68285b13cc4cfc" /><Relationship Type="http://schemas.openxmlformats.org/officeDocument/2006/relationships/notesSlide" Target="/ppt/notesSlides/notesSlide18.xml" Id="R903f626b5c9a451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bdf628acc44c2e" /><Relationship Type="http://schemas.openxmlformats.org/officeDocument/2006/relationships/image" Target="/ppt/media/image19.png" Id="Rfb2767f781da49be" /><Relationship Type="http://schemas.openxmlformats.org/officeDocument/2006/relationships/notesSlide" Target="/ppt/notesSlides/notesSlide19.xml" Id="R3a9318f2bb1a48e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886fdf688f402e" /><Relationship Type="http://schemas.openxmlformats.org/officeDocument/2006/relationships/image" Target="/ppt/media/image20.png" Id="R49370ffdc05b4fb4" /><Relationship Type="http://schemas.openxmlformats.org/officeDocument/2006/relationships/notesSlide" Target="/ppt/notesSlides/notesSlide20.xml" Id="Rdc5e8e7946a246c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43628a0bd4808" /><Relationship Type="http://schemas.openxmlformats.org/officeDocument/2006/relationships/image" Target="/ppt/media/image21.png" Id="R679613a1da9a4c3b" /><Relationship Type="http://schemas.openxmlformats.org/officeDocument/2006/relationships/notesSlide" Target="/ppt/notesSlides/notesSlide21.xml" Id="Rb721a0425d3e4b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b8a8909104451f" /><Relationship Type="http://schemas.openxmlformats.org/officeDocument/2006/relationships/image" Target="/ppt/media/image22.png" Id="R0f07a2a17f39437c" /><Relationship Type="http://schemas.openxmlformats.org/officeDocument/2006/relationships/notesSlide" Target="/ppt/notesSlides/notesSlide22.xml" Id="R3698f30c7afd4b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7ea21874084540" /><Relationship Type="http://schemas.openxmlformats.org/officeDocument/2006/relationships/image" Target="/ppt/media/image23.png" Id="R13c1a575d51348f7" /><Relationship Type="http://schemas.openxmlformats.org/officeDocument/2006/relationships/notesSlide" Target="/ppt/notesSlides/notesSlide23.xml" Id="Ra3b2a5a3972a40f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136f47dc0b418e" /><Relationship Type="http://schemas.openxmlformats.org/officeDocument/2006/relationships/image" Target="/ppt/media/image24.png" Id="Ra83bb311f5dc4b95" /><Relationship Type="http://schemas.openxmlformats.org/officeDocument/2006/relationships/notesSlide" Target="/ppt/notesSlides/notesSlide24.xml" Id="R9c7f3d6961dc423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4720360da140b9" /><Relationship Type="http://schemas.openxmlformats.org/officeDocument/2006/relationships/image" Target="/ppt/media/image25.png" Id="R8df068cdc8fe4b2a" /><Relationship Type="http://schemas.openxmlformats.org/officeDocument/2006/relationships/notesSlide" Target="/ppt/notesSlides/notesSlide25.xml" Id="Rf5661f597445444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c2b0f2bb254470" /><Relationship Type="http://schemas.openxmlformats.org/officeDocument/2006/relationships/image" Target="/ppt/media/image26.png" Id="Re28b2e0356664119" /><Relationship Type="http://schemas.openxmlformats.org/officeDocument/2006/relationships/notesSlide" Target="/ppt/notesSlides/notesSlide26.xml" Id="R742e804924434c3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2ddaa3e9b4a4f" /><Relationship Type="http://schemas.openxmlformats.org/officeDocument/2006/relationships/image" Target="/ppt/media/image27.png" Id="R7d9438121be04e80" /><Relationship Type="http://schemas.openxmlformats.org/officeDocument/2006/relationships/notesSlide" Target="/ppt/notesSlides/notesSlide27.xml" Id="R97de02f23f75468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4dcbeb13624300" /><Relationship Type="http://schemas.openxmlformats.org/officeDocument/2006/relationships/image" Target="/ppt/media/image28.png" Id="Ra69b310d279f4863" /><Relationship Type="http://schemas.openxmlformats.org/officeDocument/2006/relationships/notesSlide" Target="/ppt/notesSlides/notesSlide28.xml" Id="R00d814e1dc6a4d93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d2ffcffef4d20" /><Relationship Type="http://schemas.openxmlformats.org/officeDocument/2006/relationships/image" Target="/ppt/media/image29.png" Id="R1c48863d21d546db" /><Relationship Type="http://schemas.openxmlformats.org/officeDocument/2006/relationships/notesSlide" Target="/ppt/notesSlides/notesSlide29.xml" Id="R00478a7168af40b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7aa78f63d549a8" /><Relationship Type="http://schemas.openxmlformats.org/officeDocument/2006/relationships/image" Target="/ppt/media/image30.png" Id="R49804187d6af4890" /><Relationship Type="http://schemas.openxmlformats.org/officeDocument/2006/relationships/notesSlide" Target="/ppt/notesSlides/notesSlide30.xml" Id="R4572ea77af4d493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871884dd3042e8" /><Relationship Type="http://schemas.openxmlformats.org/officeDocument/2006/relationships/image" Target="/ppt/media/image31.png" Id="R1862b57038bb4374" /><Relationship Type="http://schemas.openxmlformats.org/officeDocument/2006/relationships/notesSlide" Target="/ppt/notesSlides/notesSlide31.xml" Id="Rfe83435935a444e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cd1d7698e47ac" /><Relationship Type="http://schemas.openxmlformats.org/officeDocument/2006/relationships/image" Target="/ppt/media/image32.png" Id="R98429c6a968a4f13" /><Relationship Type="http://schemas.openxmlformats.org/officeDocument/2006/relationships/notesSlide" Target="/ppt/notesSlides/notesSlide32.xml" Id="R792d4d5034fc4bd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d2af22fd849a0" /><Relationship Type="http://schemas.openxmlformats.org/officeDocument/2006/relationships/image" Target="/ppt/media/image33.png" Id="Ra58f33cb1c774b75" /><Relationship Type="http://schemas.openxmlformats.org/officeDocument/2006/relationships/notesSlide" Target="/ppt/notesSlides/notesSlide33.xml" Id="R0eb2bba30df84de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00c4efc57b485a" /><Relationship Type="http://schemas.openxmlformats.org/officeDocument/2006/relationships/image" Target="/ppt/media/image34.png" Id="Rd8d39a594a704433" /><Relationship Type="http://schemas.openxmlformats.org/officeDocument/2006/relationships/notesSlide" Target="/ppt/notesSlides/notesSlide34.xml" Id="Re52553ea5288414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edae57e224c03" /><Relationship Type="http://schemas.openxmlformats.org/officeDocument/2006/relationships/image" Target="/ppt/media/image35.png" Id="R061b5fc14f1e4dae" /><Relationship Type="http://schemas.openxmlformats.org/officeDocument/2006/relationships/notesSlide" Target="/ppt/notesSlides/notesSlide35.xml" Id="Rb5ee529cf1304f5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1d03380d144de3" /><Relationship Type="http://schemas.openxmlformats.org/officeDocument/2006/relationships/image" Target="/ppt/media/image36.png" Id="R250a7b0413394ced" /><Relationship Type="http://schemas.openxmlformats.org/officeDocument/2006/relationships/notesSlide" Target="/ppt/notesSlides/notesSlide36.xml" Id="R4f1421e6e5cd4c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0A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eb43ae85b447f"/>
          <a:stretch xmlns:a="http://schemas.openxmlformats.org/drawingml/2006/main"/>
        </p:blipFill>
        <p:spPr>
          <a:xfrm xmlns:a="http://schemas.openxmlformats.org/drawingml/2006/main">
            <a:off x="914400" y="400050"/>
            <a:ext cx="3429000" cy="1714500"/>
          </a:xfrm>
          <a:prstGeom xmlns:a="http://schemas.openxmlformats.org/drawingml/2006/main" prst="rect">
            <a:avLst/>
          </a:prstGeom>
        </p:spPr>
      </p:pic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44CF530A-A3D1-4D0D-81F3-8B253657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800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IA générative avancée">
            <a:extLst xmlns:a="http://schemas.openxmlformats.org/drawingml/2006/main">
              <a:ext uri="{FF2B5EF4-FFF2-40B4-BE49-F238E27FC236}">
                <a16:creationId xmlns:a16="http://schemas.microsoft.com/office/drawing/2014/main" id="{3E94DE58-95B3-4B63-94EB-1BCDC3A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103346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Poppins"/>
                <a:ea typeface="Poppins"/>
                <a:cs typeface="Poppins"/>
              </a:defRPr>
            </a:pPr>
            <a:r>
              <a:rPr sz="4200" b="1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IA générative avancée</a:t>
            </a:r>
          </a:p>
        </p:txBody>
      </p:sp>
      <p:sp>
        <p:nvSpPr>
          <p:cNvPr id="4" name="Concevoir des systèmes RAG, des agents et des adap">
            <a:extLst xmlns:a="http://schemas.openxmlformats.org/drawingml/2006/main">
              <a:ext uri="{FF2B5EF4-FFF2-40B4-BE49-F238E27FC236}">
                <a16:creationId xmlns:a16="http://schemas.microsoft.com/office/drawing/2014/main" id="{F2C35643-4BF8-4CF8-B6A9-86875D36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Concevoir des systèmes RAG, des agents et des adaptations de modèles.</a:t>
            </a:r>
          </a:p>
        </p:txBody>
      </p:sp>
      <p:sp>
        <p:nvSpPr>
          <p:cNvPr id="5" name="35 heures  ·  Support de cours">
            <a:extLst xmlns:a="http://schemas.openxmlformats.org/drawingml/2006/main">
              <a:ext uri="{FF2B5EF4-FFF2-40B4-BE49-F238E27FC236}">
                <a16:creationId xmlns:a16="http://schemas.microsoft.com/office/drawing/2014/main" id="{B62F9858-5346-4E38-949C-65AF64D2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35 heures  ·  Support de cours</a:t>
            </a:r>
          </a:p>
        </p:txBody>
      </p:sp>
    </p:spTree>
    <p:extLst>
      <p:ext uri="{BB962C8B-B14F-4D97-AF65-F5344CB8AC3E}">
        <p14:creationId xmlns:p14="http://schemas.microsoft.com/office/powerpoint/2010/main" val="3653277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B40BD-BBFC-4E17-945B-94B3E4F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66221CA6-3783-4E12-AA89-E88431C7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compétences visées">
            <a:extLst xmlns:a="http://schemas.openxmlformats.org/drawingml/2006/main">
              <a:ext uri="{FF2B5EF4-FFF2-40B4-BE49-F238E27FC236}">
                <a16:creationId xmlns:a16="http://schemas.microsoft.com/office/drawing/2014/main" id="{5D71465E-902A-463D-AE4E-D212010D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compétences visées</a:t>
            </a:r>
          </a:p>
        </p:txBody>
      </p:sp>
      <p:sp>
        <p:nvSpPr>
          <p:cNvPr id="4" name="La conception relie architecture, besoin métier et">
            <a:extLst xmlns:a="http://schemas.openxmlformats.org/drawingml/2006/main">
              <a:ext uri="{FF2B5EF4-FFF2-40B4-BE49-F238E27FC236}">
                <a16:creationId xmlns:a16="http://schemas.microsoft.com/office/drawing/2014/main" id="{823C784D-4D0C-4B08-B79D-72C27DD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conception relie architecture, besoin métier et évaluation.</a:t>
            </a:r>
          </a:p>
        </p:txBody>
      </p:sp>
      <p:sp>
        <p:nvSpPr>
          <p:cNvPr id="5" name="Construire un système documentaire et encadrer les">
            <a:extLst xmlns:a="http://schemas.openxmlformats.org/drawingml/2006/main">
              <a:ext uri="{FF2B5EF4-FFF2-40B4-BE49-F238E27FC236}">
                <a16:creationId xmlns:a16="http://schemas.microsoft.com/office/drawing/2014/main" id="{15A1D810-3B64-4860-9F5F-8B9DA1DF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Construire un système documentaire et encadrer les appels d’outils.</a:t>
            </a:r>
          </a:p>
        </p:txBody>
      </p:sp>
      <p:sp>
        <p:nvSpPr>
          <p:cNvPr id="6" name="Choisir une méthode d’adaptation et mesurer les ré">
            <a:extLst xmlns:a="http://schemas.openxmlformats.org/drawingml/2006/main">
              <a:ext uri="{FF2B5EF4-FFF2-40B4-BE49-F238E27FC236}">
                <a16:creationId xmlns:a16="http://schemas.microsoft.com/office/drawing/2014/main" id="{708FD8D4-61F5-4775-AEDF-7F9F082F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Choisir une méthode d’adaptation et mesurer les résultats.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28C1E213-2D16-4627-8AF0-79593C6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ojet : un assistant métier documenté et testé.">
            <a:extLst xmlns:a="http://schemas.openxmlformats.org/drawingml/2006/main">
              <a:ext uri="{FF2B5EF4-FFF2-40B4-BE49-F238E27FC236}">
                <a16:creationId xmlns:a16="http://schemas.microsoft.com/office/drawing/2014/main" id="{2FC23D59-6727-433D-98B3-DAFA4503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Projet : un assistant métier documenté et testé.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51f73670941b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2 / 36">
            <a:extLst xmlns:a="http://schemas.openxmlformats.org/drawingml/2006/main">
              <a:ext uri="{FF2B5EF4-FFF2-40B4-BE49-F238E27FC236}">
                <a16:creationId xmlns:a16="http://schemas.microsoft.com/office/drawing/2014/main" id="{DF087210-EC15-4D6D-AC46-0B5DA662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02 / 36</a:t>
            </a:r>
          </a:p>
        </p:txBody>
      </p:sp>
    </p:spTree>
    <p:extLst>
      <p:ext uri="{BB962C8B-B14F-4D97-AF65-F5344CB8AC3E}">
        <p14:creationId xmlns:p14="http://schemas.microsoft.com/office/powerpoint/2010/main" val="9037330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A693C-5587-4B58-9B6F-C0B5E475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04008B86-65B1-43DE-8648-35620044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Prérequis et organisation">
            <a:extLst xmlns:a="http://schemas.openxmlformats.org/drawingml/2006/main">
              <a:ext uri="{FF2B5EF4-FFF2-40B4-BE49-F238E27FC236}">
                <a16:creationId xmlns:a16="http://schemas.microsoft.com/office/drawing/2014/main" id="{27FE6423-69E1-4EC1-BB92-980DB93DC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Prérequis et organisation</a:t>
            </a:r>
          </a:p>
        </p:txBody>
      </p:sp>
      <p:sp>
        <p:nvSpPr>
          <p:cNvPr id="4" name="Le module suppose des bases de programmation et de">
            <a:extLst xmlns:a="http://schemas.openxmlformats.org/drawingml/2006/main">
              <a:ext uri="{FF2B5EF4-FFF2-40B4-BE49-F238E27FC236}">
                <a16:creationId xmlns:a16="http://schemas.microsoft.com/office/drawing/2014/main" id="{E1FC330B-B591-4E6D-8562-D252F97B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module suppose des bases de programmation et de données.</a:t>
            </a:r>
          </a:p>
        </p:txBody>
      </p:sp>
      <p:sp>
        <p:nvSpPr>
          <p:cNvPr id="5" name="Python recommandé, notions d’API et de bases de do">
            <a:extLst xmlns:a="http://schemas.openxmlformats.org/drawingml/2006/main">
              <a:ext uri="{FF2B5EF4-FFF2-40B4-BE49-F238E27FC236}">
                <a16:creationId xmlns:a16="http://schemas.microsoft.com/office/drawing/2014/main" id="{10682B7D-DCF1-4863-BB9E-E5E39470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Python recommandé, notions d’API et de bases de données.</a:t>
            </a:r>
          </a:p>
        </p:txBody>
      </p:sp>
      <p:sp>
        <p:nvSpPr>
          <p:cNvPr id="6" name="14 h de théorie, 16 h de pratique et 5 h d’évaluat">
            <a:extLst xmlns:a="http://schemas.openxmlformats.org/drawingml/2006/main">
              <a:ext uri="{FF2B5EF4-FFF2-40B4-BE49-F238E27FC236}">
                <a16:creationId xmlns:a16="http://schemas.microsoft.com/office/drawing/2014/main" id="{ADF08AA5-0F5F-4A15-BFDB-D56DE565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14 h de théorie, 16 h de pratique et 5 h d’évaluation.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0ADFC63A-C41C-47AF-891F-867511AE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manuel contient les ateliers techniques et les ">
            <a:extLst xmlns:a="http://schemas.openxmlformats.org/drawingml/2006/main">
              <a:ext uri="{FF2B5EF4-FFF2-40B4-BE49-F238E27FC236}">
                <a16:creationId xmlns:a16="http://schemas.microsoft.com/office/drawing/2014/main" id="{61DD4389-6147-45F9-A359-6BAC7ED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manuel contient les ateliers techniques et les ressources associées.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3ab668c9f44f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3 / 36">
            <a:extLst xmlns:a="http://schemas.openxmlformats.org/drawingml/2006/main">
              <a:ext uri="{FF2B5EF4-FFF2-40B4-BE49-F238E27FC236}">
                <a16:creationId xmlns:a16="http://schemas.microsoft.com/office/drawing/2014/main" id="{1E5FAFF2-ADED-46D5-AB7A-B8D10D5A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03 / 36</a:t>
            </a:r>
          </a:p>
        </p:txBody>
      </p:sp>
    </p:spTree>
    <p:extLst>
      <p:ext uri="{BB962C8B-B14F-4D97-AF65-F5344CB8AC3E}">
        <p14:creationId xmlns:p14="http://schemas.microsoft.com/office/powerpoint/2010/main" val="18004985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C4764-52B1-4E5A-8E56-643DE3E7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647E38F6-0B65-41BB-BC75-29D3ECBD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diagnostic technique">
            <a:extLst xmlns:a="http://schemas.openxmlformats.org/drawingml/2006/main">
              <a:ext uri="{FF2B5EF4-FFF2-40B4-BE49-F238E27FC236}">
                <a16:creationId xmlns:a16="http://schemas.microsoft.com/office/drawing/2014/main" id="{68823D04-CF66-4F0A-9B79-7CA2A768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diagnostic technique</a:t>
            </a:r>
          </a:p>
        </p:txBody>
      </p:sp>
      <p:sp>
        <p:nvSpPr>
          <p:cNvPr id="4" name="Le besoin détermine les choix d’architecture.">
            <a:extLst xmlns:a="http://schemas.openxmlformats.org/drawingml/2006/main">
              <a:ext uri="{FF2B5EF4-FFF2-40B4-BE49-F238E27FC236}">
                <a16:creationId xmlns:a16="http://schemas.microsoft.com/office/drawing/2014/main" id="{E4662147-6539-4384-8632-82F1FD1F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besoin détermine les choix d’architecture.</a:t>
            </a:r>
          </a:p>
        </p:txBody>
      </p:sp>
      <p:sp>
        <p:nvSpPr>
          <p:cNvPr id="5" name="Décrivez les questions à traiter et les documents ">
            <a:extLst xmlns:a="http://schemas.openxmlformats.org/drawingml/2006/main">
              <a:ext uri="{FF2B5EF4-FFF2-40B4-BE49-F238E27FC236}">
                <a16:creationId xmlns:a16="http://schemas.microsoft.com/office/drawing/2014/main" id="{FA40BD7E-E993-42E6-83B4-2872E7A2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Décrivez les questions à traiter et les documents disponibles.</a:t>
            </a:r>
          </a:p>
        </p:txBody>
      </p:sp>
      <p:sp>
        <p:nvSpPr>
          <p:cNvPr id="6" name="Précisez les accès autorisés, les contraintes de d">
            <a:extLst xmlns:a="http://schemas.openxmlformats.org/drawingml/2006/main">
              <a:ext uri="{FF2B5EF4-FFF2-40B4-BE49-F238E27FC236}">
                <a16:creationId xmlns:a16="http://schemas.microsoft.com/office/drawing/2014/main" id="{3B275DC2-CBC8-4A77-8E54-959E558D9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Précisez les accès autorisés, les contraintes de délai et les critères de réussite.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3DB2863-2F44-4C03-954E-19039B69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prototype limité facilite les premiers tests.">
            <a:extLst xmlns:a="http://schemas.openxmlformats.org/drawingml/2006/main">
              <a:ext uri="{FF2B5EF4-FFF2-40B4-BE49-F238E27FC236}">
                <a16:creationId xmlns:a16="http://schemas.microsoft.com/office/drawing/2014/main" id="{FB007D35-D19F-4BDD-8F52-20621047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prototype limité facilite les premiers tests.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19d07bb7a499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4 / 36">
            <a:extLst xmlns:a="http://schemas.openxmlformats.org/drawingml/2006/main">
              <a:ext uri="{FF2B5EF4-FFF2-40B4-BE49-F238E27FC236}">
                <a16:creationId xmlns:a16="http://schemas.microsoft.com/office/drawing/2014/main" id="{D286587E-9963-409F-A479-664B74BA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04 / 36</a:t>
            </a:r>
          </a:p>
        </p:txBody>
      </p:sp>
    </p:spTree>
    <p:extLst>
      <p:ext uri="{BB962C8B-B14F-4D97-AF65-F5344CB8AC3E}">
        <p14:creationId xmlns:p14="http://schemas.microsoft.com/office/powerpoint/2010/main" val="11932178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BF41F-F568-4A3D-BDA1-67FBA8A9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BE1DDF47-9F90-42BF-95EB-61D3001D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transformers">
            <a:extLst xmlns:a="http://schemas.openxmlformats.org/drawingml/2006/main">
              <a:ext uri="{FF2B5EF4-FFF2-40B4-BE49-F238E27FC236}">
                <a16:creationId xmlns:a16="http://schemas.microsoft.com/office/drawing/2014/main" id="{22BAEFAF-5A1C-4383-8A95-C4D3C36A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transformers</a:t>
            </a:r>
          </a:p>
        </p:txBody>
      </p:sp>
      <p:sp>
        <p:nvSpPr>
          <p:cNvPr id="4" name="L’architecture combine des représentations et des ">
            <a:extLst xmlns:a="http://schemas.openxmlformats.org/drawingml/2006/main">
              <a:ext uri="{FF2B5EF4-FFF2-40B4-BE49-F238E27FC236}">
                <a16:creationId xmlns:a16="http://schemas.microsoft.com/office/drawing/2014/main" id="{E385763D-E8BE-4251-A29E-1793A1A3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L’architecture combine des représentations et des mécanismes d’attention.</a:t>
            </a:r>
          </a:p>
        </p:txBody>
      </p:sp>
      <p:sp>
        <p:nvSpPr>
          <p:cNvPr id="5" name="Les tokens deviennent des représentations numériqu">
            <a:extLst xmlns:a="http://schemas.openxmlformats.org/drawingml/2006/main">
              <a:ext uri="{FF2B5EF4-FFF2-40B4-BE49-F238E27FC236}">
                <a16:creationId xmlns:a16="http://schemas.microsoft.com/office/drawing/2014/main" id="{669605A6-4587-4E13-A021-CFC7A87B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tokens deviennent des représentations numériques traitées dans plusieurs couches.</a:t>
            </a:r>
          </a:p>
        </p:txBody>
      </p:sp>
      <p:sp>
        <p:nvSpPr>
          <p:cNvPr id="6" name="Les transformations successives contribuent à prod">
            <a:extLst xmlns:a="http://schemas.openxmlformats.org/drawingml/2006/main">
              <a:ext uri="{FF2B5EF4-FFF2-40B4-BE49-F238E27FC236}">
                <a16:creationId xmlns:a16="http://schemas.microsoft.com/office/drawing/2014/main" id="{6FA057C8-C4BC-4B94-9E6F-2395529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transformations successives contribuent à produire la sortie.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D067A91-C66A-4810-9D5B-556F340D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ette vue générale ne décrit pas tous les modèles ">
            <a:extLst xmlns:a="http://schemas.openxmlformats.org/drawingml/2006/main">
              <a:ext uri="{FF2B5EF4-FFF2-40B4-BE49-F238E27FC236}">
                <a16:creationId xmlns:a16="http://schemas.microsoft.com/office/drawing/2014/main" id="{20A39D89-DE32-43FE-8631-B312B8A3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Cette vue générale ne décrit pas tous les modèles de manière identique.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1bd283433461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5 / 36">
            <a:extLst xmlns:a="http://schemas.openxmlformats.org/drawingml/2006/main">
              <a:ext uri="{FF2B5EF4-FFF2-40B4-BE49-F238E27FC236}">
                <a16:creationId xmlns:a16="http://schemas.microsoft.com/office/drawing/2014/main" id="{2FAF55DD-0CF8-4E2E-AAEF-97FED6B8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05 / 36</a:t>
            </a:r>
          </a:p>
        </p:txBody>
      </p:sp>
    </p:spTree>
    <p:extLst>
      <p:ext uri="{BB962C8B-B14F-4D97-AF65-F5344CB8AC3E}">
        <p14:creationId xmlns:p14="http://schemas.microsoft.com/office/powerpoint/2010/main" val="1089260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240B23-FB0A-42B8-A1FA-6D431B60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41587B58-32EE-4C3C-872B-D357D5C9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mécanisme d’attention">
            <a:extLst xmlns:a="http://schemas.openxmlformats.org/drawingml/2006/main">
              <a:ext uri="{FF2B5EF4-FFF2-40B4-BE49-F238E27FC236}">
                <a16:creationId xmlns:a16="http://schemas.microsoft.com/office/drawing/2014/main" id="{BB263C2E-8513-4CDA-B1CB-E0BCE46E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mécanisme d’attention</a:t>
            </a:r>
          </a:p>
        </p:txBody>
      </p:sp>
      <p:sp>
        <p:nvSpPr>
          <p:cNvPr id="4" name="L’attention pondère les relations entre éléments d">
            <a:extLst xmlns:a="http://schemas.openxmlformats.org/drawingml/2006/main">
              <a:ext uri="{FF2B5EF4-FFF2-40B4-BE49-F238E27FC236}">
                <a16:creationId xmlns:a16="http://schemas.microsoft.com/office/drawing/2014/main" id="{FA7E3ED9-D00B-4011-971C-EC94BB9F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L’attention pondère les relations entre éléments du contexte.</a:t>
            </a:r>
          </a:p>
        </p:txBody>
      </p:sp>
      <p:sp>
        <p:nvSpPr>
          <p:cNvPr id="5" name="Elle aide le modèle à exploiter les informations u">
            <a:extLst xmlns:a="http://schemas.openxmlformats.org/drawingml/2006/main">
              <a:ext uri="{FF2B5EF4-FFF2-40B4-BE49-F238E27FC236}">
                <a16:creationId xmlns:a16="http://schemas.microsoft.com/office/drawing/2014/main" id="{6204336D-4B84-43C0-9B2D-824ECC23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Elle aide le modèle à exploiter les informations utiles à une position donnée.</a:t>
            </a:r>
          </a:p>
        </p:txBody>
      </p:sp>
      <p:sp>
        <p:nvSpPr>
          <p:cNvPr id="6" name="Les pondérations dépendent des représentations cal">
            <a:extLst xmlns:a="http://schemas.openxmlformats.org/drawingml/2006/main">
              <a:ext uri="{FF2B5EF4-FFF2-40B4-BE49-F238E27FC236}">
                <a16:creationId xmlns:a16="http://schemas.microsoft.com/office/drawing/2014/main" id="{CF83C47A-F4C9-4B4F-B5DF-107F2D48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pondérations dépendent des représentations calculées par le modèle.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69F6390-687A-454E-92CA-8829D9FD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Attention élevée et preuve factuelle sont deux not">
            <a:extLst xmlns:a="http://schemas.openxmlformats.org/drawingml/2006/main">
              <a:ext uri="{FF2B5EF4-FFF2-40B4-BE49-F238E27FC236}">
                <a16:creationId xmlns:a16="http://schemas.microsoft.com/office/drawing/2014/main" id="{C6809570-711F-4E39-9F7D-7169FEAB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Attention élevée et preuve factuelle sont deux notions distinctes.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cf1e1c7524641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6 / 36">
            <a:extLst xmlns:a="http://schemas.openxmlformats.org/drawingml/2006/main">
              <a:ext uri="{FF2B5EF4-FFF2-40B4-BE49-F238E27FC236}">
                <a16:creationId xmlns:a16="http://schemas.microsoft.com/office/drawing/2014/main" id="{763B4DB2-A8A8-49A9-B0D7-FCB5714B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06 / 36</a:t>
            </a:r>
          </a:p>
        </p:txBody>
      </p:sp>
    </p:spTree>
    <p:extLst>
      <p:ext uri="{BB962C8B-B14F-4D97-AF65-F5344CB8AC3E}">
        <p14:creationId xmlns:p14="http://schemas.microsoft.com/office/powerpoint/2010/main" val="4249268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24034-09E8-4F50-9B88-1D8A3DFC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7D17E350-CA99-476F-9342-C8D3D015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information de position">
            <a:extLst xmlns:a="http://schemas.openxmlformats.org/drawingml/2006/main">
              <a:ext uri="{FF2B5EF4-FFF2-40B4-BE49-F238E27FC236}">
                <a16:creationId xmlns:a16="http://schemas.microsoft.com/office/drawing/2014/main" id="{80503E63-AB53-4C46-BE48-BAC3767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L’information de position</a:t>
            </a:r>
          </a:p>
        </p:txBody>
      </p:sp>
      <p:sp>
        <p:nvSpPr>
          <p:cNvPr id="4" name="L’ordre des éléments contribue au sens du texte.">
            <a:extLst xmlns:a="http://schemas.openxmlformats.org/drawingml/2006/main">
              <a:ext uri="{FF2B5EF4-FFF2-40B4-BE49-F238E27FC236}">
                <a16:creationId xmlns:a16="http://schemas.microsoft.com/office/drawing/2014/main" id="{899B0281-55AE-4072-9654-33783CAE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L’ordre des éléments contribue au sens du texte.</a:t>
            </a:r>
          </a:p>
        </p:txBody>
      </p:sp>
      <p:sp>
        <p:nvSpPr>
          <p:cNvPr id="5" name="Un mécanisme de position complète la représentatio">
            <a:extLst xmlns:a="http://schemas.openxmlformats.org/drawingml/2006/main">
              <a:ext uri="{FF2B5EF4-FFF2-40B4-BE49-F238E27FC236}">
                <a16:creationId xmlns:a16="http://schemas.microsoft.com/office/drawing/2014/main" id="{8679B1E4-28DB-46D9-B558-C1681077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mécanisme de position complète la représentation des tokens.</a:t>
            </a:r>
          </a:p>
        </p:txBody>
      </p:sp>
      <p:sp>
        <p:nvSpPr>
          <p:cNvPr id="6" name="Il permet au système d’exploiter des relations lié">
            <a:extLst xmlns:a="http://schemas.openxmlformats.org/drawingml/2006/main">
              <a:ext uri="{FF2B5EF4-FFF2-40B4-BE49-F238E27FC236}">
                <a16:creationId xmlns:a16="http://schemas.microsoft.com/office/drawing/2014/main" id="{98758C91-3D84-4ADE-AF85-5AD2A37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Il permet au système d’exploiter des relations liées à leur ordre.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AFA11D6-E186-4560-BDB4-CA8D981C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approches de positionnement varient selon l’ar">
            <a:extLst xmlns:a="http://schemas.openxmlformats.org/drawingml/2006/main">
              <a:ext uri="{FF2B5EF4-FFF2-40B4-BE49-F238E27FC236}">
                <a16:creationId xmlns:a16="http://schemas.microsoft.com/office/drawing/2014/main" id="{1C50D90C-3DAD-4C76-82B9-E983E178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approches de positionnement varient selon l’architecture.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1afa09b1248d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7 / 36">
            <a:extLst xmlns:a="http://schemas.openxmlformats.org/drawingml/2006/main">
              <a:ext uri="{FF2B5EF4-FFF2-40B4-BE49-F238E27FC236}">
                <a16:creationId xmlns:a16="http://schemas.microsoft.com/office/drawing/2014/main" id="{1B57731D-ABCF-4B43-A835-41DB5EAB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07 / 36</a:t>
            </a:r>
          </a:p>
        </p:txBody>
      </p:sp>
    </p:spTree>
    <p:extLst>
      <p:ext uri="{BB962C8B-B14F-4D97-AF65-F5344CB8AC3E}">
        <p14:creationId xmlns:p14="http://schemas.microsoft.com/office/powerpoint/2010/main" val="1445166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5FCA0-8856-4B9C-8ABC-B24A48E3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235C676E-6A29-4AF1-A141-1021B66C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embeddings">
            <a:extLst xmlns:a="http://schemas.openxmlformats.org/drawingml/2006/main">
              <a:ext uri="{FF2B5EF4-FFF2-40B4-BE49-F238E27FC236}">
                <a16:creationId xmlns:a16="http://schemas.microsoft.com/office/drawing/2014/main" id="{36837B45-BB44-410C-8BCA-A04CE62A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embeddings</a:t>
            </a:r>
          </a:p>
        </p:txBody>
      </p:sp>
      <p:sp>
        <p:nvSpPr>
          <p:cNvPr id="4" name="Un embedding représente un contenu par un vecteur ">
            <a:extLst xmlns:a="http://schemas.openxmlformats.org/drawingml/2006/main">
              <a:ext uri="{FF2B5EF4-FFF2-40B4-BE49-F238E27FC236}">
                <a16:creationId xmlns:a16="http://schemas.microsoft.com/office/drawing/2014/main" id="{A94CA992-DFD4-41D5-B90C-61ADF354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embedding représente un contenu par un vecteur numérique.</a:t>
            </a:r>
          </a:p>
        </p:txBody>
      </p:sp>
      <p:sp>
        <p:nvSpPr>
          <p:cNvPr id="5" name="Des contenus proches peuvent recevoir des représen">
            <a:extLst xmlns:a="http://schemas.openxmlformats.org/drawingml/2006/main">
              <a:ext uri="{FF2B5EF4-FFF2-40B4-BE49-F238E27FC236}">
                <a16:creationId xmlns:a16="http://schemas.microsoft.com/office/drawing/2014/main" id="{7394260D-5613-484A-ABCE-1F48089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contenus proches peuvent recevoir des représentations proches dans cet espace.</a:t>
            </a:r>
          </a:p>
        </p:txBody>
      </p:sp>
      <p:sp>
        <p:nvSpPr>
          <p:cNvPr id="6" name="La représentation dépend du modèle et de la tâche ">
            <a:extLst xmlns:a="http://schemas.openxmlformats.org/drawingml/2006/main">
              <a:ext uri="{FF2B5EF4-FFF2-40B4-BE49-F238E27FC236}">
                <a16:creationId xmlns:a16="http://schemas.microsoft.com/office/drawing/2014/main" id="{1C5C3EC4-02C8-4F82-9C8F-75400213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représentation dépend du modèle et de la tâche pour laquelle il convient.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B39B55F4-26C9-47F1-9986-286B1898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Exemple : retrouver un passage qui reformule la qu">
            <a:extLst xmlns:a="http://schemas.openxmlformats.org/drawingml/2006/main">
              <a:ext uri="{FF2B5EF4-FFF2-40B4-BE49-F238E27FC236}">
                <a16:creationId xmlns:a16="http://schemas.microsoft.com/office/drawing/2014/main" id="{B73D6414-D564-4B82-8292-2F1AA7F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Exemple : retrouver un passage qui reformule la question.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7412926aa44a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8 / 36">
            <a:extLst xmlns:a="http://schemas.openxmlformats.org/drawingml/2006/main">
              <a:ext uri="{FF2B5EF4-FFF2-40B4-BE49-F238E27FC236}">
                <a16:creationId xmlns:a16="http://schemas.microsoft.com/office/drawing/2014/main" id="{24DE23C0-A07A-4300-865D-C82D905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08 / 36</a:t>
            </a:r>
          </a:p>
        </p:txBody>
      </p:sp>
    </p:spTree>
    <p:extLst>
      <p:ext uri="{BB962C8B-B14F-4D97-AF65-F5344CB8AC3E}">
        <p14:creationId xmlns:p14="http://schemas.microsoft.com/office/powerpoint/2010/main" val="4615813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9C9FB-25FB-4820-B3BB-BF88028E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C1E02C9F-F9B4-4978-B8D0-DC246D5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similarité vectorielle">
            <a:extLst xmlns:a="http://schemas.openxmlformats.org/drawingml/2006/main">
              <a:ext uri="{FF2B5EF4-FFF2-40B4-BE49-F238E27FC236}">
                <a16:creationId xmlns:a16="http://schemas.microsoft.com/office/drawing/2014/main" id="{7E2FBC29-4299-464F-81A1-C52E254F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similarité vectorielle</a:t>
            </a:r>
          </a:p>
        </p:txBody>
      </p:sp>
      <p:sp>
        <p:nvSpPr>
          <p:cNvPr id="4" name="Une mesure de proximité aide à classer les résulta">
            <a:extLst xmlns:a="http://schemas.openxmlformats.org/drawingml/2006/main">
              <a:ext uri="{FF2B5EF4-FFF2-40B4-BE49-F238E27FC236}">
                <a16:creationId xmlns:a16="http://schemas.microsoft.com/office/drawing/2014/main" id="{C4673355-530C-4722-AA34-F0D43E1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mesure de proximité aide à classer les résultats.</a:t>
            </a:r>
          </a:p>
        </p:txBody>
      </p:sp>
      <p:sp>
        <p:nvSpPr>
          <p:cNvPr id="5" name="La similarité cosinus compare l’orientation de deu">
            <a:extLst xmlns:a="http://schemas.openxmlformats.org/drawingml/2006/main">
              <a:ext uri="{FF2B5EF4-FFF2-40B4-BE49-F238E27FC236}">
                <a16:creationId xmlns:a16="http://schemas.microsoft.com/office/drawing/2014/main" id="{25DD7F9D-0EA5-43F9-B7AD-6636142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similarité cosinus compare l’orientation de deux vecteurs.</a:t>
            </a:r>
          </a:p>
        </p:txBody>
      </p:sp>
      <p:sp>
        <p:nvSpPr>
          <p:cNvPr id="6" name="Un score élevé peut guider la recherche sans garan">
            <a:extLst xmlns:a="http://schemas.openxmlformats.org/drawingml/2006/main">
              <a:ext uri="{FF2B5EF4-FFF2-40B4-BE49-F238E27FC236}">
                <a16:creationId xmlns:a16="http://schemas.microsoft.com/office/drawing/2014/main" id="{2DFF5C56-180A-4F86-91B0-741DBEE3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score élevé peut guider la recherche sans garantir une réponse pertinente.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68ED00D-3584-4938-B376-259EDBD2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Évaluer les résultats sur de vraies questions du d">
            <a:extLst xmlns:a="http://schemas.openxmlformats.org/drawingml/2006/main">
              <a:ext uri="{FF2B5EF4-FFF2-40B4-BE49-F238E27FC236}">
                <a16:creationId xmlns:a16="http://schemas.microsoft.com/office/drawing/2014/main" id="{F6586310-85A6-4E20-80CA-EE799F0B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Évaluer les résultats sur de vraies questions du domaine.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8664719dc438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09 / 36">
            <a:extLst xmlns:a="http://schemas.openxmlformats.org/drawingml/2006/main">
              <a:ext uri="{FF2B5EF4-FFF2-40B4-BE49-F238E27FC236}">
                <a16:creationId xmlns:a16="http://schemas.microsoft.com/office/drawing/2014/main" id="{031F6CBF-AAE2-4434-BE9A-1F3689F2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09 / 36</a:t>
            </a:r>
          </a:p>
        </p:txBody>
      </p:sp>
    </p:spTree>
    <p:extLst>
      <p:ext uri="{BB962C8B-B14F-4D97-AF65-F5344CB8AC3E}">
        <p14:creationId xmlns:p14="http://schemas.microsoft.com/office/powerpoint/2010/main" val="13882300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6E2D4-1A0B-46D6-9329-C381F683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C23810FE-C4EE-426F-AD3C-897D7A61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base vectorielle">
            <a:extLst xmlns:a="http://schemas.openxmlformats.org/drawingml/2006/main">
              <a:ext uri="{FF2B5EF4-FFF2-40B4-BE49-F238E27FC236}">
                <a16:creationId xmlns:a16="http://schemas.microsoft.com/office/drawing/2014/main" id="{DB8A135E-9C35-4ABF-9726-93FC8529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base vectorielle</a:t>
            </a:r>
          </a:p>
        </p:txBody>
      </p:sp>
      <p:sp>
        <p:nvSpPr>
          <p:cNvPr id="4" name="L’index facilite la recherche parmi des représenta">
            <a:extLst xmlns:a="http://schemas.openxmlformats.org/drawingml/2006/main">
              <a:ext uri="{FF2B5EF4-FFF2-40B4-BE49-F238E27FC236}">
                <a16:creationId xmlns:a16="http://schemas.microsoft.com/office/drawing/2014/main" id="{35EE5996-9767-43AE-B371-CDC02F1C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L’index facilite la recherche parmi des représentations.</a:t>
            </a:r>
          </a:p>
        </p:txBody>
      </p:sp>
      <p:sp>
        <p:nvSpPr>
          <p:cNvPr id="5" name="Chaque fragment associe un vecteur au texte et à s">
            <a:extLst xmlns:a="http://schemas.openxmlformats.org/drawingml/2006/main">
              <a:ext uri="{FF2B5EF4-FFF2-40B4-BE49-F238E27FC236}">
                <a16:creationId xmlns:a16="http://schemas.microsoft.com/office/drawing/2014/main" id="{43531497-1E45-44DE-80C7-3ABDDE79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Chaque fragment associe un vecteur au texte et à ses métadonnées.</a:t>
            </a:r>
          </a:p>
        </p:txBody>
      </p:sp>
      <p:sp>
        <p:nvSpPr>
          <p:cNvPr id="6" name="La recherche retourne des candidats à examiner ou ">
            <a:extLst xmlns:a="http://schemas.openxmlformats.org/drawingml/2006/main">
              <a:ext uri="{FF2B5EF4-FFF2-40B4-BE49-F238E27FC236}">
                <a16:creationId xmlns:a16="http://schemas.microsoft.com/office/drawing/2014/main" id="{8805F5C1-2064-480A-88C9-9E79E7EB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recherche retourne des candidats à examiner ou à réordonner.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3A5F769-C619-4826-8087-04BEB409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s droits d’accès doivent s’appliquer aux documen">
            <a:extLst xmlns:a="http://schemas.openxmlformats.org/drawingml/2006/main">
              <a:ext uri="{FF2B5EF4-FFF2-40B4-BE49-F238E27FC236}">
                <a16:creationId xmlns:a16="http://schemas.microsoft.com/office/drawing/2014/main" id="{6085F7A1-E52E-476E-869C-A28AE356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Les droits d’accès doivent s’appliquer aux documents retrouvés.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e6957fbd841a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0 / 36">
            <a:extLst xmlns:a="http://schemas.openxmlformats.org/drawingml/2006/main">
              <a:ext uri="{FF2B5EF4-FFF2-40B4-BE49-F238E27FC236}">
                <a16:creationId xmlns:a16="http://schemas.microsoft.com/office/drawing/2014/main" id="{F50383DD-858D-4B87-8641-F1BF09DF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10 / 36</a:t>
            </a:r>
          </a:p>
        </p:txBody>
      </p:sp>
    </p:spTree>
    <p:extLst>
      <p:ext uri="{BB962C8B-B14F-4D97-AF65-F5344CB8AC3E}">
        <p14:creationId xmlns:p14="http://schemas.microsoft.com/office/powerpoint/2010/main" val="91211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B99A0-A79F-4D5D-92A1-2BEF7BAE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8296AB58-C4D0-4907-BB23-308BB79F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architecture RAG">
            <a:extLst xmlns:a="http://schemas.openxmlformats.org/drawingml/2006/main">
              <a:ext uri="{FF2B5EF4-FFF2-40B4-BE49-F238E27FC236}">
                <a16:creationId xmlns:a16="http://schemas.microsoft.com/office/drawing/2014/main" id="{1396E6DE-4E49-4EF1-8408-C8FA504F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L’architecture RAG</a:t>
            </a:r>
          </a:p>
        </p:txBody>
      </p:sp>
      <p:sp>
        <p:nvSpPr>
          <p:cNvPr id="4" name="Deux phases organisent le fonctionnement documenta">
            <a:extLst xmlns:a="http://schemas.openxmlformats.org/drawingml/2006/main">
              <a:ext uri="{FF2B5EF4-FFF2-40B4-BE49-F238E27FC236}">
                <a16:creationId xmlns:a16="http://schemas.microsoft.com/office/drawing/2014/main" id="{698D4CDB-58C2-4DE1-A3D7-969D341E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Deux phases organisent le fonctionnement documentaire.</a:t>
            </a:r>
          </a:p>
        </p:txBody>
      </p:sp>
      <p:sp>
        <p:nvSpPr>
          <p:cNvPr id="5" name="Préparation : collecter les sources, les découper ">
            <a:extLst xmlns:a="http://schemas.openxmlformats.org/drawingml/2006/main">
              <a:ext uri="{FF2B5EF4-FFF2-40B4-BE49-F238E27FC236}">
                <a16:creationId xmlns:a16="http://schemas.microsoft.com/office/drawing/2014/main" id="{030C5528-86E4-441F-B2BB-8ECB7C2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Préparation : collecter les sources, les découper et les indexer.</a:t>
            </a:r>
          </a:p>
        </p:txBody>
      </p:sp>
      <p:sp>
        <p:nvSpPr>
          <p:cNvPr id="6" name="Réponse : chercher des extraits, construire le con">
            <a:extLst xmlns:a="http://schemas.openxmlformats.org/drawingml/2006/main">
              <a:ext uri="{FF2B5EF4-FFF2-40B4-BE49-F238E27FC236}">
                <a16:creationId xmlns:a16="http://schemas.microsoft.com/office/drawing/2014/main" id="{DEA50DE8-B124-4200-8F81-89A3299E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Réponse : chercher des extraits, construire le contexte et générer une réponse.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B97CC77-055A-4AF4-A808-2A5CB186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Séparer les phases aide à diagnostiquer les erreur">
            <a:extLst xmlns:a="http://schemas.openxmlformats.org/drawingml/2006/main">
              <a:ext uri="{FF2B5EF4-FFF2-40B4-BE49-F238E27FC236}">
                <a16:creationId xmlns:a16="http://schemas.microsoft.com/office/drawing/2014/main" id="{D2CB43F0-BFC6-4F7C-94CA-745419D9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Séparer les phases aide à diagnostiquer les erreurs.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4e58f7bcc48d6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1 / 36">
            <a:extLst xmlns:a="http://schemas.openxmlformats.org/drawingml/2006/main">
              <a:ext uri="{FF2B5EF4-FFF2-40B4-BE49-F238E27FC236}">
                <a16:creationId xmlns:a16="http://schemas.microsoft.com/office/drawing/2014/main" id="{D615C473-BCA7-4586-A72B-AFA59C55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11 / 36</a:t>
            </a:r>
          </a:p>
        </p:txBody>
      </p:sp>
    </p:spTree>
    <p:extLst>
      <p:ext uri="{BB962C8B-B14F-4D97-AF65-F5344CB8AC3E}">
        <p14:creationId xmlns:p14="http://schemas.microsoft.com/office/powerpoint/2010/main" val="15976983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50AC7-1EBF-4DFA-BE0E-69F65B27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FB20B058-B5A5-480A-821C-ED0053BE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ingestion des documents">
            <a:extLst xmlns:a="http://schemas.openxmlformats.org/drawingml/2006/main">
              <a:ext uri="{FF2B5EF4-FFF2-40B4-BE49-F238E27FC236}">
                <a16:creationId xmlns:a16="http://schemas.microsoft.com/office/drawing/2014/main" id="{A836638D-816B-42FF-B335-F98FD9BB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L’ingestion des documents</a:t>
            </a:r>
          </a:p>
        </p:txBody>
      </p:sp>
      <p:sp>
        <p:nvSpPr>
          <p:cNvPr id="4" name="Le nettoyage prépare les contenus à la recherche.">
            <a:extLst xmlns:a="http://schemas.openxmlformats.org/drawingml/2006/main">
              <a:ext uri="{FF2B5EF4-FFF2-40B4-BE49-F238E27FC236}">
                <a16:creationId xmlns:a16="http://schemas.microsoft.com/office/drawing/2014/main" id="{EFEBB800-2240-4C4C-B41C-E19BA49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nettoyage prépare les contenus à la recherche.</a:t>
            </a:r>
          </a:p>
        </p:txBody>
      </p:sp>
      <p:sp>
        <p:nvSpPr>
          <p:cNvPr id="5" name="Écartez les doublons et extrayez le texte utile av">
            <a:extLst xmlns:a="http://schemas.openxmlformats.org/drawingml/2006/main">
              <a:ext uri="{FF2B5EF4-FFF2-40B4-BE49-F238E27FC236}">
                <a16:creationId xmlns:a16="http://schemas.microsoft.com/office/drawing/2014/main" id="{052AEEFA-5855-4083-8042-D99B6AF9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Écartez les doublons et extrayez le texte utile avec sa structure.</a:t>
            </a:r>
          </a:p>
        </p:txBody>
      </p:sp>
      <p:sp>
        <p:nvSpPr>
          <p:cNvPr id="6" name="Conservez la source, la version, la date et les rè">
            <a:extLst xmlns:a="http://schemas.openxmlformats.org/drawingml/2006/main">
              <a:ext uri="{FF2B5EF4-FFF2-40B4-BE49-F238E27FC236}">
                <a16:creationId xmlns:a16="http://schemas.microsoft.com/office/drawing/2014/main" id="{502F3F1B-5AE4-4BCB-A4FE-20CC6F53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la source, la version, la date et les règles d’accès.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1FB9878-C377-4BB0-A58A-3F09061A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Vérifier particulièrement les tableaux et les PDF ">
            <a:extLst xmlns:a="http://schemas.openxmlformats.org/drawingml/2006/main">
              <a:ext uri="{FF2B5EF4-FFF2-40B4-BE49-F238E27FC236}">
                <a16:creationId xmlns:a16="http://schemas.microsoft.com/office/drawing/2014/main" id="{C5CC53D6-E33B-40DD-96A4-00A1E2FF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Vérifier particulièrement les tableaux et les PDF mal extraits.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918581d75a400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2 / 36">
            <a:extLst xmlns:a="http://schemas.openxmlformats.org/drawingml/2006/main">
              <a:ext uri="{FF2B5EF4-FFF2-40B4-BE49-F238E27FC236}">
                <a16:creationId xmlns:a16="http://schemas.microsoft.com/office/drawing/2014/main" id="{B5551070-0425-4C42-8213-9E36B4D9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12 / 36</a:t>
            </a:r>
          </a:p>
        </p:txBody>
      </p:sp>
    </p:spTree>
    <p:extLst>
      <p:ext uri="{BB962C8B-B14F-4D97-AF65-F5344CB8AC3E}">
        <p14:creationId xmlns:p14="http://schemas.microsoft.com/office/powerpoint/2010/main" val="6079928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5AFED-495D-4812-B9AD-BD251BA1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E8D4FFA8-BC17-4174-A469-4C9F1BE1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découpage des textes">
            <a:extLst xmlns:a="http://schemas.openxmlformats.org/drawingml/2006/main">
              <a:ext uri="{FF2B5EF4-FFF2-40B4-BE49-F238E27FC236}">
                <a16:creationId xmlns:a16="http://schemas.microsoft.com/office/drawing/2014/main" id="{9E4F1E3C-A225-47C1-A9EA-7F0F6498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découpage des textes</a:t>
            </a:r>
          </a:p>
        </p:txBody>
      </p:sp>
      <p:sp>
        <p:nvSpPr>
          <p:cNvPr id="4" name="Un fragment doit garder suffisamment de contexte p">
            <a:extLst xmlns:a="http://schemas.openxmlformats.org/drawingml/2006/main">
              <a:ext uri="{FF2B5EF4-FFF2-40B4-BE49-F238E27FC236}">
                <a16:creationId xmlns:a16="http://schemas.microsoft.com/office/drawing/2014/main" id="{196B8465-AF93-4294-AD83-B8EBB720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fragment doit garder suffisamment de contexte pour être compris.</a:t>
            </a:r>
          </a:p>
        </p:txBody>
      </p:sp>
      <p:sp>
        <p:nvSpPr>
          <p:cNvPr id="5" name="Testez des découpages qui respectent les titres et">
            <a:extLst xmlns:a="http://schemas.openxmlformats.org/drawingml/2006/main">
              <a:ext uri="{FF2B5EF4-FFF2-40B4-BE49-F238E27FC236}">
                <a16:creationId xmlns:a16="http://schemas.microsoft.com/office/drawing/2014/main" id="{E6EE111B-193F-445D-A801-0A9CD60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des découpages qui respectent les titres et les unités de sens.</a:t>
            </a:r>
          </a:p>
        </p:txBody>
      </p:sp>
      <p:sp>
        <p:nvSpPr>
          <p:cNvPr id="6" name="Comparez plusieurs réglages avec les mêmes questio">
            <a:extLst xmlns:a="http://schemas.openxmlformats.org/drawingml/2006/main">
              <a:ext uri="{FF2B5EF4-FFF2-40B4-BE49-F238E27FC236}">
                <a16:creationId xmlns:a16="http://schemas.microsoft.com/office/drawing/2014/main" id="{B812925F-2266-4F29-AFAE-D2B1E000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plusieurs réglages avec les mêmes questions de référence.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6A92462-0B4E-4500-B3D0-5086545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Il n’existe pas de taille optimale universelle.">
            <a:extLst xmlns:a="http://schemas.openxmlformats.org/drawingml/2006/main">
              <a:ext uri="{FF2B5EF4-FFF2-40B4-BE49-F238E27FC236}">
                <a16:creationId xmlns:a16="http://schemas.microsoft.com/office/drawing/2014/main" id="{CB7835D6-528A-428C-99E4-676CC67F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Il n’existe pas de taille optimale universelle.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b4b48fe83422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3 / 36">
            <a:extLst xmlns:a="http://schemas.openxmlformats.org/drawingml/2006/main">
              <a:ext uri="{FF2B5EF4-FFF2-40B4-BE49-F238E27FC236}">
                <a16:creationId xmlns:a16="http://schemas.microsoft.com/office/drawing/2014/main" id="{4907F005-D137-4727-80AB-94DCE67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13 / 36</a:t>
            </a:r>
          </a:p>
        </p:txBody>
      </p:sp>
    </p:spTree>
    <p:extLst>
      <p:ext uri="{BB962C8B-B14F-4D97-AF65-F5344CB8AC3E}">
        <p14:creationId xmlns:p14="http://schemas.microsoft.com/office/powerpoint/2010/main" val="1557930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5EC92-B596-4F91-931F-6EC9E7FB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7895CB6E-FEAF-4C00-89F4-D535A073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recherche de passages">
            <a:extLst xmlns:a="http://schemas.openxmlformats.org/drawingml/2006/main">
              <a:ext uri="{FF2B5EF4-FFF2-40B4-BE49-F238E27FC236}">
                <a16:creationId xmlns:a16="http://schemas.microsoft.com/office/drawing/2014/main" id="{FFA677A0-FCAD-4AB4-BA13-7412E877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recherche de passages</a:t>
            </a:r>
          </a:p>
        </p:txBody>
      </p:sp>
      <p:sp>
        <p:nvSpPr>
          <p:cNvPr id="4" name="La recherche vise les informations nécessaires à l">
            <a:extLst xmlns:a="http://schemas.openxmlformats.org/drawingml/2006/main">
              <a:ext uri="{FF2B5EF4-FFF2-40B4-BE49-F238E27FC236}">
                <a16:creationId xmlns:a16="http://schemas.microsoft.com/office/drawing/2014/main" id="{78B9638D-FDC7-40BE-866A-FE65EDE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recherche vise les informations nécessaires à la réponse.</a:t>
            </a:r>
          </a:p>
        </p:txBody>
      </p:sp>
      <p:sp>
        <p:nvSpPr>
          <p:cNvPr id="5" name="Transformez la question dans le format attendu par">
            <a:extLst xmlns:a="http://schemas.openxmlformats.org/drawingml/2006/main">
              <a:ext uri="{FF2B5EF4-FFF2-40B4-BE49-F238E27FC236}">
                <a16:creationId xmlns:a16="http://schemas.microsoft.com/office/drawing/2014/main" id="{88A0901A-EEE3-47BF-ACEA-EC5784EC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Transformez la question dans le format attendu par le moteur de recherche.</a:t>
            </a:r>
          </a:p>
        </p:txBody>
      </p:sp>
      <p:sp>
        <p:nvSpPr>
          <p:cNvPr id="6" name="Examinez les résultats et leurs métadonnées avant ">
            <a:extLst xmlns:a="http://schemas.openxmlformats.org/drawingml/2006/main">
              <a:ext uri="{FF2B5EF4-FFF2-40B4-BE49-F238E27FC236}">
                <a16:creationId xmlns:a16="http://schemas.microsoft.com/office/drawing/2014/main" id="{ACC3BC6B-D750-4042-B416-F5808F6F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Examinez les résultats et leurs métadonnées avant de construire le contexte.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5EDAAA87-67B5-475D-9C25-21A184F7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e erreur de recherche ne se corrige pas toujours">
            <a:extLst xmlns:a="http://schemas.openxmlformats.org/drawingml/2006/main">
              <a:ext uri="{FF2B5EF4-FFF2-40B4-BE49-F238E27FC236}">
                <a16:creationId xmlns:a16="http://schemas.microsoft.com/office/drawing/2014/main" id="{19AA8109-6EF9-4BB1-8809-3CC69D75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Une erreur de recherche ne se corrige pas toujours dans le prompt.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86ec41e3741f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4 / 36">
            <a:extLst xmlns:a="http://schemas.openxmlformats.org/drawingml/2006/main">
              <a:ext uri="{FF2B5EF4-FFF2-40B4-BE49-F238E27FC236}">
                <a16:creationId xmlns:a16="http://schemas.microsoft.com/office/drawing/2014/main" id="{D2E44C99-6EE0-4CBB-BE7C-95B1A968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14 / 36</a:t>
            </a:r>
          </a:p>
        </p:txBody>
      </p:sp>
    </p:spTree>
    <p:extLst>
      <p:ext uri="{BB962C8B-B14F-4D97-AF65-F5344CB8AC3E}">
        <p14:creationId xmlns:p14="http://schemas.microsoft.com/office/powerpoint/2010/main" val="7775274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56195-830D-46F7-B4FB-3833DE6E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0B056DED-EAD3-4308-A711-E5BE2137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amélioration du retrieval">
            <a:extLst xmlns:a="http://schemas.openxmlformats.org/drawingml/2006/main">
              <a:ext uri="{FF2B5EF4-FFF2-40B4-BE49-F238E27FC236}">
                <a16:creationId xmlns:a16="http://schemas.microsoft.com/office/drawing/2014/main" id="{633037F1-0A4D-41FE-AA4B-8EE7D194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L’amélioration du retrieval</a:t>
            </a:r>
          </a:p>
        </p:txBody>
      </p:sp>
      <p:sp>
        <p:nvSpPr>
          <p:cNvPr id="4" name="Plusieurs signaux peuvent améliorer le classement ">
            <a:extLst xmlns:a="http://schemas.openxmlformats.org/drawingml/2006/main">
              <a:ext uri="{FF2B5EF4-FFF2-40B4-BE49-F238E27FC236}">
                <a16:creationId xmlns:a16="http://schemas.microsoft.com/office/drawing/2014/main" id="{C76CBDE6-2FDC-4A75-9474-7256D6B4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Plusieurs signaux peuvent améliorer le classement des passages.</a:t>
            </a:r>
          </a:p>
        </p:txBody>
      </p:sp>
      <p:sp>
        <p:nvSpPr>
          <p:cNvPr id="5" name="Une recherche hybride peut combiner termes exacts ">
            <a:extLst xmlns:a="http://schemas.openxmlformats.org/drawingml/2006/main">
              <a:ext uri="{FF2B5EF4-FFF2-40B4-BE49-F238E27FC236}">
                <a16:creationId xmlns:a16="http://schemas.microsoft.com/office/drawing/2014/main" id="{2746E56B-328C-44FE-8D97-B5B51292C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Une recherche hybride peut combiner termes exacts et proximité sémantique.</a:t>
            </a:r>
          </a:p>
        </p:txBody>
      </p:sp>
      <p:sp>
        <p:nvSpPr>
          <p:cNvPr id="6" name="Un réordonnancement peut affiner la sélection des ">
            <a:extLst xmlns:a="http://schemas.openxmlformats.org/drawingml/2006/main">
              <a:ext uri="{FF2B5EF4-FFF2-40B4-BE49-F238E27FC236}">
                <a16:creationId xmlns:a16="http://schemas.microsoft.com/office/drawing/2014/main" id="{61CBD4A7-7059-47F6-B9E3-1C51745F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réordonnancement peut affiner la sélection des premiers résultats.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14619E7-DC0E-4528-994C-DE76EE3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mparer la qualité obtenue avec le coût et la lat">
            <a:extLst xmlns:a="http://schemas.openxmlformats.org/drawingml/2006/main">
              <a:ext uri="{FF2B5EF4-FFF2-40B4-BE49-F238E27FC236}">
                <a16:creationId xmlns:a16="http://schemas.microsoft.com/office/drawing/2014/main" id="{6E06116D-2BA0-498E-804A-37821E1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Comparer la qualité obtenue avec le coût et la latence ajoutés.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3bce7b8484dcf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5 / 36">
            <a:extLst xmlns:a="http://schemas.openxmlformats.org/drawingml/2006/main">
              <a:ext uri="{FF2B5EF4-FFF2-40B4-BE49-F238E27FC236}">
                <a16:creationId xmlns:a16="http://schemas.microsoft.com/office/drawing/2014/main" id="{ED159F82-6517-46DF-BCEF-1B7B7C38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15 / 36</a:t>
            </a:r>
          </a:p>
        </p:txBody>
      </p:sp>
    </p:spTree>
    <p:extLst>
      <p:ext uri="{BB962C8B-B14F-4D97-AF65-F5344CB8AC3E}">
        <p14:creationId xmlns:p14="http://schemas.microsoft.com/office/powerpoint/2010/main" val="18277760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57309-23BE-4442-99F2-FDB99A5E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6FC9B1AB-5C8E-464A-B076-414E2EBEB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réponse sourcée">
            <a:extLst xmlns:a="http://schemas.openxmlformats.org/drawingml/2006/main">
              <a:ext uri="{FF2B5EF4-FFF2-40B4-BE49-F238E27FC236}">
                <a16:creationId xmlns:a16="http://schemas.microsoft.com/office/drawing/2014/main" id="{19E8E7F1-21E8-4886-AE6D-449C3EA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réponse sourcée</a:t>
            </a:r>
          </a:p>
        </p:txBody>
      </p:sp>
      <p:sp>
        <p:nvSpPr>
          <p:cNvPr id="4" name="Le contexte documentaire délimite les éléments dis">
            <a:extLst xmlns:a="http://schemas.openxmlformats.org/drawingml/2006/main">
              <a:ext uri="{FF2B5EF4-FFF2-40B4-BE49-F238E27FC236}">
                <a16:creationId xmlns:a16="http://schemas.microsoft.com/office/drawing/2014/main" id="{FB46FF35-A5DE-4D7F-AABB-E3E363E6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contexte documentaire délimite les éléments disponibles.</a:t>
            </a:r>
          </a:p>
        </p:txBody>
      </p:sp>
      <p:sp>
        <p:nvSpPr>
          <p:cNvPr id="5" name="Demandez une réponse liée aux passages fournis et ">
            <a:extLst xmlns:a="http://schemas.openxmlformats.org/drawingml/2006/main">
              <a:ext uri="{FF2B5EF4-FFF2-40B4-BE49-F238E27FC236}">
                <a16:creationId xmlns:a16="http://schemas.microsoft.com/office/drawing/2014/main" id="{E930B116-CE28-49A3-A759-2553A1A6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réponse liée aux passages fournis et des références identifiables.</a:t>
            </a:r>
          </a:p>
        </p:txBody>
      </p:sp>
      <p:sp>
        <p:nvSpPr>
          <p:cNvPr id="6" name="Prévoyez une réponse d’incertitude lorsque les ext">
            <a:extLst xmlns:a="http://schemas.openxmlformats.org/drawingml/2006/main">
              <a:ext uri="{FF2B5EF4-FFF2-40B4-BE49-F238E27FC236}">
                <a16:creationId xmlns:a16="http://schemas.microsoft.com/office/drawing/2014/main" id="{9DC4D350-26BC-4151-8ADA-99759A26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Prévoyez une réponse d’incertitude lorsque les extraits sont insuffisants.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A3BACA9-4FBC-43EE-8B24-62F9BABB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trôler les citations et la fidélité au contenu.">
            <a:extLst xmlns:a="http://schemas.openxmlformats.org/drawingml/2006/main">
              <a:ext uri="{FF2B5EF4-FFF2-40B4-BE49-F238E27FC236}">
                <a16:creationId xmlns:a16="http://schemas.microsoft.com/office/drawing/2014/main" id="{333ADB5E-3A9E-4367-B4CB-CDB9BBCD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Contrôler les citations et la fidélité au contenu.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01540d84da471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6 / 36">
            <a:extLst xmlns:a="http://schemas.openxmlformats.org/drawingml/2006/main">
              <a:ext uri="{FF2B5EF4-FFF2-40B4-BE49-F238E27FC236}">
                <a16:creationId xmlns:a16="http://schemas.microsoft.com/office/drawing/2014/main" id="{0EC91B44-765F-4235-9553-BD00E90A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16 / 36</a:t>
            </a:r>
          </a:p>
        </p:txBody>
      </p:sp>
    </p:spTree>
    <p:extLst>
      <p:ext uri="{BB962C8B-B14F-4D97-AF65-F5344CB8AC3E}">
        <p14:creationId xmlns:p14="http://schemas.microsoft.com/office/powerpoint/2010/main" val="20471492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1BF23-2680-4811-A615-C0DA26E04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5611D8AF-4220-43E2-897F-FDEB7A09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RAG minimal">
            <a:extLst xmlns:a="http://schemas.openxmlformats.org/drawingml/2006/main">
              <a:ext uri="{FF2B5EF4-FFF2-40B4-BE49-F238E27FC236}">
                <a16:creationId xmlns:a16="http://schemas.microsoft.com/office/drawing/2014/main" id="{E66707F5-9DE9-4F3D-85F8-F90DDDCE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RAG minimal</a:t>
            </a:r>
          </a:p>
        </p:txBody>
      </p:sp>
      <p:sp>
        <p:nvSpPr>
          <p:cNvPr id="4" name="Construire un premier parcours documentaire testab">
            <a:extLst xmlns:a="http://schemas.openxmlformats.org/drawingml/2006/main">
              <a:ext uri="{FF2B5EF4-FFF2-40B4-BE49-F238E27FC236}">
                <a16:creationId xmlns:a16="http://schemas.microsoft.com/office/drawing/2014/main" id="{1888E34C-70CA-46ED-B949-7F03D363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Construire un premier parcours documentaire testable.</a:t>
            </a:r>
          </a:p>
        </p:txBody>
      </p:sp>
      <p:sp>
        <p:nvSpPr>
          <p:cNvPr id="5" name="Préparez un petit corpus fictif ou autorisé et un ">
            <a:extLst xmlns:a="http://schemas.openxmlformats.org/drawingml/2006/main">
              <a:ext uri="{FF2B5EF4-FFF2-40B4-BE49-F238E27FC236}">
                <a16:creationId xmlns:a16="http://schemas.microsoft.com/office/drawing/2014/main" id="{367EF014-110C-42CE-9F35-EC3B8300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Préparez un petit corpus fictif ou autorisé et un ensemble de questions.</a:t>
            </a:r>
          </a:p>
        </p:txBody>
      </p:sp>
      <p:sp>
        <p:nvSpPr>
          <p:cNvPr id="6" name="Implémentez l’ingestion et la recherche, puis insp">
            <a:extLst xmlns:a="http://schemas.openxmlformats.org/drawingml/2006/main">
              <a:ext uri="{FF2B5EF4-FFF2-40B4-BE49-F238E27FC236}">
                <a16:creationId xmlns:a16="http://schemas.microsoft.com/office/drawing/2014/main" id="{B18935E7-AFA2-4966-8818-47B565D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Implémentez l’ingestion et la recherche, puis inspectez les passages retrouvés.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A34281F3-1212-4B28-B82E-C1AF5C86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code, corpus d’essai et exemples de r">
            <a:extLst xmlns:a="http://schemas.openxmlformats.org/drawingml/2006/main">
              <a:ext uri="{FF2B5EF4-FFF2-40B4-BE49-F238E27FC236}">
                <a16:creationId xmlns:a16="http://schemas.microsoft.com/office/drawing/2014/main" id="{16FE486F-C75C-4AEF-A9C3-6CD900D9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code, corpus d’essai et exemples de réponses.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0a4f8616646b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7 / 36">
            <a:extLst xmlns:a="http://schemas.openxmlformats.org/drawingml/2006/main">
              <a:ext uri="{FF2B5EF4-FFF2-40B4-BE49-F238E27FC236}">
                <a16:creationId xmlns:a16="http://schemas.microsoft.com/office/drawing/2014/main" id="{7D1BF967-2EF9-435C-9BFE-59941EC3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17 / 36</a:t>
            </a:r>
          </a:p>
        </p:txBody>
      </p:sp>
    </p:spTree>
    <p:extLst>
      <p:ext uri="{BB962C8B-B14F-4D97-AF65-F5344CB8AC3E}">
        <p14:creationId xmlns:p14="http://schemas.microsoft.com/office/powerpoint/2010/main" val="12347918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C8E96-4CF6-4705-BFB5-4480A0BD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E5023027-87A9-451E-A738-78DB1D4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évaluation de la recherche">
            <a:extLst xmlns:a="http://schemas.openxmlformats.org/drawingml/2006/main">
              <a:ext uri="{FF2B5EF4-FFF2-40B4-BE49-F238E27FC236}">
                <a16:creationId xmlns:a16="http://schemas.microsoft.com/office/drawing/2014/main" id="{4D1F23F1-DF95-4E60-AA0D-A9F769C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L’évaluation de la recherche</a:t>
            </a:r>
          </a:p>
        </p:txBody>
      </p:sp>
      <p:sp>
        <p:nvSpPr>
          <p:cNvPr id="4" name="La recherche se mesure avant la qualité de rédacti">
            <a:extLst xmlns:a="http://schemas.openxmlformats.org/drawingml/2006/main">
              <a:ext uri="{FF2B5EF4-FFF2-40B4-BE49-F238E27FC236}">
                <a16:creationId xmlns:a16="http://schemas.microsoft.com/office/drawing/2014/main" id="{DF91C8B6-A474-4EEF-A869-D697A1EC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recherche se mesure avant la qualité de rédaction.</a:t>
            </a:r>
          </a:p>
        </p:txBody>
      </p:sp>
      <p:sp>
        <p:nvSpPr>
          <p:cNvPr id="5" name="Comparez les passages retrouvés aux documents atte">
            <a:extLst xmlns:a="http://schemas.openxmlformats.org/drawingml/2006/main">
              <a:ext uri="{FF2B5EF4-FFF2-40B4-BE49-F238E27FC236}">
                <a16:creationId xmlns:a16="http://schemas.microsoft.com/office/drawing/2014/main" id="{9E9DA48A-8D98-44B6-8E7A-E4EA7603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Comparez les passages retrouvés aux documents attendus pour chaque question.</a:t>
            </a:r>
          </a:p>
        </p:txBody>
      </p:sp>
      <p:sp>
        <p:nvSpPr>
          <p:cNvPr id="6" name="Analysez les résultats utiles et les sources impor">
            <a:extLst xmlns:a="http://schemas.openxmlformats.org/drawingml/2006/main">
              <a:ext uri="{FF2B5EF4-FFF2-40B4-BE49-F238E27FC236}">
                <a16:creationId xmlns:a16="http://schemas.microsoft.com/office/drawing/2014/main" id="{EE032085-D5FE-41E3-AE7F-ECA59D64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Analysez les résultats utiles et les sources importantes manquées.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68F0F80-EDAA-465E-951B-94959479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nserver un jeu de tests distinct des essais de r">
            <a:extLst xmlns:a="http://schemas.openxmlformats.org/drawingml/2006/main">
              <a:ext uri="{FF2B5EF4-FFF2-40B4-BE49-F238E27FC236}">
                <a16:creationId xmlns:a16="http://schemas.microsoft.com/office/drawing/2014/main" id="{7259DC1A-AC52-40F7-9076-79CEB04D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Conserver un jeu de tests distinct des essais de réglage.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8285b13cc4cf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8 / 36">
            <a:extLst xmlns:a="http://schemas.openxmlformats.org/drawingml/2006/main">
              <a:ext uri="{FF2B5EF4-FFF2-40B4-BE49-F238E27FC236}">
                <a16:creationId xmlns:a16="http://schemas.microsoft.com/office/drawing/2014/main" id="{B7708B8E-0CC4-4243-8FD1-9CC66BBD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18 / 36</a:t>
            </a:r>
          </a:p>
        </p:txBody>
      </p:sp>
    </p:spTree>
    <p:extLst>
      <p:ext uri="{BB962C8B-B14F-4D97-AF65-F5344CB8AC3E}">
        <p14:creationId xmlns:p14="http://schemas.microsoft.com/office/powerpoint/2010/main" val="20693764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1C721-5B81-4650-B723-DEBDE3AF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45D25B44-2539-42F1-904A-CA4E361B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agents et leurs outils">
            <a:extLst xmlns:a="http://schemas.openxmlformats.org/drawingml/2006/main">
              <a:ext uri="{FF2B5EF4-FFF2-40B4-BE49-F238E27FC236}">
                <a16:creationId xmlns:a16="http://schemas.microsoft.com/office/drawing/2014/main" id="{8152046E-12E6-4BD0-82FC-874D628E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agents et leurs outils</a:t>
            </a:r>
          </a:p>
        </p:txBody>
      </p:sp>
      <p:sp>
        <p:nvSpPr>
          <p:cNvPr id="4" name="Un agent peut choisir des actions dans un cadre dé">
            <a:extLst xmlns:a="http://schemas.openxmlformats.org/drawingml/2006/main">
              <a:ext uri="{FF2B5EF4-FFF2-40B4-BE49-F238E27FC236}">
                <a16:creationId xmlns:a16="http://schemas.microsoft.com/office/drawing/2014/main" id="{1271F1FF-8345-490F-B479-7B82E95F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agent peut choisir des actions dans un cadre défini.</a:t>
            </a:r>
          </a:p>
        </p:txBody>
      </p:sp>
      <p:sp>
        <p:nvSpPr>
          <p:cNvPr id="5" name="Le modèle s’appuie sur des outils, un état et des ">
            <a:extLst xmlns:a="http://schemas.openxmlformats.org/drawingml/2006/main">
              <a:ext uri="{FF2B5EF4-FFF2-40B4-BE49-F238E27FC236}">
                <a16:creationId xmlns:a16="http://schemas.microsoft.com/office/drawing/2014/main" id="{CE9DF047-A413-4FB0-95E0-342276A3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modèle s’appuie sur des outils, un état et des règles d’orchestration.</a:t>
            </a:r>
          </a:p>
        </p:txBody>
      </p:sp>
      <p:sp>
        <p:nvSpPr>
          <p:cNvPr id="6" name="L’application contrôle les possibilités d’action e">
            <a:extLst xmlns:a="http://schemas.openxmlformats.org/drawingml/2006/main">
              <a:ext uri="{FF2B5EF4-FFF2-40B4-BE49-F238E27FC236}">
                <a16:creationId xmlns:a16="http://schemas.microsoft.com/office/drawing/2014/main" id="{D3800862-B9B6-4C94-8101-1579AC3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L’application contrôle les possibilités d’action et les étapes d’exécution.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506AD22-7AC1-4700-A7EB-E1F4C5E2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’autonomie doit rester proportionnée au besoin.">
            <a:extLst xmlns:a="http://schemas.openxmlformats.org/drawingml/2006/main">
              <a:ext uri="{FF2B5EF4-FFF2-40B4-BE49-F238E27FC236}">
                <a16:creationId xmlns:a16="http://schemas.microsoft.com/office/drawing/2014/main" id="{501E08EC-A06A-4BD4-B5D2-9B5B7482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L’autonomie doit rester proportionnée au besoin.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2767f781da49b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19 / 36">
            <a:extLst xmlns:a="http://schemas.openxmlformats.org/drawingml/2006/main">
              <a:ext uri="{FF2B5EF4-FFF2-40B4-BE49-F238E27FC236}">
                <a16:creationId xmlns:a16="http://schemas.microsoft.com/office/drawing/2014/main" id="{5FD047B5-2B19-4AF8-A2A3-FEAB7391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19 / 36</a:t>
            </a:r>
          </a:p>
        </p:txBody>
      </p:sp>
    </p:spTree>
    <p:extLst>
      <p:ext uri="{BB962C8B-B14F-4D97-AF65-F5344CB8AC3E}">
        <p14:creationId xmlns:p14="http://schemas.microsoft.com/office/powerpoint/2010/main" val="1334774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22FBBD-BEF8-49DE-B95B-B98D2EAD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61A57519-B5E8-4120-8785-BEBAFC71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contrat d’un outil">
            <a:extLst xmlns:a="http://schemas.openxmlformats.org/drawingml/2006/main">
              <a:ext uri="{FF2B5EF4-FFF2-40B4-BE49-F238E27FC236}">
                <a16:creationId xmlns:a16="http://schemas.microsoft.com/office/drawing/2014/main" id="{0D244B77-4F72-4B26-8FD6-877F2451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contrat d’un outil</a:t>
            </a:r>
          </a:p>
        </p:txBody>
      </p:sp>
      <p:sp>
        <p:nvSpPr>
          <p:cNvPr id="4" name="Un appel d’outil exige une entrée et un résultat c">
            <a:extLst xmlns:a="http://schemas.openxmlformats.org/drawingml/2006/main">
              <a:ext uri="{FF2B5EF4-FFF2-40B4-BE49-F238E27FC236}">
                <a16:creationId xmlns:a16="http://schemas.microsoft.com/office/drawing/2014/main" id="{0F6FCDA4-3580-47B4-B1EC-CD3F46EA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appel d’outil exige une entrée et un résultat contrôlés.</a:t>
            </a:r>
          </a:p>
        </p:txBody>
      </p:sp>
      <p:sp>
        <p:nvSpPr>
          <p:cNvPr id="5" name="Définissez les paramètres, les types attendus et l">
            <a:extLst xmlns:a="http://schemas.openxmlformats.org/drawingml/2006/main">
              <a:ext uri="{FF2B5EF4-FFF2-40B4-BE49-F238E27FC236}">
                <a16:creationId xmlns:a16="http://schemas.microsoft.com/office/drawing/2014/main" id="{97C9823C-E1E0-44CE-A880-E417AACE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les paramètres, les types attendus et les erreurs possibles.</a:t>
            </a:r>
          </a:p>
        </p:txBody>
      </p:sp>
      <p:sp>
        <p:nvSpPr>
          <p:cNvPr id="6" name="Vérifiez les arguments et les autorisations avant ">
            <a:extLst xmlns:a="http://schemas.openxmlformats.org/drawingml/2006/main">
              <a:ext uri="{FF2B5EF4-FFF2-40B4-BE49-F238E27FC236}">
                <a16:creationId xmlns:a16="http://schemas.microsoft.com/office/drawing/2014/main" id="{978D66F9-381B-4261-B7EB-443AC2AA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Vérifiez les arguments et les autorisations avant d’exécuter l’action.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D596C6AF-C77A-4B86-847B-777311E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code applicatif impose les limites, même si le ">
            <a:extLst xmlns:a="http://schemas.openxmlformats.org/drawingml/2006/main">
              <a:ext uri="{FF2B5EF4-FFF2-40B4-BE49-F238E27FC236}">
                <a16:creationId xmlns:a16="http://schemas.microsoft.com/office/drawing/2014/main" id="{FB2A5BE1-BDC7-4EBA-96BB-E4269CD8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code applicatif impose les limites, même si le modèle demande autre chose.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70ffdc05b4fb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0 / 36">
            <a:extLst xmlns:a="http://schemas.openxmlformats.org/drawingml/2006/main">
              <a:ext uri="{FF2B5EF4-FFF2-40B4-BE49-F238E27FC236}">
                <a16:creationId xmlns:a16="http://schemas.microsoft.com/office/drawing/2014/main" id="{7B8DF8AF-0240-4FD0-A2BE-0CBFE4FD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20 / 36</a:t>
            </a:r>
          </a:p>
        </p:txBody>
      </p:sp>
    </p:spTree>
    <p:extLst>
      <p:ext uri="{BB962C8B-B14F-4D97-AF65-F5344CB8AC3E}">
        <p14:creationId xmlns:p14="http://schemas.microsoft.com/office/powerpoint/2010/main" val="191481705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4AD42E-3BF4-4D27-AC57-AC8D3C6B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C71A48F2-41A2-4F13-AA4F-9EEFC75D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mémoire d’un système">
            <a:extLst xmlns:a="http://schemas.openxmlformats.org/drawingml/2006/main">
              <a:ext uri="{FF2B5EF4-FFF2-40B4-BE49-F238E27FC236}">
                <a16:creationId xmlns:a16="http://schemas.microsoft.com/office/drawing/2014/main" id="{8C0DD44C-EB26-42B0-9B5C-82C98056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mémoire d’un système</a:t>
            </a:r>
          </a:p>
        </p:txBody>
      </p:sp>
      <p:sp>
        <p:nvSpPr>
          <p:cNvPr id="4" name="La mémoire persistante nécessite une conception ex">
            <a:extLst xmlns:a="http://schemas.openxmlformats.org/drawingml/2006/main">
              <a:ext uri="{FF2B5EF4-FFF2-40B4-BE49-F238E27FC236}">
                <a16:creationId xmlns:a16="http://schemas.microsoft.com/office/drawing/2014/main" id="{9FAA9278-6693-401B-BB64-3851E80B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mémoire persistante nécessite une conception explicite.</a:t>
            </a:r>
          </a:p>
        </p:txBody>
      </p:sp>
      <p:sp>
        <p:nvSpPr>
          <p:cNvPr id="5" name="Le contexte temporaire correspond aux informations">
            <a:extLst xmlns:a="http://schemas.openxmlformats.org/drawingml/2006/main">
              <a:ext uri="{FF2B5EF4-FFF2-40B4-BE49-F238E27FC236}">
                <a16:creationId xmlns:a16="http://schemas.microsoft.com/office/drawing/2014/main" id="{99BEFB84-FDB1-4F36-A0C3-681C9F6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contexte temporaire correspond aux informations utilisées pendant un échange.</a:t>
            </a:r>
          </a:p>
        </p:txBody>
      </p:sp>
      <p:sp>
        <p:nvSpPr>
          <p:cNvPr id="6" name="Un stockage externe peut conserver des données pou">
            <a:extLst xmlns:a="http://schemas.openxmlformats.org/drawingml/2006/main">
              <a:ext uri="{FF2B5EF4-FFF2-40B4-BE49-F238E27FC236}">
                <a16:creationId xmlns:a16="http://schemas.microsoft.com/office/drawing/2014/main" id="{4E91BBE3-0932-4B48-9D88-334ADDA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stockage externe peut conserver des données pour de futurs échanges.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AEDBDC09-14DE-4573-950E-55F504C6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Définir ce qui reste, qui y accède et quand le sup">
            <a:extLst xmlns:a="http://schemas.openxmlformats.org/drawingml/2006/main">
              <a:ext uri="{FF2B5EF4-FFF2-40B4-BE49-F238E27FC236}">
                <a16:creationId xmlns:a16="http://schemas.microsoft.com/office/drawing/2014/main" id="{7839119B-565B-4118-A956-3C7DC4FF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Définir ce qui reste, qui y accède et quand le supprimer.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613a1da9a4c3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1 / 36">
            <a:extLst xmlns:a="http://schemas.openxmlformats.org/drawingml/2006/main">
              <a:ext uri="{FF2B5EF4-FFF2-40B4-BE49-F238E27FC236}">
                <a16:creationId xmlns:a16="http://schemas.microsoft.com/office/drawing/2014/main" id="{44C56C62-D59F-4CF7-B905-7346D40E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21 / 36</a:t>
            </a:r>
          </a:p>
        </p:txBody>
      </p:sp>
    </p:spTree>
    <p:extLst>
      <p:ext uri="{BB962C8B-B14F-4D97-AF65-F5344CB8AC3E}">
        <p14:creationId xmlns:p14="http://schemas.microsoft.com/office/powerpoint/2010/main" val="41726716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1EC64-D1F7-4518-ADD7-A0C602C4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21298B97-BE2B-48D2-B24A-9C767076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contrôle de l’autonomie">
            <a:extLst xmlns:a="http://schemas.openxmlformats.org/drawingml/2006/main">
              <a:ext uri="{FF2B5EF4-FFF2-40B4-BE49-F238E27FC236}">
                <a16:creationId xmlns:a16="http://schemas.microsoft.com/office/drawing/2014/main" id="{DBB05000-7B17-4BB6-BFAB-8E627BC1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contrôle de l’autonomie</a:t>
            </a:r>
          </a:p>
        </p:txBody>
      </p:sp>
      <p:sp>
        <p:nvSpPr>
          <p:cNvPr id="4" name="Les règles d’arrêt limitent les conséquences d’un ">
            <a:extLst xmlns:a="http://schemas.openxmlformats.org/drawingml/2006/main">
              <a:ext uri="{FF2B5EF4-FFF2-40B4-BE49-F238E27FC236}">
                <a16:creationId xmlns:a16="http://schemas.microsoft.com/office/drawing/2014/main" id="{082567E6-8A8C-4AF9-8ADF-ACB2A9E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règles d’arrêt limitent les conséquences d’un comportement imprévu.</a:t>
            </a:r>
          </a:p>
        </p:txBody>
      </p:sp>
      <p:sp>
        <p:nvSpPr>
          <p:cNvPr id="5" name="Fixez un nombre d’étapes, un budget et les outils ">
            <a:extLst xmlns:a="http://schemas.openxmlformats.org/drawingml/2006/main">
              <a:ext uri="{FF2B5EF4-FFF2-40B4-BE49-F238E27FC236}">
                <a16:creationId xmlns:a16="http://schemas.microsoft.com/office/drawing/2014/main" id="{E0E51D0B-9528-41BF-8FC3-A3383CCE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Fixez un nombre d’étapes, un budget et les outils autorisés.</a:t>
            </a:r>
          </a:p>
        </p:txBody>
      </p:sp>
      <p:sp>
        <p:nvSpPr>
          <p:cNvPr id="6" name="Demandez une validation humaine avant les actions ">
            <a:extLst xmlns:a="http://schemas.openxmlformats.org/drawingml/2006/main">
              <a:ext uri="{FF2B5EF4-FFF2-40B4-BE49-F238E27FC236}">
                <a16:creationId xmlns:a16="http://schemas.microsoft.com/office/drawing/2014/main" id="{5C106868-D7DB-4A4E-8324-A1E627BF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Demandez une validation humaine avant les actions sensibles.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05F3A68-5448-4D01-964D-D3C09681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Journaliser les décisions et les erreurs pour pouv">
            <a:extLst xmlns:a="http://schemas.openxmlformats.org/drawingml/2006/main">
              <a:ext uri="{FF2B5EF4-FFF2-40B4-BE49-F238E27FC236}">
                <a16:creationId xmlns:a16="http://schemas.microsoft.com/office/drawing/2014/main" id="{26C14090-E512-4C63-B381-B0C342E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Journaliser les décisions et les erreurs pour pouvoir les analyser.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7a2a17f39437c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2 / 36">
            <a:extLst xmlns:a="http://schemas.openxmlformats.org/drawingml/2006/main">
              <a:ext uri="{FF2B5EF4-FFF2-40B4-BE49-F238E27FC236}">
                <a16:creationId xmlns:a16="http://schemas.microsoft.com/office/drawing/2014/main" id="{D11F7CE3-0BF0-454C-B603-2213808D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22 / 36</a:t>
            </a:r>
          </a:p>
        </p:txBody>
      </p:sp>
    </p:spTree>
    <p:extLst>
      <p:ext uri="{BB962C8B-B14F-4D97-AF65-F5344CB8AC3E}">
        <p14:creationId xmlns:p14="http://schemas.microsoft.com/office/powerpoint/2010/main" val="124829036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9D3B36-7D7F-46C6-9F4A-B5227515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CCAC5942-112A-41CE-934A-7E816DCD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agent documentaire">
            <a:extLst xmlns:a="http://schemas.openxmlformats.org/drawingml/2006/main">
              <a:ext uri="{FF2B5EF4-FFF2-40B4-BE49-F238E27FC236}">
                <a16:creationId xmlns:a16="http://schemas.microsoft.com/office/drawing/2014/main" id="{07BDC59C-F161-427D-AD09-90AFF6AF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agent documentaire</a:t>
            </a:r>
          </a:p>
        </p:txBody>
      </p:sp>
      <p:sp>
        <p:nvSpPr>
          <p:cNvPr id="4" name="L’agent utilise un outil de recherche dans un péri">
            <a:extLst xmlns:a="http://schemas.openxmlformats.org/drawingml/2006/main">
              <a:ext uri="{FF2B5EF4-FFF2-40B4-BE49-F238E27FC236}">
                <a16:creationId xmlns:a16="http://schemas.microsoft.com/office/drawing/2014/main" id="{33E58AD4-8BA6-4239-AA50-62AEFFAB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L’agent utilise un outil de recherche dans un périmètre limité.</a:t>
            </a:r>
          </a:p>
        </p:txBody>
      </p:sp>
      <p:sp>
        <p:nvSpPr>
          <p:cNvPr id="5" name="Autorisez seulement la recherche sur un corpus de ">
            <a:extLst xmlns:a="http://schemas.openxmlformats.org/drawingml/2006/main">
              <a:ext uri="{FF2B5EF4-FFF2-40B4-BE49-F238E27FC236}">
                <a16:creationId xmlns:a16="http://schemas.microsoft.com/office/drawing/2014/main" id="{3B00B505-FEB7-441F-9D74-E871A5EC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Autorisez seulement la recherche sur un corpus de test.</a:t>
            </a:r>
          </a:p>
        </p:txBody>
      </p:sp>
      <p:sp>
        <p:nvSpPr>
          <p:cNvPr id="6" name="Testez une question couverte, une hors périmètre e">
            <a:extLst xmlns:a="http://schemas.openxmlformats.org/drawingml/2006/main">
              <a:ext uri="{FF2B5EF4-FFF2-40B4-BE49-F238E27FC236}">
                <a16:creationId xmlns:a16="http://schemas.microsoft.com/office/drawing/2014/main" id="{E4A0D52F-A08F-420C-A23A-AD4EACF5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une question couverte, une hors périmètre et un échec de l’outil.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B630A987-A066-4C03-AD05-EF8CAE78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contrat de l’outil, journal d’essai e">
            <a:extLst xmlns:a="http://schemas.openxmlformats.org/drawingml/2006/main">
              <a:ext uri="{FF2B5EF4-FFF2-40B4-BE49-F238E27FC236}">
                <a16:creationId xmlns:a16="http://schemas.microsoft.com/office/drawing/2014/main" id="{C16F36DD-0C80-4BEA-B241-9A07027F9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contrat de l’outil, journal d’essai et conditions d’arrêt.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1a575d51348f7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3 / 36">
            <a:extLst xmlns:a="http://schemas.openxmlformats.org/drawingml/2006/main">
              <a:ext uri="{FF2B5EF4-FFF2-40B4-BE49-F238E27FC236}">
                <a16:creationId xmlns:a16="http://schemas.microsoft.com/office/drawing/2014/main" id="{50832D6E-CA5C-4855-A261-B6FA552D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23 / 36</a:t>
            </a:r>
          </a:p>
        </p:txBody>
      </p:sp>
    </p:spTree>
    <p:extLst>
      <p:ext uri="{BB962C8B-B14F-4D97-AF65-F5344CB8AC3E}">
        <p14:creationId xmlns:p14="http://schemas.microsoft.com/office/powerpoint/2010/main" val="5806384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BEC07-752D-429A-9063-7812FBA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A8F6281C-A80D-4FF6-908C-5B818715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fine-tuning">
            <a:extLst xmlns:a="http://schemas.openxmlformats.org/drawingml/2006/main">
              <a:ext uri="{FF2B5EF4-FFF2-40B4-BE49-F238E27FC236}">
                <a16:creationId xmlns:a16="http://schemas.microsoft.com/office/drawing/2014/main" id="{20994567-F00F-4F00-B876-9900358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fine-tuning</a:t>
            </a:r>
          </a:p>
        </p:txBody>
      </p:sp>
      <p:sp>
        <p:nvSpPr>
          <p:cNvPr id="4" name="L’adaptation ajuste un modèle à partir d’exemples ">
            <a:extLst xmlns:a="http://schemas.openxmlformats.org/drawingml/2006/main">
              <a:ext uri="{FF2B5EF4-FFF2-40B4-BE49-F238E27FC236}">
                <a16:creationId xmlns:a16="http://schemas.microsoft.com/office/drawing/2014/main" id="{609B4712-5AB8-4984-AA70-9AD28E1B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L’adaptation ajuste un modèle à partir d’exemples d’entraînement.</a:t>
            </a:r>
          </a:p>
        </p:txBody>
      </p:sp>
      <p:sp>
        <p:nvSpPr>
          <p:cNvPr id="5" name="Elle peut aider à stabiliser un format ou un compo">
            <a:extLst xmlns:a="http://schemas.openxmlformats.org/drawingml/2006/main">
              <a:ext uri="{FF2B5EF4-FFF2-40B4-BE49-F238E27FC236}">
                <a16:creationId xmlns:a16="http://schemas.microsoft.com/office/drawing/2014/main" id="{8ABC46E4-6E96-4D38-9610-E7DB850E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Elle peut aider à stabiliser un format ou un comportement attendu.</a:t>
            </a:r>
          </a:p>
        </p:txBody>
      </p:sp>
      <p:sp>
        <p:nvSpPr>
          <p:cNvPr id="6" name="Elle demande des données de qualité et une évaluat">
            <a:extLst xmlns:a="http://schemas.openxmlformats.org/drawingml/2006/main">
              <a:ext uri="{FF2B5EF4-FFF2-40B4-BE49-F238E27FC236}">
                <a16:creationId xmlns:a16="http://schemas.microsoft.com/office/drawing/2014/main" id="{0D041FF1-A178-4D42-AC2A-48874C44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Elle demande des données de qualité et une évaluation séparée.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A01CC5F-2C66-4CEC-AD12-F78B626A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fine-tuning ne garantit pas la mise à jour des ">
            <a:extLst xmlns:a="http://schemas.openxmlformats.org/drawingml/2006/main">
              <a:ext uri="{FF2B5EF4-FFF2-40B4-BE49-F238E27FC236}">
                <a16:creationId xmlns:a16="http://schemas.microsoft.com/office/drawing/2014/main" id="{D28B37E5-F2DF-43C3-A8C1-B72ECC4CC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fine-tuning ne garantit pas la mise à jour des connaissances.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bb311f5dc4b9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4 / 36">
            <a:extLst xmlns:a="http://schemas.openxmlformats.org/drawingml/2006/main">
              <a:ext uri="{FF2B5EF4-FFF2-40B4-BE49-F238E27FC236}">
                <a16:creationId xmlns:a16="http://schemas.microsoft.com/office/drawing/2014/main" id="{8F315EDE-A6AF-42DF-909B-219305D9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24 / 36</a:t>
            </a:r>
          </a:p>
        </p:txBody>
      </p:sp>
    </p:spTree>
    <p:extLst>
      <p:ext uri="{BB962C8B-B14F-4D97-AF65-F5344CB8AC3E}">
        <p14:creationId xmlns:p14="http://schemas.microsoft.com/office/powerpoint/2010/main" val="205463837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F91D1-541D-4005-8640-F1223D73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4A227351-81AB-44DF-9EB8-58D58723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PEFT et LoRA">
            <a:extLst xmlns:a="http://schemas.openxmlformats.org/drawingml/2006/main">
              <a:ext uri="{FF2B5EF4-FFF2-40B4-BE49-F238E27FC236}">
                <a16:creationId xmlns:a16="http://schemas.microsoft.com/office/drawing/2014/main" id="{EF2A81FE-FE7D-4D34-9989-0BB3A50E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PEFT et LoRA</a:t>
            </a:r>
          </a:p>
        </p:txBody>
      </p:sp>
      <p:sp>
        <p:nvSpPr>
          <p:cNvPr id="4" name="Ces méthodes limitent le nombre de paramètres à ad">
            <a:extLst xmlns:a="http://schemas.openxmlformats.org/drawingml/2006/main">
              <a:ext uri="{FF2B5EF4-FFF2-40B4-BE49-F238E27FC236}">
                <a16:creationId xmlns:a16="http://schemas.microsoft.com/office/drawing/2014/main" id="{06AD93FF-6BB1-4E6C-A992-73082C5F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Ces méthodes limitent le nombre de paramètres à adapter.</a:t>
            </a:r>
          </a:p>
        </p:txBody>
      </p:sp>
      <p:sp>
        <p:nvSpPr>
          <p:cNvPr id="5" name="PEFT désigne une famille de méthodes d’adaptation ">
            <a:extLst xmlns:a="http://schemas.openxmlformats.org/drawingml/2006/main">
              <a:ext uri="{FF2B5EF4-FFF2-40B4-BE49-F238E27FC236}">
                <a16:creationId xmlns:a16="http://schemas.microsoft.com/office/drawing/2014/main" id="{ED92DDD1-FEC2-4E96-A713-667AC7C3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PEFT désigne une famille de méthodes d’adaptation économes en paramètres.</a:t>
            </a:r>
          </a:p>
        </p:txBody>
      </p:sp>
      <p:sp>
        <p:nvSpPr>
          <p:cNvPr id="6" name="LoRA utilise des adaptations de faible rang dans c">
            <a:extLst xmlns:a="http://schemas.openxmlformats.org/drawingml/2006/main">
              <a:ext uri="{FF2B5EF4-FFF2-40B4-BE49-F238E27FC236}">
                <a16:creationId xmlns:a16="http://schemas.microsoft.com/office/drawing/2014/main" id="{F20927E4-87B2-45A4-8675-6D01BE7D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LoRA utilise des adaptations de faible rang dans certaines transformations.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F8E71E4-0BB3-4C23-AD71-7A28C3B4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a configuration dépend du modèle et des ressource">
            <a:extLst xmlns:a="http://schemas.openxmlformats.org/drawingml/2006/main">
              <a:ext uri="{FF2B5EF4-FFF2-40B4-BE49-F238E27FC236}">
                <a16:creationId xmlns:a16="http://schemas.microsoft.com/office/drawing/2014/main" id="{C1785619-01EA-43D4-90C8-82747BAD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configuration dépend du modèle et des ressources disponibles.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f068cdc8fe4b2a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5 / 36">
            <a:extLst xmlns:a="http://schemas.openxmlformats.org/drawingml/2006/main">
              <a:ext uri="{FF2B5EF4-FFF2-40B4-BE49-F238E27FC236}">
                <a16:creationId xmlns:a16="http://schemas.microsoft.com/office/drawing/2014/main" id="{D10CEA20-40EF-4408-85DB-BE5C7A0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25 / 36</a:t>
            </a:r>
          </a:p>
        </p:txBody>
      </p:sp>
    </p:spTree>
    <p:extLst>
      <p:ext uri="{BB962C8B-B14F-4D97-AF65-F5344CB8AC3E}">
        <p14:creationId xmlns:p14="http://schemas.microsoft.com/office/powerpoint/2010/main" val="183598909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A732E-A55D-4F67-880A-74ECF34F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6BD383A2-4F83-40F1-A943-BA245E05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 choix d’une méthode">
            <a:extLst xmlns:a="http://schemas.openxmlformats.org/drawingml/2006/main">
              <a:ext uri="{FF2B5EF4-FFF2-40B4-BE49-F238E27FC236}">
                <a16:creationId xmlns:a16="http://schemas.microsoft.com/office/drawing/2014/main" id="{7DB366AC-5794-4A81-BCA6-6A7A290F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 choix d’une méthode</a:t>
            </a:r>
          </a:p>
        </p:txBody>
      </p:sp>
      <p:sp>
        <p:nvSpPr>
          <p:cNvPr id="4" name="La méthode doit répondre au problème observé.">
            <a:extLst xmlns:a="http://schemas.openxmlformats.org/drawingml/2006/main">
              <a:ext uri="{FF2B5EF4-FFF2-40B4-BE49-F238E27FC236}">
                <a16:creationId xmlns:a16="http://schemas.microsoft.com/office/drawing/2014/main" id="{F4ACD9EC-AE8B-4CBA-A2F5-F17A6839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méthode doit répondre au problème observé.</a:t>
            </a:r>
          </a:p>
        </p:txBody>
      </p:sp>
      <p:sp>
        <p:nvSpPr>
          <p:cNvPr id="5" name="Prompt : clarifier une demande. RAG : fournir des ">
            <a:extLst xmlns:a="http://schemas.openxmlformats.org/drawingml/2006/main">
              <a:ext uri="{FF2B5EF4-FFF2-40B4-BE49-F238E27FC236}">
                <a16:creationId xmlns:a16="http://schemas.microsoft.com/office/drawing/2014/main" id="{D95693E3-810F-4F14-A3CF-0F854E6B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Prompt : clarifier une demande. RAG : fournir des sources pertinentes.</a:t>
            </a:r>
          </a:p>
        </p:txBody>
      </p:sp>
      <p:sp>
        <p:nvSpPr>
          <p:cNvPr id="6" name="Adaptation : travailler un comportement répété à p">
            <a:extLst xmlns:a="http://schemas.openxmlformats.org/drawingml/2006/main">
              <a:ext uri="{FF2B5EF4-FFF2-40B4-BE49-F238E27FC236}">
                <a16:creationId xmlns:a16="http://schemas.microsoft.com/office/drawing/2014/main" id="{A68E6543-37A4-42B6-8900-5DBD012C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Adaptation : travailler un comportement répété à partir d’exemples.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6F36C0E4-DD07-49F2-A239-41D3B2B5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ommencer par une solution simple et mesurer ses l">
            <a:extLst xmlns:a="http://schemas.openxmlformats.org/drawingml/2006/main">
              <a:ext uri="{FF2B5EF4-FFF2-40B4-BE49-F238E27FC236}">
                <a16:creationId xmlns:a16="http://schemas.microsoft.com/office/drawing/2014/main" id="{672A3EF9-E13A-44D6-95E4-DBB592FB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Commencer par une solution simple et mesurer ses limites.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b2e0356664119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6 / 36">
            <a:extLst xmlns:a="http://schemas.openxmlformats.org/drawingml/2006/main">
              <a:ext uri="{FF2B5EF4-FFF2-40B4-BE49-F238E27FC236}">
                <a16:creationId xmlns:a16="http://schemas.microsoft.com/office/drawing/2014/main" id="{6EB5F1EE-0395-4A27-959A-58C035DE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26 / 36</a:t>
            </a:r>
          </a:p>
        </p:txBody>
      </p:sp>
    </p:spTree>
    <p:extLst>
      <p:ext uri="{BB962C8B-B14F-4D97-AF65-F5344CB8AC3E}">
        <p14:creationId xmlns:p14="http://schemas.microsoft.com/office/powerpoint/2010/main" val="144197005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F4A6C6-D0CA-46A9-BAD2-1CBE5EB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A2AA1A8F-47F1-4FC0-92A5-196D6EA2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données d’entraînement">
            <a:extLst xmlns:a="http://schemas.openxmlformats.org/drawingml/2006/main">
              <a:ext uri="{FF2B5EF4-FFF2-40B4-BE49-F238E27FC236}">
                <a16:creationId xmlns:a16="http://schemas.microsoft.com/office/drawing/2014/main" id="{D83D40E2-62BD-4FA0-BE69-403192D3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données d’entraînement</a:t>
            </a:r>
          </a:p>
        </p:txBody>
      </p:sp>
      <p:sp>
        <p:nvSpPr>
          <p:cNvPr id="4" name="Les exemples doivent correspondre au comportement ">
            <a:extLst xmlns:a="http://schemas.openxmlformats.org/drawingml/2006/main">
              <a:ext uri="{FF2B5EF4-FFF2-40B4-BE49-F238E27FC236}">
                <a16:creationId xmlns:a16="http://schemas.microsoft.com/office/drawing/2014/main" id="{FCE670E7-0945-49B5-AC77-9C6C6FE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Les exemples doivent correspondre au comportement recherché.</a:t>
            </a:r>
          </a:p>
        </p:txBody>
      </p:sp>
      <p:sp>
        <p:nvSpPr>
          <p:cNvPr id="5" name="Contrôlez la qualité, les droits d’usage et les in">
            <a:extLst xmlns:a="http://schemas.openxmlformats.org/drawingml/2006/main">
              <a:ext uri="{FF2B5EF4-FFF2-40B4-BE49-F238E27FC236}">
                <a16:creationId xmlns:a16="http://schemas.microsoft.com/office/drawing/2014/main" id="{56C845F1-6B56-43F4-BE35-7128B6D7C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Contrôlez la qualité, les droits d’usage et les informations sensibles.</a:t>
            </a:r>
          </a:p>
        </p:txBody>
      </p:sp>
      <p:sp>
        <p:nvSpPr>
          <p:cNvPr id="6" name="Séparez les données d’entraînement de celles utili">
            <a:extLst xmlns:a="http://schemas.openxmlformats.org/drawingml/2006/main">
              <a:ext uri="{FF2B5EF4-FFF2-40B4-BE49-F238E27FC236}">
                <a16:creationId xmlns:a16="http://schemas.microsoft.com/office/drawing/2014/main" id="{EF6CED99-C1E3-4AF8-8225-77D173A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Séparez les données d’entraînement de celles utilisées pour l’évaluation.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9F6B0C64-508F-435E-B961-4D3EF273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Éviter les doublons qui faussent les résultats des">
            <a:extLst xmlns:a="http://schemas.openxmlformats.org/drawingml/2006/main">
              <a:ext uri="{FF2B5EF4-FFF2-40B4-BE49-F238E27FC236}">
                <a16:creationId xmlns:a16="http://schemas.microsoft.com/office/drawing/2014/main" id="{E2B56E30-C2DC-4D5D-B287-736040AB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Éviter les doublons qui faussent les résultats des tests.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438121be04e8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7 / 36">
            <a:extLst xmlns:a="http://schemas.openxmlformats.org/drawingml/2006/main">
              <a:ext uri="{FF2B5EF4-FFF2-40B4-BE49-F238E27FC236}">
                <a16:creationId xmlns:a16="http://schemas.microsoft.com/office/drawing/2014/main" id="{56D8BF85-00CF-411D-809E-AB5B058D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27 / 36</a:t>
            </a:r>
          </a:p>
        </p:txBody>
      </p:sp>
    </p:spTree>
    <p:extLst>
      <p:ext uri="{BB962C8B-B14F-4D97-AF65-F5344CB8AC3E}">
        <p14:creationId xmlns:p14="http://schemas.microsoft.com/office/powerpoint/2010/main" val="173785465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F3F2F-0196-4BA2-BBC3-3EB3C36E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MISE EN PRATIQUE">
            <a:extLst xmlns:a="http://schemas.openxmlformats.org/drawingml/2006/main">
              <a:ext uri="{FF2B5EF4-FFF2-40B4-BE49-F238E27FC236}">
                <a16:creationId xmlns:a16="http://schemas.microsoft.com/office/drawing/2014/main" id="{CF7622AC-BC31-4A34-9AE2-C9D26A9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F8A2E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F8A2E"/>
                </a:solidFill>
                <a:latin typeface="Poppins"/>
                <a:ea typeface="Poppins"/>
                <a:cs typeface="Poppins"/>
              </a:rPr>
              <a:t>MISE EN PRATIQUE</a:t>
            </a:r>
          </a:p>
        </p:txBody>
      </p:sp>
      <p:sp>
        <p:nvSpPr>
          <p:cNvPr id="3" name="Atelier : protocole d’adaptation">
            <a:extLst xmlns:a="http://schemas.openxmlformats.org/drawingml/2006/main">
              <a:ext uri="{FF2B5EF4-FFF2-40B4-BE49-F238E27FC236}">
                <a16:creationId xmlns:a16="http://schemas.microsoft.com/office/drawing/2014/main" id="{FC905658-5205-435F-99C6-86BD802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Atelier : protocole d’adaptation</a:t>
            </a:r>
          </a:p>
        </p:txBody>
      </p:sp>
      <p:sp>
        <p:nvSpPr>
          <p:cNvPr id="4" name="Préparer l’expérience avant de lancer un entraînem">
            <a:extLst xmlns:a="http://schemas.openxmlformats.org/drawingml/2006/main">
              <a:ext uri="{FF2B5EF4-FFF2-40B4-BE49-F238E27FC236}">
                <a16:creationId xmlns:a16="http://schemas.microsoft.com/office/drawing/2014/main" id="{7C237F97-773A-49A8-B0A3-E81E5BB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Préparer l’expérience avant de lancer un entraînement.</a:t>
            </a:r>
          </a:p>
        </p:txBody>
      </p:sp>
      <p:sp>
        <p:nvSpPr>
          <p:cNvPr id="5" name="Choisissez une tâche, un jeu d’exemples et une mét">
            <a:extLst xmlns:a="http://schemas.openxmlformats.org/drawingml/2006/main">
              <a:ext uri="{FF2B5EF4-FFF2-40B4-BE49-F238E27FC236}">
                <a16:creationId xmlns:a16="http://schemas.microsoft.com/office/drawing/2014/main" id="{C7BAA142-C83C-4CF9-9249-75F62335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Choisissez une tâche, un jeu d’exemples et une méthode de référence.</a:t>
            </a:r>
          </a:p>
        </p:txBody>
      </p:sp>
      <p:sp>
        <p:nvSpPr>
          <p:cNvPr id="6" name="Définissez les critères et comparez le modèle init">
            <a:extLst xmlns:a="http://schemas.openxmlformats.org/drawingml/2006/main">
              <a:ext uri="{FF2B5EF4-FFF2-40B4-BE49-F238E27FC236}">
                <a16:creationId xmlns:a16="http://schemas.microsoft.com/office/drawing/2014/main" id="{991F986B-D135-46D2-9D6E-8B65721E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les critères et comparez le modèle initial au modèle adapté si l’essai est réalisé.</a:t>
            </a:r>
          </a:p>
        </p:txBody>
      </p:sp>
      <p:sp>
        <p:nvSpPr>
          <p:cNvPr id="7" name="LIVRABLE ET CRITÈRES">
            <a:extLst xmlns:a="http://schemas.openxmlformats.org/drawingml/2006/main">
              <a:ext uri="{FF2B5EF4-FFF2-40B4-BE49-F238E27FC236}">
                <a16:creationId xmlns:a16="http://schemas.microsoft.com/office/drawing/2014/main" id="{83299140-559E-4023-A35A-6550950F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LIVRABLE ET CRITÈRES</a:t>
            </a:r>
          </a:p>
        </p:txBody>
      </p:sp>
      <p:sp>
        <p:nvSpPr>
          <p:cNvPr id="8" name="À remettre : protocole et résultats réellement obs">
            <a:extLst xmlns:a="http://schemas.openxmlformats.org/drawingml/2006/main">
              <a:ext uri="{FF2B5EF4-FFF2-40B4-BE49-F238E27FC236}">
                <a16:creationId xmlns:a16="http://schemas.microsoft.com/office/drawing/2014/main" id="{0CC2ECDC-F324-48BA-8544-308E219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À remettre : protocole et résultats réellement observés.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b310d279f486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8 / 36">
            <a:extLst xmlns:a="http://schemas.openxmlformats.org/drawingml/2006/main">
              <a:ext uri="{FF2B5EF4-FFF2-40B4-BE49-F238E27FC236}">
                <a16:creationId xmlns:a16="http://schemas.microsoft.com/office/drawing/2014/main" id="{8101E1A9-CB78-4346-907A-B1BA1666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28 / 36</a:t>
            </a:r>
          </a:p>
        </p:txBody>
      </p:sp>
    </p:spTree>
    <p:extLst>
      <p:ext uri="{BB962C8B-B14F-4D97-AF65-F5344CB8AC3E}">
        <p14:creationId xmlns:p14="http://schemas.microsoft.com/office/powerpoint/2010/main" val="12863918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1A9F26-67C5-4033-AAE9-E1DC99A0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EE41F3E4-66FE-4AC7-90FC-B5608E50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’évaluation du système">
            <a:extLst xmlns:a="http://schemas.openxmlformats.org/drawingml/2006/main">
              <a:ext uri="{FF2B5EF4-FFF2-40B4-BE49-F238E27FC236}">
                <a16:creationId xmlns:a16="http://schemas.microsoft.com/office/drawing/2014/main" id="{6EDBCD62-AF46-419B-9782-D19E0C25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L’évaluation du système</a:t>
            </a:r>
          </a:p>
        </p:txBody>
      </p:sp>
      <p:sp>
        <p:nvSpPr>
          <p:cNvPr id="4" name="La qualité comprend aussi le comportement en situa">
            <a:extLst xmlns:a="http://schemas.openxmlformats.org/drawingml/2006/main">
              <a:ext uri="{FF2B5EF4-FFF2-40B4-BE49-F238E27FC236}">
                <a16:creationId xmlns:a16="http://schemas.microsoft.com/office/drawing/2014/main" id="{2FFAD1DB-370D-4F26-A7C8-CC4D819C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qualité comprend aussi le comportement en situation difficile.</a:t>
            </a:r>
          </a:p>
        </p:txBody>
      </p:sp>
      <p:sp>
        <p:nvSpPr>
          <p:cNvPr id="5" name="Mesurez la fidélité et la robustesse sur des cas r">
            <a:extLst xmlns:a="http://schemas.openxmlformats.org/drawingml/2006/main">
              <a:ext uri="{FF2B5EF4-FFF2-40B4-BE49-F238E27FC236}">
                <a16:creationId xmlns:a16="http://schemas.microsoft.com/office/drawing/2014/main" id="{D148DE29-9751-4265-A589-E0C00E15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Mesurez la fidélité et la robustesse sur des cas représentatifs.</a:t>
            </a:r>
          </a:p>
        </p:txBody>
      </p:sp>
      <p:sp>
        <p:nvSpPr>
          <p:cNvPr id="6" name="Relevez la latence et le coût du parcours complet ">
            <a:extLst xmlns:a="http://schemas.openxmlformats.org/drawingml/2006/main">
              <a:ext uri="{FF2B5EF4-FFF2-40B4-BE49-F238E27FC236}">
                <a16:creationId xmlns:a16="http://schemas.microsoft.com/office/drawing/2014/main" id="{8315B857-C774-4966-8BF3-BE7763E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Relevez la latence et le coût du parcours complet dans les mêmes conditions.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E5A140CE-525E-4927-8C23-566135CD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senter les limites du jeu de tests avec les rés">
            <a:extLst xmlns:a="http://schemas.openxmlformats.org/drawingml/2006/main">
              <a:ext uri="{FF2B5EF4-FFF2-40B4-BE49-F238E27FC236}">
                <a16:creationId xmlns:a16="http://schemas.microsoft.com/office/drawing/2014/main" id="{6D85BEE5-638F-4885-A71C-AF131168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Présenter les limites du jeu de tests avec les résultats.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8863d21d546db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29 / 36">
            <a:extLst xmlns:a="http://schemas.openxmlformats.org/drawingml/2006/main">
              <a:ext uri="{FF2B5EF4-FFF2-40B4-BE49-F238E27FC236}">
                <a16:creationId xmlns:a16="http://schemas.microsoft.com/office/drawing/2014/main" id="{FD9A4CF4-C850-4E4A-B17C-7BEE026B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29 / 36</a:t>
            </a:r>
          </a:p>
        </p:txBody>
      </p:sp>
    </p:spTree>
    <p:extLst>
      <p:ext uri="{BB962C8B-B14F-4D97-AF65-F5344CB8AC3E}">
        <p14:creationId xmlns:p14="http://schemas.microsoft.com/office/powerpoint/2010/main" val="10924395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E5CB7-1210-46A9-B1FA-BAC6759F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AB0703DD-792D-43A8-8C6D-98636E35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sécurité du parcours">
            <a:extLst xmlns:a="http://schemas.openxmlformats.org/drawingml/2006/main">
              <a:ext uri="{FF2B5EF4-FFF2-40B4-BE49-F238E27FC236}">
                <a16:creationId xmlns:a16="http://schemas.microsoft.com/office/drawing/2014/main" id="{F8945F08-8636-4EC6-8370-7DE58A3E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sécurité du parcours</a:t>
            </a:r>
          </a:p>
        </p:txBody>
      </p:sp>
      <p:sp>
        <p:nvSpPr>
          <p:cNvPr id="4" name="Chaque accès et chaque action doivent respecter le">
            <a:extLst xmlns:a="http://schemas.openxmlformats.org/drawingml/2006/main">
              <a:ext uri="{FF2B5EF4-FFF2-40B4-BE49-F238E27FC236}">
                <a16:creationId xmlns:a16="http://schemas.microsoft.com/office/drawing/2014/main" id="{8CFA03F1-D5CA-405D-A362-0D86BE3D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Chaque accès et chaque action doivent respecter le périmètre autorisé.</a:t>
            </a:r>
          </a:p>
        </p:txBody>
      </p:sp>
      <p:sp>
        <p:nvSpPr>
          <p:cNvPr id="5" name="Testez les contenus malveillants dans les document">
            <a:extLst xmlns:a="http://schemas.openxmlformats.org/drawingml/2006/main">
              <a:ext uri="{FF2B5EF4-FFF2-40B4-BE49-F238E27FC236}">
                <a16:creationId xmlns:a16="http://schemas.microsoft.com/office/drawing/2014/main" id="{0C3F8523-998B-4802-9F7E-1F331573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les contenus malveillants dans les documents et les sorties d’outils.</a:t>
            </a:r>
          </a:p>
        </p:txBody>
      </p:sp>
      <p:sp>
        <p:nvSpPr>
          <p:cNvPr id="6" name="Contrôlez les accès, les arguments et les informat">
            <a:extLst xmlns:a="http://schemas.openxmlformats.org/drawingml/2006/main">
              <a:ext uri="{FF2B5EF4-FFF2-40B4-BE49-F238E27FC236}">
                <a16:creationId xmlns:a16="http://schemas.microsoft.com/office/drawing/2014/main" id="{39048332-B6DF-499A-9AB6-4CECB841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Contrôlez les accès, les arguments et les informations restituées.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CC92E32A-A97E-41AF-9B15-6EDE945A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Prévoir un arrêt sûr et une procédure de signaleme">
            <a:extLst xmlns:a="http://schemas.openxmlformats.org/drawingml/2006/main">
              <a:ext uri="{FF2B5EF4-FFF2-40B4-BE49-F238E27FC236}">
                <a16:creationId xmlns:a16="http://schemas.microsoft.com/office/drawing/2014/main" id="{1EAE66EA-2714-4EB4-9911-876827A5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Prévoir un arrêt sûr et une procédure de signalement.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804187d6af4890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0 / 36">
            <a:extLst xmlns:a="http://schemas.openxmlformats.org/drawingml/2006/main">
              <a:ext uri="{FF2B5EF4-FFF2-40B4-BE49-F238E27FC236}">
                <a16:creationId xmlns:a16="http://schemas.microsoft.com/office/drawing/2014/main" id="{7D5B845F-2E26-460E-8C36-4FE3E585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30 / 36</a:t>
            </a:r>
          </a:p>
        </p:txBody>
      </p:sp>
    </p:spTree>
    <p:extLst>
      <p:ext uri="{BB962C8B-B14F-4D97-AF65-F5344CB8AC3E}">
        <p14:creationId xmlns:p14="http://schemas.microsoft.com/office/powerpoint/2010/main" val="19076659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CA97F-3D22-4FEE-8F94-1C1C8112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3DD96EF3-D371-4C10-A67D-59FFF67A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Cas : documents financiers">
            <a:extLst xmlns:a="http://schemas.openxmlformats.org/drawingml/2006/main">
              <a:ext uri="{FF2B5EF4-FFF2-40B4-BE49-F238E27FC236}">
                <a16:creationId xmlns:a16="http://schemas.microsoft.com/office/drawing/2014/main" id="{4628BB1F-78F5-463B-9175-F5D68A9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documents financiers</a:t>
            </a:r>
          </a:p>
        </p:txBody>
      </p:sp>
      <p:sp>
        <p:nvSpPr>
          <p:cNvPr id="4" name="L’assistant facilite la lecture d’un corpus déterm">
            <a:extLst xmlns:a="http://schemas.openxmlformats.org/drawingml/2006/main">
              <a:ext uri="{FF2B5EF4-FFF2-40B4-BE49-F238E27FC236}">
                <a16:creationId xmlns:a16="http://schemas.microsoft.com/office/drawing/2014/main" id="{6B2B535C-B2BB-4792-A6E1-62E96B37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L’assistant facilite la lecture d’un corpus déterminé.</a:t>
            </a:r>
          </a:p>
        </p:txBody>
      </p:sp>
      <p:sp>
        <p:nvSpPr>
          <p:cNvPr id="5" name="Extrayez les informations demandées en conservant ">
            <a:extLst xmlns:a="http://schemas.openxmlformats.org/drawingml/2006/main">
              <a:ext uri="{FF2B5EF4-FFF2-40B4-BE49-F238E27FC236}">
                <a16:creationId xmlns:a16="http://schemas.microsoft.com/office/drawing/2014/main" id="{318EF874-03C7-4F55-94DF-14692D5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Extrayez les informations demandées en conservant leurs références.</a:t>
            </a:r>
          </a:p>
        </p:txBody>
      </p:sp>
      <p:sp>
        <p:nvSpPr>
          <p:cNvPr id="6" name="Signalez les données manquantes et les écarts entr">
            <a:extLst xmlns:a="http://schemas.openxmlformats.org/drawingml/2006/main">
              <a:ext uri="{FF2B5EF4-FFF2-40B4-BE49-F238E27FC236}">
                <a16:creationId xmlns:a16="http://schemas.microsoft.com/office/drawing/2014/main" id="{9C62F941-6671-43CA-A32D-5FA267B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Signalez les données manquantes et les écarts entre documents.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7F970B43-7A1D-4939-B097-2A1C71E1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Cas pédagogique avec validation humaine, sans cons">
            <a:extLst xmlns:a="http://schemas.openxmlformats.org/drawingml/2006/main">
              <a:ext uri="{FF2B5EF4-FFF2-40B4-BE49-F238E27FC236}">
                <a16:creationId xmlns:a16="http://schemas.microsoft.com/office/drawing/2014/main" id="{35C67F31-35BE-4267-82D6-EE8F261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Cas pédagogique avec validation humaine, sans conseil financier automatisé.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62b57038bb4374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1 / 36">
            <a:extLst xmlns:a="http://schemas.openxmlformats.org/drawingml/2006/main">
              <a:ext uri="{FF2B5EF4-FFF2-40B4-BE49-F238E27FC236}">
                <a16:creationId xmlns:a16="http://schemas.microsoft.com/office/drawing/2014/main" id="{13F9673D-E026-4FF0-9387-925EC7FC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31 / 36</a:t>
            </a:r>
          </a:p>
        </p:txBody>
      </p:sp>
    </p:spTree>
    <p:extLst>
      <p:ext uri="{BB962C8B-B14F-4D97-AF65-F5344CB8AC3E}">
        <p14:creationId xmlns:p14="http://schemas.microsoft.com/office/powerpoint/2010/main" val="66696913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B4729-6C5D-4B27-BFF0-90821E52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DD1ABCD2-A06C-4368-82A5-463A80B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Cas : rapport structuré">
            <a:extLst xmlns:a="http://schemas.openxmlformats.org/drawingml/2006/main">
              <a:ext uri="{FF2B5EF4-FFF2-40B4-BE49-F238E27FC236}">
                <a16:creationId xmlns:a16="http://schemas.microsoft.com/office/drawing/2014/main" id="{34DAF9BE-CBE5-4F36-8AFA-46F7CECC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Cas : rapport structuré</a:t>
            </a:r>
          </a:p>
        </p:txBody>
      </p:sp>
      <p:sp>
        <p:nvSpPr>
          <p:cNvPr id="4" name="Un format stable facilite la relecture des résulta">
            <a:extLst xmlns:a="http://schemas.openxmlformats.org/drawingml/2006/main">
              <a:ext uri="{FF2B5EF4-FFF2-40B4-BE49-F238E27FC236}">
                <a16:creationId xmlns:a16="http://schemas.microsoft.com/office/drawing/2014/main" id="{B45E4F4B-D6E2-4706-9C63-191D2CD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format stable facilite la relecture des résultats.</a:t>
            </a:r>
          </a:p>
        </p:txBody>
      </p:sp>
      <p:sp>
        <p:nvSpPr>
          <p:cNvPr id="5" name="Définissez les rubriques attendues et les données ">
            <a:extLst xmlns:a="http://schemas.openxmlformats.org/drawingml/2006/main">
              <a:ext uri="{FF2B5EF4-FFF2-40B4-BE49-F238E27FC236}">
                <a16:creationId xmlns:a16="http://schemas.microsoft.com/office/drawing/2014/main" id="{2840A42C-0363-4E92-ADB1-C96C4D8D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Définissez les rubriques attendues et les données qui alimentent chacune.</a:t>
            </a:r>
          </a:p>
        </p:txBody>
      </p:sp>
      <p:sp>
        <p:nvSpPr>
          <p:cNvPr id="6" name="Testez la conformité du format et la fidélité de s">
            <a:extLst xmlns:a="http://schemas.openxmlformats.org/drawingml/2006/main">
              <a:ext uri="{FF2B5EF4-FFF2-40B4-BE49-F238E27FC236}">
                <a16:creationId xmlns:a16="http://schemas.microsoft.com/office/drawing/2014/main" id="{82D91DC2-2ACB-4121-BE51-457A88D9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Testez la conformité du format et la fidélité de son contenu.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3526CF01-2CD0-485E-B4EE-E15A87A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Un document bien présenté peut rester factuellemen">
            <a:extLst xmlns:a="http://schemas.openxmlformats.org/drawingml/2006/main">
              <a:ext uri="{FF2B5EF4-FFF2-40B4-BE49-F238E27FC236}">
                <a16:creationId xmlns:a16="http://schemas.microsoft.com/office/drawing/2014/main" id="{BB08E68E-5074-44CC-975D-A0BB0433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document bien présenté peut rester factuellement incorrect.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29c6a968a4f1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2 / 36">
            <a:extLst xmlns:a="http://schemas.openxmlformats.org/drawingml/2006/main">
              <a:ext uri="{FF2B5EF4-FFF2-40B4-BE49-F238E27FC236}">
                <a16:creationId xmlns:a16="http://schemas.microsoft.com/office/drawing/2014/main" id="{2B5A6FB5-8D6B-449B-BEB8-B655C5C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32 / 36</a:t>
            </a:r>
          </a:p>
        </p:txBody>
      </p:sp>
    </p:spTree>
    <p:extLst>
      <p:ext uri="{BB962C8B-B14F-4D97-AF65-F5344CB8AC3E}">
        <p14:creationId xmlns:p14="http://schemas.microsoft.com/office/powerpoint/2010/main" val="189522030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738B3-0D5D-4EC4-BAAA-63A2D1B9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181BF2B6-F4E6-4B30-AE2A-915D98A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es modèles techniques">
            <a:extLst xmlns:a="http://schemas.openxmlformats.org/drawingml/2006/main">
              <a:ext uri="{FF2B5EF4-FFF2-40B4-BE49-F238E27FC236}">
                <a16:creationId xmlns:a16="http://schemas.microsoft.com/office/drawing/2014/main" id="{90465F82-AAAF-4340-A1E6-0BB3A3A3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Les modèles techniques</a:t>
            </a:r>
          </a:p>
        </p:txBody>
      </p:sp>
      <p:sp>
        <p:nvSpPr>
          <p:cNvPr id="4" name="Des contrats explicites rendent le système plus ma">
            <a:extLst xmlns:a="http://schemas.openxmlformats.org/drawingml/2006/main">
              <a:ext uri="{FF2B5EF4-FFF2-40B4-BE49-F238E27FC236}">
                <a16:creationId xmlns:a16="http://schemas.microsoft.com/office/drawing/2014/main" id="{132E86CE-2041-4E71-88D8-C8EE9559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Des contrats explicites rendent le système plus maintenable.</a:t>
            </a:r>
          </a:p>
        </p:txBody>
      </p:sp>
      <p:sp>
        <p:nvSpPr>
          <p:cNvPr id="5" name="Conservez les schémas d’entrée et de sortie ainsi ">
            <a:extLst xmlns:a="http://schemas.openxmlformats.org/drawingml/2006/main">
              <a:ext uri="{FF2B5EF4-FFF2-40B4-BE49-F238E27FC236}">
                <a16:creationId xmlns:a16="http://schemas.microsoft.com/office/drawing/2014/main" id="{B75816A9-FFD2-43F8-A186-5FDD2567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les schémas d’entrée et de sortie ainsi que les consignes sourcées.</a:t>
            </a:r>
          </a:p>
        </p:txBody>
      </p:sp>
      <p:sp>
        <p:nvSpPr>
          <p:cNvPr id="6" name="Ajoutez des cas de test et une procédure de gestio">
            <a:extLst xmlns:a="http://schemas.openxmlformats.org/drawingml/2006/main">
              <a:ext uri="{FF2B5EF4-FFF2-40B4-BE49-F238E27FC236}">
                <a16:creationId xmlns:a16="http://schemas.microsoft.com/office/drawing/2014/main" id="{D47EECCD-C0A0-43D9-B23F-FDD21198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Ajoutez des cas de test et une procédure de gestion des erreurs.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36305EE-9EA1-4F26-B392-E608B13C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Versionner les changements importants avec leur mo">
            <a:extLst xmlns:a="http://schemas.openxmlformats.org/drawingml/2006/main">
              <a:ext uri="{FF2B5EF4-FFF2-40B4-BE49-F238E27FC236}">
                <a16:creationId xmlns:a16="http://schemas.microsoft.com/office/drawing/2014/main" id="{0368F17D-A801-48A3-8C77-D6F4749B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Versionner les changements importants avec leur motif.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f33cb1c774b75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3 / 36">
            <a:extLst xmlns:a="http://schemas.openxmlformats.org/drawingml/2006/main">
              <a:ext uri="{FF2B5EF4-FFF2-40B4-BE49-F238E27FC236}">
                <a16:creationId xmlns:a16="http://schemas.microsoft.com/office/drawing/2014/main" id="{0AF23081-58C7-49E7-BD48-92A55EB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33 / 36</a:t>
            </a:r>
          </a:p>
        </p:txBody>
      </p:sp>
    </p:spTree>
    <p:extLst>
      <p:ext uri="{BB962C8B-B14F-4D97-AF65-F5344CB8AC3E}">
        <p14:creationId xmlns:p14="http://schemas.microsoft.com/office/powerpoint/2010/main" val="29317953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E934B-28A0-420F-82DC-4E461991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C79EE0E1-0DEE-4720-B03F-A8C43CA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Projet : assistant métier">
            <a:extLst xmlns:a="http://schemas.openxmlformats.org/drawingml/2006/main">
              <a:ext uri="{FF2B5EF4-FFF2-40B4-BE49-F238E27FC236}">
                <a16:creationId xmlns:a16="http://schemas.microsoft.com/office/drawing/2014/main" id="{49A63A21-8B41-4825-89E1-FB708CF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Projet : assistant métier</a:t>
            </a:r>
          </a:p>
        </p:txBody>
      </p:sp>
      <p:sp>
        <p:nvSpPr>
          <p:cNvPr id="4" name="Le projet réunit recherche, génération et contrôle">
            <a:extLst xmlns:a="http://schemas.openxmlformats.org/drawingml/2006/main">
              <a:ext uri="{FF2B5EF4-FFF2-40B4-BE49-F238E27FC236}">
                <a16:creationId xmlns:a16="http://schemas.microsoft.com/office/drawing/2014/main" id="{355D38EE-8665-4970-B166-BA592E905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projet réunit recherche, génération et contrôles.</a:t>
            </a:r>
          </a:p>
        </p:txBody>
      </p:sp>
      <p:sp>
        <p:nvSpPr>
          <p:cNvPr id="5" name="Présentez le corpus, l’architecture et une interfa">
            <a:extLst xmlns:a="http://schemas.openxmlformats.org/drawingml/2006/main">
              <a:ext uri="{FF2B5EF4-FFF2-40B4-BE49-F238E27FC236}">
                <a16:creationId xmlns:a16="http://schemas.microsoft.com/office/drawing/2014/main" id="{1D89E6F0-B08F-4366-B96C-5DD0149F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le corpus, l’architecture et une interface permettant de tester le besoin.</a:t>
            </a:r>
          </a:p>
        </p:txBody>
      </p:sp>
      <p:sp>
        <p:nvSpPr>
          <p:cNvPr id="6" name="Documentez les accès, les coûts observés et les li">
            <a:extLst xmlns:a="http://schemas.openxmlformats.org/drawingml/2006/main">
              <a:ext uri="{FF2B5EF4-FFF2-40B4-BE49-F238E27FC236}">
                <a16:creationId xmlns:a16="http://schemas.microsoft.com/office/drawing/2014/main" id="{4E6E2366-268A-4485-90E5-560FA0E9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Documentez les accès, les coûts observés et les limites du prototype.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4D25DBB7-21E9-4119-8AFD-6E785319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ivrables : code, documentation, démonstration et ">
            <a:extLst xmlns:a="http://schemas.openxmlformats.org/drawingml/2006/main">
              <a:ext uri="{FF2B5EF4-FFF2-40B4-BE49-F238E27FC236}">
                <a16:creationId xmlns:a16="http://schemas.microsoft.com/office/drawing/2014/main" id="{2B69E88F-B0CD-4494-806C-A658EA10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Livrables : code, documentation, démonstration et bilan d’évaluation.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d39a594a704433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4 / 36">
            <a:extLst xmlns:a="http://schemas.openxmlformats.org/drawingml/2006/main">
              <a:ext uri="{FF2B5EF4-FFF2-40B4-BE49-F238E27FC236}">
                <a16:creationId xmlns:a16="http://schemas.microsoft.com/office/drawing/2014/main" id="{A42F676B-A701-45E2-958C-2640535A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34 / 36</a:t>
            </a:r>
          </a:p>
        </p:txBody>
      </p:sp>
    </p:spTree>
    <p:extLst>
      <p:ext uri="{BB962C8B-B14F-4D97-AF65-F5344CB8AC3E}">
        <p14:creationId xmlns:p14="http://schemas.microsoft.com/office/powerpoint/2010/main" val="118342791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15C500-05E0-4353-B15F-F5AAEE3D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B4BB9303-8FBF-40C0-B86A-67870190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restitution technique">
            <a:extLst xmlns:a="http://schemas.openxmlformats.org/drawingml/2006/main">
              <a:ext uri="{FF2B5EF4-FFF2-40B4-BE49-F238E27FC236}">
                <a16:creationId xmlns:a16="http://schemas.microsoft.com/office/drawing/2014/main" id="{06AE029F-2A43-4EE2-8C91-B4D16222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restitution technique</a:t>
            </a:r>
          </a:p>
        </p:txBody>
      </p:sp>
      <p:sp>
        <p:nvSpPr>
          <p:cNvPr id="4" name="La démonstration doit montrer le fonctionnement et">
            <a:extLst xmlns:a="http://schemas.openxmlformats.org/drawingml/2006/main">
              <a:ext uri="{FF2B5EF4-FFF2-40B4-BE49-F238E27FC236}">
                <a16:creationId xmlns:a16="http://schemas.microsoft.com/office/drawing/2014/main" id="{0CFD5E39-9474-4FC4-990F-5793A138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La démonstration doit montrer le fonctionnement et les limites.</a:t>
            </a:r>
          </a:p>
        </p:txBody>
      </p:sp>
      <p:sp>
        <p:nvSpPr>
          <p:cNvPr id="5" name="Présentez une question réussie, un cas difficile e">
            <a:extLst xmlns:a="http://schemas.openxmlformats.org/drawingml/2006/main">
              <a:ext uri="{FF2B5EF4-FFF2-40B4-BE49-F238E27FC236}">
                <a16:creationId xmlns:a16="http://schemas.microsoft.com/office/drawing/2014/main" id="{CFE9BDBA-94AD-4150-A8F1-057EEB24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Présentez une question réussie, un cas difficile et le comportement attendu en échec.</a:t>
            </a:r>
          </a:p>
        </p:txBody>
      </p:sp>
      <p:sp>
        <p:nvSpPr>
          <p:cNvPr id="6" name="Expliquez vos choix d’architecture à partir des te">
            <a:extLst xmlns:a="http://schemas.openxmlformats.org/drawingml/2006/main">
              <a:ext uri="{FF2B5EF4-FFF2-40B4-BE49-F238E27FC236}">
                <a16:creationId xmlns:a16="http://schemas.microsoft.com/office/drawing/2014/main" id="{C0465713-3948-4F02-8FC1-F548F8EF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Expliquez vos choix d’architecture à partir des tests réalisés.</a:t>
            </a:r>
          </a:p>
        </p:txBody>
      </p:sp>
      <p:sp>
        <p:nvSpPr>
          <p:cNvPr id="7" name="POINT DE REPÈRE">
            <a:extLst xmlns:a="http://schemas.openxmlformats.org/drawingml/2006/main">
              <a:ext uri="{FF2B5EF4-FFF2-40B4-BE49-F238E27FC236}">
                <a16:creationId xmlns:a16="http://schemas.microsoft.com/office/drawing/2014/main" id="{1D219FEA-A925-4BB2-9F89-15BDE708F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POINT DE REPÈRE</a:t>
            </a:r>
          </a:p>
        </p:txBody>
      </p:sp>
      <p:sp>
        <p:nvSpPr>
          <p:cNvPr id="8" name="Le manuel prévoit également un QCM et les critères">
            <a:extLst xmlns:a="http://schemas.openxmlformats.org/drawingml/2006/main">
              <a:ext uri="{FF2B5EF4-FFF2-40B4-BE49-F238E27FC236}">
                <a16:creationId xmlns:a16="http://schemas.microsoft.com/office/drawing/2014/main" id="{4903D0F9-BD18-46B5-BAB8-0E6C5D90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 manuel prévoit également un QCM et les critères du projet.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b5fc14f1e4dae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5 / 36">
            <a:extLst xmlns:a="http://schemas.openxmlformats.org/drawingml/2006/main">
              <a:ext uri="{FF2B5EF4-FFF2-40B4-BE49-F238E27FC236}">
                <a16:creationId xmlns:a16="http://schemas.microsoft.com/office/drawing/2014/main" id="{2429773B-6716-4B28-A386-E91A4E6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35 / 36</a:t>
            </a:r>
          </a:p>
        </p:txBody>
      </p:sp>
    </p:spTree>
    <p:extLst>
      <p:ext uri="{BB962C8B-B14F-4D97-AF65-F5344CB8AC3E}">
        <p14:creationId xmlns:p14="http://schemas.microsoft.com/office/powerpoint/2010/main" val="167691760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42A580-8D01-409E-837D-CCCCECCD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0A6E"/>
          </a:solidFill>
          <a:ln xmlns:a="http://schemas.openxmlformats.org/drawingml/2006/main" w="0">
            <a:noFill/>
          </a:ln>
        </p:spPr>
      </p:sp>
      <p:sp>
        <p:nvSpPr>
          <p:cNvPr id="2" name="NIVEAU 3">
            <a:extLst xmlns:a="http://schemas.openxmlformats.org/drawingml/2006/main">
              <a:ext uri="{FF2B5EF4-FFF2-40B4-BE49-F238E27FC236}">
                <a16:creationId xmlns:a16="http://schemas.microsoft.com/office/drawing/2014/main" id="{861FAF54-8C54-47D5-9253-1797D167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700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57FF"/>
                </a:solidFill>
                <a:latin typeface="Poppins"/>
                <a:ea typeface="Poppins"/>
                <a:cs typeface="Poppins"/>
              </a:defRPr>
            </a:pPr>
            <a:r>
              <a:rPr sz="1500" b="1">
                <a:solidFill>
                  <a:srgbClr val="0057FF"/>
                </a:solidFill>
                <a:latin typeface="Poppins"/>
                <a:ea typeface="Poppins"/>
                <a:cs typeface="Poppins"/>
              </a:rPr>
              <a:t>NIVEAU 3</a:t>
            </a:r>
          </a:p>
        </p:txBody>
      </p:sp>
      <p:sp>
        <p:nvSpPr>
          <p:cNvPr id="3" name="La suite du parcours">
            <a:extLst xmlns:a="http://schemas.openxmlformats.org/drawingml/2006/main">
              <a:ext uri="{FF2B5EF4-FFF2-40B4-BE49-F238E27FC236}">
                <a16:creationId xmlns:a16="http://schemas.microsoft.com/office/drawing/2014/main" id="{60F5CED0-75A4-49A6-A8CE-B6A281D7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70866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D0A6E"/>
                </a:solidFill>
                <a:latin typeface="Poppins"/>
                <a:ea typeface="Poppins"/>
                <a:cs typeface="Poppins"/>
              </a:defRPr>
            </a:pPr>
            <a:r>
              <a:rPr sz="3300" b="1">
                <a:solidFill>
                  <a:srgbClr val="2D0A6E"/>
                </a:solidFill>
                <a:latin typeface="Poppins"/>
                <a:ea typeface="Poppins"/>
                <a:cs typeface="Poppins"/>
              </a:rPr>
              <a:t>La suite du parcours</a:t>
            </a:r>
          </a:p>
        </p:txBody>
      </p:sp>
      <p:sp>
        <p:nvSpPr>
          <p:cNvPr id="4" name="Un système utile reste évalué pendant son évolutio">
            <a:extLst xmlns:a="http://schemas.openxmlformats.org/drawingml/2006/main">
              <a:ext uri="{FF2B5EF4-FFF2-40B4-BE49-F238E27FC236}">
                <a16:creationId xmlns:a16="http://schemas.microsoft.com/office/drawing/2014/main" id="{F0732A25-69F7-4D45-AB96-F7CBD09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7000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Un système utile reste évalué pendant son évolution.</a:t>
            </a:r>
          </a:p>
        </p:txBody>
      </p:sp>
      <p:sp>
        <p:nvSpPr>
          <p:cNvPr id="5" name="Conservez les tests de référence et surveillez les">
            <a:extLst xmlns:a="http://schemas.openxmlformats.org/drawingml/2006/main">
              <a:ext uri="{FF2B5EF4-FFF2-40B4-BE49-F238E27FC236}">
                <a16:creationId xmlns:a16="http://schemas.microsoft.com/office/drawing/2014/main" id="{38EB4C09-54BB-4793-864A-750C53A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0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Conservez les tests de référence et surveillez les changements du corpus.</a:t>
            </a:r>
          </a:p>
        </p:txBody>
      </p:sp>
      <p:sp>
        <p:nvSpPr>
          <p:cNvPr id="6" name="Le niveau 4 adapte ces méthodes aux contraintes de">
            <a:extLst xmlns:a="http://schemas.openxmlformats.org/drawingml/2006/main">
              <a:ext uri="{FF2B5EF4-FFF2-40B4-BE49-F238E27FC236}">
                <a16:creationId xmlns:a16="http://schemas.microsoft.com/office/drawing/2014/main" id="{F4DD8B64-D26A-43D6-A5D8-AA4005F0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7000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4142B"/>
                </a:solidFill>
                <a:latin typeface="DejaVu Sans"/>
                <a:ea typeface="DejaVu Sans"/>
                <a:cs typeface="DejaVu Sans"/>
              </a:rPr>
              <a:t>Le niveau 4 adapte ces méthodes aux contraintes des métiers.</a:t>
            </a:r>
          </a:p>
        </p:txBody>
      </p:sp>
      <p:sp>
        <p:nvSpPr>
          <p:cNvPr id="7" name="POUR POURSUIVRE">
            <a:extLst xmlns:a="http://schemas.openxmlformats.org/drawingml/2006/main">
              <a:ext uri="{FF2B5EF4-FFF2-40B4-BE49-F238E27FC236}">
                <a16:creationId xmlns:a16="http://schemas.microsoft.com/office/drawing/2014/main" id="{7F4CF87F-C7E9-438D-8492-5B02E03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619125"/>
            <a:ext cx="2914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A4FA"/>
                </a:solidFill>
                <a:latin typeface="Poppins"/>
                <a:ea typeface="Poppins"/>
                <a:cs typeface="Poppins"/>
              </a:defRPr>
            </a:pPr>
            <a:r>
              <a:rPr sz="1425" b="1">
                <a:solidFill>
                  <a:srgbClr val="00A4FA"/>
                </a:solidFill>
                <a:latin typeface="Poppins"/>
                <a:ea typeface="Poppins"/>
                <a:cs typeface="Poppins"/>
              </a:rPr>
              <a:t>POUR POURSUIVRE</a:t>
            </a:r>
          </a:p>
        </p:txBody>
      </p:sp>
      <p:sp>
        <p:nvSpPr>
          <p:cNvPr id="8" name="Ressource de référence : le manuel complet du nive">
            <a:extLst xmlns:a="http://schemas.openxmlformats.org/drawingml/2006/main">
              <a:ext uri="{FF2B5EF4-FFF2-40B4-BE49-F238E27FC236}">
                <a16:creationId xmlns:a16="http://schemas.microsoft.com/office/drawing/2014/main" id="{DC9BD860-B891-4090-81DD-F8AAA169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600200"/>
            <a:ext cx="2762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Ressource de référence : le manuel complet du niveau 3.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a7b0413394ced"/>
          <a:stretch xmlns:a="http://schemas.openxmlformats.org/drawingml/2006/main"/>
        </p:blipFill>
        <p:spPr>
          <a:xfrm xmlns:a="http://schemas.openxmlformats.org/drawingml/2006/main">
            <a:off x="8858250" y="4953000"/>
            <a:ext cx="26670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36 / 36">
            <a:extLst xmlns:a="http://schemas.openxmlformats.org/drawingml/2006/main">
              <a:ext uri="{FF2B5EF4-FFF2-40B4-BE49-F238E27FC236}">
                <a16:creationId xmlns:a16="http://schemas.microsoft.com/office/drawing/2014/main" id="{FFE2F306-0CFB-423D-92A1-C4EB54F2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6B7280"/>
                </a:solidFill>
                <a:latin typeface="DejaVu Sans"/>
                <a:ea typeface="DejaVu Sans"/>
                <a:cs typeface="DejaVu Sans"/>
              </a:rPr>
              <a:t>36 / 36</a:t>
            </a:r>
          </a:p>
        </p:txBody>
      </p:sp>
    </p:spTree>
    <p:extLst>
      <p:ext uri="{BB962C8B-B14F-4D97-AF65-F5344CB8AC3E}">
        <p14:creationId xmlns:p14="http://schemas.microsoft.com/office/powerpoint/2010/main" val="724498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2026-10-02T23:21:47.2230000Z</dcterms:created>
  <dcterms:modified xsi:type="dcterms:W3CDTF">2026-10-02T23:21:47.2230000Z</dcterms:modified>
</coreProperties>
</file>