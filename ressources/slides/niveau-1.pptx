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e2b2e6effb4153" /><Relationship Type="http://schemas.openxmlformats.org/officeDocument/2006/relationships/extended-properties" Target="/docProps/app.xml" Id="R603a2878f2a04822" /><Relationship Type="http://schemas.openxmlformats.org/officeDocument/2006/relationships/officeDocument" Target="/ppt/presentation.xml" Id="Rb45dcbc4ff6f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f3ef601214edd"/>
  </p:sldMasterIdLst>
  <p:notesMasterIdLst>
    <p:notesMasterId xmlns:r="http://schemas.openxmlformats.org/officeDocument/2006/relationships" r:id="Rb8bd0f1607c642a3"/>
  </p:notesMasterIdLst>
  <p:sldIdLst>
    <p:sldId xmlns:r="http://schemas.openxmlformats.org/officeDocument/2006/relationships" id="256" r:id="R70e638b96cfc495e"/>
    <p:sldId xmlns:r="http://schemas.openxmlformats.org/officeDocument/2006/relationships" id="257" r:id="Re56bfa90aa5545ee"/>
    <p:sldId xmlns:r="http://schemas.openxmlformats.org/officeDocument/2006/relationships" id="258" r:id="Rae534bd7c6824324"/>
    <p:sldId xmlns:r="http://schemas.openxmlformats.org/officeDocument/2006/relationships" id="259" r:id="Ra7a53d8dcb564703"/>
    <p:sldId xmlns:r="http://schemas.openxmlformats.org/officeDocument/2006/relationships" id="260" r:id="R20a740ab3e1044ea"/>
    <p:sldId xmlns:r="http://schemas.openxmlformats.org/officeDocument/2006/relationships" id="261" r:id="R779ae759a7914308"/>
    <p:sldId xmlns:r="http://schemas.openxmlformats.org/officeDocument/2006/relationships" id="262" r:id="R629f14cd698f44b0"/>
    <p:sldId xmlns:r="http://schemas.openxmlformats.org/officeDocument/2006/relationships" id="263" r:id="Rad5ece2b22f641d3"/>
    <p:sldId xmlns:r="http://schemas.openxmlformats.org/officeDocument/2006/relationships" id="264" r:id="R63e5ef1a625c4d65"/>
    <p:sldId xmlns:r="http://schemas.openxmlformats.org/officeDocument/2006/relationships" id="265" r:id="Rabf1e3b749cd4f9f"/>
    <p:sldId xmlns:r="http://schemas.openxmlformats.org/officeDocument/2006/relationships" id="266" r:id="Rbc89d5c9c3d34e34"/>
    <p:sldId xmlns:r="http://schemas.openxmlformats.org/officeDocument/2006/relationships" id="267" r:id="R3bf5696dea8846ae"/>
    <p:sldId xmlns:r="http://schemas.openxmlformats.org/officeDocument/2006/relationships" id="268" r:id="R0c464613730b4d54"/>
    <p:sldId xmlns:r="http://schemas.openxmlformats.org/officeDocument/2006/relationships" id="269" r:id="Rf0fcefd387a04ae8"/>
    <p:sldId xmlns:r="http://schemas.openxmlformats.org/officeDocument/2006/relationships" id="270" r:id="R72e020f6760c49ac"/>
    <p:sldId xmlns:r="http://schemas.openxmlformats.org/officeDocument/2006/relationships" id="271" r:id="R5deb458c3e6c4b72"/>
    <p:sldId xmlns:r="http://schemas.openxmlformats.org/officeDocument/2006/relationships" id="272" r:id="R8def9aecb5aa486f"/>
    <p:sldId xmlns:r="http://schemas.openxmlformats.org/officeDocument/2006/relationships" id="273" r:id="R07cb5604853346c0"/>
    <p:sldId xmlns:r="http://schemas.openxmlformats.org/officeDocument/2006/relationships" id="274" r:id="Rc2768383d6034762"/>
    <p:sldId xmlns:r="http://schemas.openxmlformats.org/officeDocument/2006/relationships" id="275" r:id="Ra59404f439db4776"/>
    <p:sldId xmlns:r="http://schemas.openxmlformats.org/officeDocument/2006/relationships" id="276" r:id="R19e96c55b4184e1f"/>
    <p:sldId xmlns:r="http://schemas.openxmlformats.org/officeDocument/2006/relationships" id="277" r:id="R145f373c1bd340ac"/>
    <p:sldId xmlns:r="http://schemas.openxmlformats.org/officeDocument/2006/relationships" id="278" r:id="Rb18b82d7236646a0"/>
    <p:sldId xmlns:r="http://schemas.openxmlformats.org/officeDocument/2006/relationships" id="279" r:id="R9c74fad826ca451f"/>
    <p:sldId xmlns:r="http://schemas.openxmlformats.org/officeDocument/2006/relationships" id="280" r:id="Rf8cc0109d71544d4"/>
    <p:sldId xmlns:r="http://schemas.openxmlformats.org/officeDocument/2006/relationships" id="281" r:id="Rdf870ca8f9484feb"/>
    <p:sldId xmlns:r="http://schemas.openxmlformats.org/officeDocument/2006/relationships" id="282" r:id="Ra7138d082c474110"/>
    <p:sldId xmlns:r="http://schemas.openxmlformats.org/officeDocument/2006/relationships" id="283" r:id="R02f472c4702f4848"/>
    <p:sldId xmlns:r="http://schemas.openxmlformats.org/officeDocument/2006/relationships" id="284" r:id="R664c3e0d7fba46ab"/>
    <p:sldId xmlns:r="http://schemas.openxmlformats.org/officeDocument/2006/relationships" id="285" r:id="Rb066fc8400e84f93"/>
    <p:sldId xmlns:r="http://schemas.openxmlformats.org/officeDocument/2006/relationships" id="286" r:id="R406af0558d2e4a0f"/>
    <p:sldId xmlns:r="http://schemas.openxmlformats.org/officeDocument/2006/relationships" id="287" r:id="R23dd410fbd72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c9e5a3ce49429c" /><Relationship Type="http://schemas.openxmlformats.org/officeDocument/2006/relationships/slideMaster" Target="/ppt/slideMasters/slideMaster1.xml" Id="R542f3ef601214edd" /><Relationship Type="http://schemas.openxmlformats.org/officeDocument/2006/relationships/notesMaster" Target="/ppt/notesMasters/notesMaster1.xml" Id="Rb8bd0f1607c642a3" /><Relationship Type="http://schemas.openxmlformats.org/officeDocument/2006/relationships/presProps" Target="/ppt/presProps.xml" Id="Raf71127cf184459d" /><Relationship Type="http://schemas.openxmlformats.org/officeDocument/2006/relationships/tableStyles" Target="/ppt/tableStyles.xml" Id="R2551322ffb16468b" /><Relationship Type="http://schemas.openxmlformats.org/officeDocument/2006/relationships/slide" Target="/ppt/slides/slide1.xml" Id="R70e638b96cfc495e" /><Relationship Type="http://schemas.openxmlformats.org/officeDocument/2006/relationships/slide" Target="/ppt/slides/slide2.xml" Id="Re56bfa90aa5545ee" /><Relationship Type="http://schemas.openxmlformats.org/officeDocument/2006/relationships/slide" Target="/ppt/slides/slide3.xml" Id="Rae534bd7c6824324" /><Relationship Type="http://schemas.openxmlformats.org/officeDocument/2006/relationships/slide" Target="/ppt/slides/slide4.xml" Id="Ra7a53d8dcb564703" /><Relationship Type="http://schemas.openxmlformats.org/officeDocument/2006/relationships/slide" Target="/ppt/slides/slide5.xml" Id="R20a740ab3e1044ea" /><Relationship Type="http://schemas.openxmlformats.org/officeDocument/2006/relationships/slide" Target="/ppt/slides/slide6.xml" Id="R779ae759a7914308" /><Relationship Type="http://schemas.openxmlformats.org/officeDocument/2006/relationships/slide" Target="/ppt/slides/slide7.xml" Id="R629f14cd698f44b0" /><Relationship Type="http://schemas.openxmlformats.org/officeDocument/2006/relationships/slide" Target="/ppt/slides/slide8.xml" Id="Rad5ece2b22f641d3" /><Relationship Type="http://schemas.openxmlformats.org/officeDocument/2006/relationships/slide" Target="/ppt/slides/slide9.xml" Id="R63e5ef1a625c4d65" /><Relationship Type="http://schemas.openxmlformats.org/officeDocument/2006/relationships/slide" Target="/ppt/slides/slide10.xml" Id="Rabf1e3b749cd4f9f" /><Relationship Type="http://schemas.openxmlformats.org/officeDocument/2006/relationships/slide" Target="/ppt/slides/slide11.xml" Id="Rbc89d5c9c3d34e34" /><Relationship Type="http://schemas.openxmlformats.org/officeDocument/2006/relationships/slide" Target="/ppt/slides/slide12.xml" Id="R3bf5696dea8846ae" /><Relationship Type="http://schemas.openxmlformats.org/officeDocument/2006/relationships/slide" Target="/ppt/slides/slide13.xml" Id="R0c464613730b4d54" /><Relationship Type="http://schemas.openxmlformats.org/officeDocument/2006/relationships/slide" Target="/ppt/slides/slide14.xml" Id="Rf0fcefd387a04ae8" /><Relationship Type="http://schemas.openxmlformats.org/officeDocument/2006/relationships/slide" Target="/ppt/slides/slide15.xml" Id="R72e020f6760c49ac" /><Relationship Type="http://schemas.openxmlformats.org/officeDocument/2006/relationships/slide" Target="/ppt/slides/slide16.xml" Id="R5deb458c3e6c4b72" /><Relationship Type="http://schemas.openxmlformats.org/officeDocument/2006/relationships/slide" Target="/ppt/slides/slide17.xml" Id="R8def9aecb5aa486f" /><Relationship Type="http://schemas.openxmlformats.org/officeDocument/2006/relationships/slide" Target="/ppt/slides/slide18.xml" Id="R07cb5604853346c0" /><Relationship Type="http://schemas.openxmlformats.org/officeDocument/2006/relationships/slide" Target="/ppt/slides/slide19.xml" Id="Rc2768383d6034762" /><Relationship Type="http://schemas.openxmlformats.org/officeDocument/2006/relationships/slide" Target="/ppt/slides/slide20.xml" Id="Ra59404f439db4776" /><Relationship Type="http://schemas.openxmlformats.org/officeDocument/2006/relationships/slide" Target="/ppt/slides/slide21.xml" Id="R19e96c55b4184e1f" /><Relationship Type="http://schemas.openxmlformats.org/officeDocument/2006/relationships/slide" Target="/ppt/slides/slide22.xml" Id="R145f373c1bd340ac" /><Relationship Type="http://schemas.openxmlformats.org/officeDocument/2006/relationships/slide" Target="/ppt/slides/slide23.xml" Id="Rb18b82d7236646a0" /><Relationship Type="http://schemas.openxmlformats.org/officeDocument/2006/relationships/slide" Target="/ppt/slides/slide24.xml" Id="R9c74fad826ca451f" /><Relationship Type="http://schemas.openxmlformats.org/officeDocument/2006/relationships/slide" Target="/ppt/slides/slide25.xml" Id="Rf8cc0109d71544d4" /><Relationship Type="http://schemas.openxmlformats.org/officeDocument/2006/relationships/slide" Target="/ppt/slides/slide26.xml" Id="Rdf870ca8f9484feb" /><Relationship Type="http://schemas.openxmlformats.org/officeDocument/2006/relationships/slide" Target="/ppt/slides/slide27.xml" Id="Ra7138d082c474110" /><Relationship Type="http://schemas.openxmlformats.org/officeDocument/2006/relationships/slide" Target="/ppt/slides/slide28.xml" Id="R02f472c4702f4848" /><Relationship Type="http://schemas.openxmlformats.org/officeDocument/2006/relationships/slide" Target="/ppt/slides/slide29.xml" Id="R664c3e0d7fba46ab" /><Relationship Type="http://schemas.openxmlformats.org/officeDocument/2006/relationships/slide" Target="/ppt/slides/slide30.xml" Id="Rb066fc8400e84f93" /><Relationship Type="http://schemas.openxmlformats.org/officeDocument/2006/relationships/slide" Target="/ppt/slides/slide31.xml" Id="R406af0558d2e4a0f" /><Relationship Type="http://schemas.openxmlformats.org/officeDocument/2006/relationships/slide" Target="/ppt/slides/slide32.xml" Id="R23dd410fbd72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3af1e0c86b42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51fb27966f44e2" /><Relationship Type="http://schemas.openxmlformats.org/officeDocument/2006/relationships/notesMaster" Target="/ppt/notesMasters/notesMaster1.xml" Id="R88686b2a141240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689239ab7040fe" /><Relationship Type="http://schemas.openxmlformats.org/officeDocument/2006/relationships/notesMaster" Target="/ppt/notesMasters/notesMaster1.xml" Id="R247bea07eaf9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0b852ebe7443bf" /><Relationship Type="http://schemas.openxmlformats.org/officeDocument/2006/relationships/notesMaster" Target="/ppt/notesMasters/notesMaster1.xml" Id="R2f6144aa51424f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aadd831b2f4bd7" /><Relationship Type="http://schemas.openxmlformats.org/officeDocument/2006/relationships/notesMaster" Target="/ppt/notesMasters/notesMaster1.xml" Id="R395dc7d8241c4b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eaf911c64e4177" /><Relationship Type="http://schemas.openxmlformats.org/officeDocument/2006/relationships/notesMaster" Target="/ppt/notesMasters/notesMaster1.xml" Id="R5658b4f6cc66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89770d7f3344b2" /><Relationship Type="http://schemas.openxmlformats.org/officeDocument/2006/relationships/notesMaster" Target="/ppt/notesMasters/notesMaster1.xml" Id="Rdaa9a715ab4145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3ed85d784b4152" /><Relationship Type="http://schemas.openxmlformats.org/officeDocument/2006/relationships/notesMaster" Target="/ppt/notesMasters/notesMaster1.xml" Id="R44d3c5b611d948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df643d16c240a6" /><Relationship Type="http://schemas.openxmlformats.org/officeDocument/2006/relationships/notesMaster" Target="/ppt/notesMasters/notesMaster1.xml" Id="R8f1b6c0f8e5849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c2a71c51cd4951" /><Relationship Type="http://schemas.openxmlformats.org/officeDocument/2006/relationships/notesMaster" Target="/ppt/notesMasters/notesMaster1.xml" Id="R50b41916d0f642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07fd14cc644486" /><Relationship Type="http://schemas.openxmlformats.org/officeDocument/2006/relationships/notesMaster" Target="/ppt/notesMasters/notesMaster1.xml" Id="Rbed5bfd4b3114b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2c58491e6e4f44" /><Relationship Type="http://schemas.openxmlformats.org/officeDocument/2006/relationships/notesMaster" Target="/ppt/notesMasters/notesMaster1.xml" Id="R6715e8cedf6642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17e12584f4092" /><Relationship Type="http://schemas.openxmlformats.org/officeDocument/2006/relationships/notesMaster" Target="/ppt/notesMasters/notesMaster1.xml" Id="R7a2908d602564a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bd4e644a4c4cba" /><Relationship Type="http://schemas.openxmlformats.org/officeDocument/2006/relationships/notesMaster" Target="/ppt/notesMasters/notesMaster1.xml" Id="Ra381961d07634c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a731994a9c47d4" /><Relationship Type="http://schemas.openxmlformats.org/officeDocument/2006/relationships/notesMaster" Target="/ppt/notesMasters/notesMaster1.xml" Id="R08b182cf43c449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656a8b09fa4401" /><Relationship Type="http://schemas.openxmlformats.org/officeDocument/2006/relationships/notesMaster" Target="/ppt/notesMasters/notesMaster1.xml" Id="Rdab11d8b59e144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fbc8dd2b9b4281" /><Relationship Type="http://schemas.openxmlformats.org/officeDocument/2006/relationships/notesMaster" Target="/ppt/notesMasters/notesMaster1.xml" Id="R30588b688d514c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1abbd078d84ce6" /><Relationship Type="http://schemas.openxmlformats.org/officeDocument/2006/relationships/notesMaster" Target="/ppt/notesMasters/notesMaster1.xml" Id="R6ac043a3b94e4c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56f39427c44457" /><Relationship Type="http://schemas.openxmlformats.org/officeDocument/2006/relationships/notesMaster" Target="/ppt/notesMasters/notesMaster1.xml" Id="Rb7547934c72749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1c0199d80f4967" /><Relationship Type="http://schemas.openxmlformats.org/officeDocument/2006/relationships/notesMaster" Target="/ppt/notesMasters/notesMaster1.xml" Id="R0388137eae4444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03e5e929054e3d" /><Relationship Type="http://schemas.openxmlformats.org/officeDocument/2006/relationships/notesMaster" Target="/ppt/notesMasters/notesMaster1.xml" Id="R7c7092a08db845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c3e31ecad2472d" /><Relationship Type="http://schemas.openxmlformats.org/officeDocument/2006/relationships/notesMaster" Target="/ppt/notesMasters/notesMaster1.xml" Id="Rba9d853940c142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55f2b8f762436c" /><Relationship Type="http://schemas.openxmlformats.org/officeDocument/2006/relationships/notesMaster" Target="/ppt/notesMasters/notesMaster1.xml" Id="Rccc69750ce2c4c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c76f1d853e487c" /><Relationship Type="http://schemas.openxmlformats.org/officeDocument/2006/relationships/notesMaster" Target="/ppt/notesMasters/notesMaster1.xml" Id="R70721840fe4441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33c2833ad2d4078" /><Relationship Type="http://schemas.openxmlformats.org/officeDocument/2006/relationships/notesMaster" Target="/ppt/notesMasters/notesMaster1.xml" Id="Re960da2df4a24a7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3d08f1259442ee" /><Relationship Type="http://schemas.openxmlformats.org/officeDocument/2006/relationships/notesMaster" Target="/ppt/notesMasters/notesMaster1.xml" Id="Rf61c2c1d67974c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56fba291bf04b89" /><Relationship Type="http://schemas.openxmlformats.org/officeDocument/2006/relationships/notesMaster" Target="/ppt/notesMasters/notesMaster1.xml" Id="R0128833f70d847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05993906f5844ed" /><Relationship Type="http://schemas.openxmlformats.org/officeDocument/2006/relationships/notesMaster" Target="/ppt/notesMasters/notesMaster1.xml" Id="Rb1633aeb15684b2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251fe68b7c49cb" /><Relationship Type="http://schemas.openxmlformats.org/officeDocument/2006/relationships/notesMaster" Target="/ppt/notesMasters/notesMaster1.xml" Id="Rc533755d7a9b4a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4d54af4bd8b48e2" /><Relationship Type="http://schemas.openxmlformats.org/officeDocument/2006/relationships/notesMaster" Target="/ppt/notesMasters/notesMaster1.xml" Id="R940d7031c91e44d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09a2a93b3e145bb" /><Relationship Type="http://schemas.openxmlformats.org/officeDocument/2006/relationships/notesMaster" Target="/ppt/notesMasters/notesMaster1.xml" Id="Rb356c1554de445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6e08cb993b04f74" /><Relationship Type="http://schemas.openxmlformats.org/officeDocument/2006/relationships/notesMaster" Target="/ppt/notesMasters/notesMaster1.xml" Id="Rf85dbda0dcc64e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fe79f8e213e46ec" /><Relationship Type="http://schemas.openxmlformats.org/officeDocument/2006/relationships/notesMaster" Target="/ppt/notesMasters/notesMaster1.xml" Id="Re36b3c87e57c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1. Les exemples et mises en pratique sont des adaptations pédagogiques. Consulter le manuel pour le cours détaillé.</a:t>
            </a:r>
          </a:p>
          <a:p xmlns:a="http://schemas.openxmlformats.org/drawingml/2006/main">
            <a:r>
              <a:t>Comprendre les modèles de langage et formuler des demandes utiles.</a:t>
            </a:r>
          </a:p>
          <a:p xmlns:a="http://schemas.openxmlformats.org/drawingml/2006/main">
            <a:r>
              <a:t>Niveau 1 Parcours découverte</a:t>
            </a:r>
          </a:p>
          <a:p xmlns:a="http://schemas.openxmlformats.org/drawingml/2006/main">
            <a:r>
              <a:t>14 heures Support de cours</a:t>
            </a:r>
          </a:p>
          <a:p xmlns:a="http://schemas.openxmlformats.org/drawingml/2006/main">
            <a:r>
              <a:t>De novice à expert engineer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demande claire facilite l’évaluation du résultat.</a:t>
            </a:r>
          </a:p>
          <a:p xmlns:a="http://schemas.openxmlformats.org/drawingml/2006/main">
            <a:r>
              <a:t>Expliquer le rôle d’un LLM et reconnaître ses limites.</a:t>
            </a:r>
          </a:p>
          <a:p xmlns:a="http://schemas.openxmlformats.org/drawingml/2006/main">
            <a:r>
              <a:t>Rédiger un prompt structuré, puis vérifier la réponse obtenue.</a:t>
            </a:r>
          </a:p>
          <a:p xmlns:a="http://schemas.openxmlformats.org/drawingml/2006/main">
            <a:r>
              <a:t>Livrable : cinq prompts réutilisables pour vos tâches.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2–4.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pratique transforme une notion en compétence observable.</a:t>
            </a:r>
          </a:p>
          <a:p xmlns:a="http://schemas.openxmlformats.org/drawingml/2006/main">
            <a:r>
              <a:t>5 h de théorie et 7 h de pratique.</a:t>
            </a:r>
          </a:p>
          <a:p xmlns:a="http://schemas.openxmlformats.org/drawingml/2006/main">
            <a:r>
              <a:t>2 h consacrées à l’évaluation et aux ressources.</a:t>
            </a:r>
          </a:p>
          <a:p xmlns:a="http://schemas.openxmlformats.org/drawingml/2006/main">
            <a:r>
              <a:t>À chaque étape : essai, comparaison et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4–8.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modèle produit du contenu à partir d’une demande et de son contexte.</a:t>
            </a:r>
          </a:p>
          <a:p xmlns:a="http://schemas.openxmlformats.org/drawingml/2006/main">
            <a:r>
              <a:t>Selon le système, la sortie peut être un texte, une image, du son ou du code.</a:t>
            </a:r>
          </a:p>
          <a:p xmlns:a="http://schemas.openxmlformats.org/drawingml/2006/main">
            <a:r>
              <a:t>Exemple : proposer un premier brouillon de présentation à partir d’un brief.</a:t>
            </a:r>
          </a:p>
          <a:p xmlns:a="http://schemas.openxmlformats.org/drawingml/2006/main">
            <a:r>
              <a:t>Une sortie convaincante exige toujours une vérification adaptée.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4–8.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modèle génère la réponse. Le chatbot organise l’échange.</a:t>
            </a:r>
          </a:p>
          <a:p xmlns:a="http://schemas.openxmlformats.org/drawingml/2006/main">
            <a:r>
              <a:t>Le modèle traite les informations transmises dans son contexte.</a:t>
            </a:r>
          </a:p>
          <a:p xmlns:a="http://schemas.openxmlformats.org/drawingml/2006/main">
            <a:r>
              <a:t>L’interface peut ajouter des outils, des fichiers ou un historique.</a:t>
            </a:r>
          </a:p>
          <a:p xmlns:a="http://schemas.openxmlformats.org/drawingml/2006/main">
            <a:r>
              <a:t>Deux interfaces peuvent utiliser le même modèle avec des fonctions différentes.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4–8.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modèle construit une suite de tokens à partir du contexte disponible.</a:t>
            </a:r>
          </a:p>
          <a:p xmlns:a="http://schemas.openxmlformats.org/drawingml/2006/main">
            <a:r>
              <a:t>Il estime les suites possibles et sélectionne progressivement la sortie.</a:t>
            </a:r>
          </a:p>
          <a:p xmlns:a="http://schemas.openxmlformats.org/drawingml/2006/main">
            <a:r>
              <a:t>La consigne, les exemples et les documents orientent cette génération.</a:t>
            </a:r>
          </a:p>
          <a:p xmlns:a="http://schemas.openxmlformats.org/drawingml/2006/main">
            <a:r>
              <a:t>La fluidité du texte ne prouve pas son exactitude.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9–13.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token représente une unité de texte traitée par le modèle.</a:t>
            </a:r>
          </a:p>
          <a:p xmlns:a="http://schemas.openxmlformats.org/drawingml/2006/main">
            <a:r>
              <a:t>Un mot peut correspondre à un ou plusieurs tokens selon le modèle et la langue.</a:t>
            </a:r>
          </a:p>
          <a:p xmlns:a="http://schemas.openxmlformats.org/drawingml/2006/main">
            <a:r>
              <a:t>La ponctuation et les espaces peuvent aussi intervenir dans le découpage.</a:t>
            </a:r>
          </a:p>
          <a:p xmlns:a="http://schemas.openxmlformats.org/drawingml/2006/main">
            <a:r>
              <a:t>Éviter une conversion universelle entre mots et tokens.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9–13.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modèle ne peut traiter qu’une quantité limitée d’information à la fois.</a:t>
            </a:r>
          </a:p>
          <a:p xmlns:a="http://schemas.openxmlformats.org/drawingml/2006/main">
            <a:r>
              <a:t>La consigne et les documents occupent une partie du contexte disponible.</a:t>
            </a:r>
          </a:p>
          <a:p xmlns:a="http://schemas.openxmlformats.org/drawingml/2006/main">
            <a:r>
              <a:t>Un long historique peut devenir incomplet ou difficile à exploiter.</a:t>
            </a:r>
          </a:p>
          <a:p xmlns:a="http://schemas.openxmlformats.org/drawingml/2006/main">
            <a:r>
              <a:t>Contexte de conversation et mémoire persistante sont deux fonctions distinctes.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9–13. Les exemples et mises en pratique sont des adaptations pédagogiques. Consulter le manuel pour le cours détaillé.</a:t>
            </a:r>
          </a:p>
          <a:p xmlns:a="http://schemas.openxmlformats.org/drawingml/2006/main">
            <a:r>
              <a:t>Ce réglage peut modifier la diversité des réponses produites.</a:t>
            </a:r>
          </a:p>
          <a:p xmlns:a="http://schemas.openxmlformats.org/drawingml/2006/main">
            <a:r>
              <a:t>Une valeur faible favorise souvent des sorties moins variées.</a:t>
            </a:r>
          </a:p>
          <a:p xmlns:a="http://schemas.openxmlformats.org/drawingml/2006/main">
            <a:r>
              <a:t>Le paramètre dépend de l’outil et du modèle utilisés.</a:t>
            </a:r>
          </a:p>
          <a:p xmlns:a="http://schemas.openxmlformats.org/drawingml/2006/main">
            <a:r>
              <a:t>Une faible température ne garantit ni vérité ni répétition parfaite.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9–13. Les exemples et mises en pratique sont des adaptations pédagogiques. Consulter le manuel pour le cours détaillé.</a:t>
            </a:r>
          </a:p>
          <a:p xmlns:a="http://schemas.openxmlformats.org/drawingml/2006/main">
            <a:r>
              <a:t>Quelques termes suffisent pour commencer à expérimenter.</a:t>
            </a:r>
          </a:p>
          <a:p xmlns:a="http://schemas.openxmlformats.org/drawingml/2006/main">
            <a:r>
              <a:t>Prompt : consigne envoyée au système. Contexte : informations qui accompagnent la demande.</a:t>
            </a:r>
          </a:p>
          <a:p xmlns:a="http://schemas.openxmlformats.org/drawingml/2006/main">
            <a:r>
              <a:t>Hallucination : contenu plausible mais faux. Biais : tendance qui peut déformer une réponse.</a:t>
            </a:r>
          </a:p>
          <a:p xmlns:a="http://schemas.openxmlformats.org/drawingml/2006/main">
            <a:r>
              <a:t>Exercice oral : expliquer chaque terme avec vos propres mots.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21–23.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Comparer deux explications d’une même notion.</a:t>
            </a:r>
          </a:p>
          <a:p xmlns:a="http://schemas.openxmlformats.org/drawingml/2006/main">
            <a:r>
              <a:t>Demandez une définition simple de l’IA générative, puis deux exemples concrets.</a:t>
            </a:r>
          </a:p>
          <a:p xmlns:a="http://schemas.openxmlformats.org/drawingml/2006/main">
            <a:r>
              <a:t>Reformulez la demande pour un adulte débutant et comparez les résultats.</a:t>
            </a:r>
          </a:p>
          <a:p xmlns:a="http://schemas.openxmlformats.org/drawingml/2006/main">
            <a:r>
              <a:t>À remettre : la meilleure réponse et deux raisons de votre choix.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14–17.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méthodes de génération ont évolué avec les architectures et les données.</a:t>
            </a:r>
          </a:p>
          <a:p xmlns:a="http://schemas.openxmlformats.org/drawingml/2006/main">
            <a:r>
              <a:t>Les modèles statistiques ont précédé de nombreuses approches neuronales.</a:t>
            </a:r>
          </a:p>
          <a:p xmlns:a="http://schemas.openxmlformats.org/drawingml/2006/main">
            <a:r>
              <a:t>Les transformers ont élargi les possibilités de traitement du contexte.</a:t>
            </a:r>
          </a:p>
          <a:p xmlns:a="http://schemas.openxmlformats.org/drawingml/2006/main">
            <a:r>
              <a:t>Les systèmes combinent aujourd’hui plusieurs méthodes selon les besoins.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14–17.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LLM peut assister une tâche tout en produisant des erreurs.</a:t>
            </a:r>
          </a:p>
          <a:p xmlns:a="http://schemas.openxmlformats.org/drawingml/2006/main">
            <a:r>
              <a:t>Usages : reformuler un texte, préparer un plan ou résumer un document fourni.</a:t>
            </a:r>
          </a:p>
          <a:p xmlns:a="http://schemas.openxmlformats.org/drawingml/2006/main">
            <a:r>
              <a:t>Limites : faits inexacts, informations manquantes et consignes mal interprétées.</a:t>
            </a:r>
          </a:p>
          <a:p xmlns:a="http://schemas.openxmlformats.org/drawingml/2006/main">
            <a:r>
              <a:t>Le niveau de contrôle dépend des conséquences d’une erreur.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14–17.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réponse peut inventer une source ou attribuer une citation.</a:t>
            </a:r>
          </a:p>
          <a:p xmlns:a="http://schemas.openxmlformats.org/drawingml/2006/main">
            <a:r>
              <a:t>Exemple fictif : le modèle cite un rapport que vous ne trouvez dans aucun catalogue.</a:t>
            </a:r>
          </a:p>
          <a:p xmlns:a="http://schemas.openxmlformats.org/drawingml/2006/main">
            <a:r>
              <a:t>La bonne réaction consiste à vérifier le document et le passage concernés.</a:t>
            </a:r>
          </a:p>
          <a:p xmlns:a="http://schemas.openxmlformats.org/drawingml/2006/main">
            <a:r>
              <a:t>Une référence détaillée peut elle aussi être inventée.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14–17. Les exemples et mises en pratique sont des adaptations pédagogiques. Consulter le manuel pour le cours détaillé.</a:t>
            </a:r>
          </a:p>
          <a:p xmlns:a="http://schemas.openxmlformats.org/drawingml/2006/main">
            <a:r>
              <a:t>Chaque affirmation importante doit pouvoir être contrôlée.</a:t>
            </a:r>
          </a:p>
          <a:p xmlns:a="http://schemas.openxmlformats.org/drawingml/2006/main">
            <a:r>
              <a:t>Retrouvez la source originale et vérifiez sa date ainsi que son périmètre.</a:t>
            </a:r>
          </a:p>
          <a:p xmlns:a="http://schemas.openxmlformats.org/drawingml/2006/main">
            <a:r>
              <a:t>Comparez ce qu’elle dit réellement avec la réponse du modèle.</a:t>
            </a:r>
          </a:p>
          <a:p xmlns:a="http://schemas.openxmlformats.org/drawingml/2006/main">
            <a:r>
              <a:t>Si la preuve manque, signalez l’incertitude ou retirez l’affirmation.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14–17.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choix des données et la relecture font partie du travail.</a:t>
            </a:r>
          </a:p>
          <a:p xmlns:a="http://schemas.openxmlformats.org/drawingml/2006/main">
            <a:r>
              <a:t>Utilisez des exemples fictifs ou anonymisés pour les premiers essais.</a:t>
            </a:r>
          </a:p>
          <a:p xmlns:a="http://schemas.openxmlformats.org/drawingml/2006/main">
            <a:r>
              <a:t>Repérez les généralisations et les représentations injustifiées des personnes.</a:t>
            </a:r>
          </a:p>
          <a:p xmlns:a="http://schemas.openxmlformats.org/drawingml/2006/main">
            <a:r>
              <a:t>Avant un partage : vérifier les données personnelles et les informations internes.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18–20.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prompt décrit la tâche et les conditions de réussite.</a:t>
            </a:r>
          </a:p>
          <a:p xmlns:a="http://schemas.openxmlformats.org/drawingml/2006/main">
            <a:r>
              <a:t>Rôle, tâche et contexte précisent ce que le système doit faire.</a:t>
            </a:r>
          </a:p>
          <a:p xmlns:a="http://schemas.openxmlformats.org/drawingml/2006/main">
            <a:r>
              <a:t>Contraintes et format définissent les limites et la forme du résultat.</a:t>
            </a:r>
          </a:p>
          <a:p xmlns:a="http://schemas.openxmlformats.org/drawingml/2006/main">
            <a:r>
              <a:t>Un rôle seul ne remplace pas une consigne précise.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18–20.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consigne exploitable décrit le destinataire et le résultat attendu.</a:t>
            </a:r>
          </a:p>
          <a:p xmlns:a="http://schemas.openxmlformats.org/drawingml/2006/main">
            <a:r>
              <a:t>« Rédige un email à un partenaire pour proposer un rendez-vous mardi ou jeudi. »</a:t>
            </a:r>
          </a:p>
          <a:p xmlns:a="http://schemas.openxmlformats.org/drawingml/2006/main">
            <a:r>
              <a:t>« Ton professionnel, moins de 100 mots, objet inclus. Laisse les horaires à compléter. »</a:t>
            </a:r>
          </a:p>
          <a:p xmlns:a="http://schemas.openxmlformats.org/drawingml/2006/main">
            <a:r>
              <a:t>Exemple fictif. Aucun message n’est envoyé.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18–20.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qualité du brief se voit dans les critères que vous pouvez vérifier.</a:t>
            </a:r>
          </a:p>
          <a:p xmlns:a="http://schemas.openxmlformats.org/drawingml/2006/main">
            <a:r>
              <a:t>Demande vague : « Aide-moi à écrire un email. »</a:t>
            </a:r>
          </a:p>
          <a:p xmlns:a="http://schemas.openxmlformats.org/drawingml/2006/main">
            <a:r>
              <a:t>Demande précise : destinataire, but, informations disponibles, ton et longueur.</a:t>
            </a:r>
          </a:p>
          <a:p xmlns:a="http://schemas.openxmlformats.org/drawingml/2006/main">
            <a:r>
              <a:t>Comparer les réponses avec les mêmes critères.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21–23.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Améliorer une demande en conservant le même objectif.</a:t>
            </a:r>
          </a:p>
          <a:p xmlns:a="http://schemas.openxmlformats.org/drawingml/2006/main">
            <a:r>
              <a:t>Choisissez une consigne vague. Ajoutez le contexte, les contraintes et le format.</a:t>
            </a:r>
          </a:p>
          <a:p xmlns:a="http://schemas.openxmlformats.org/drawingml/2006/main">
            <a:r>
              <a:t>Testez les deux versions sur la même tâche et relevez les différences.</a:t>
            </a:r>
          </a:p>
          <a:p xmlns:a="http://schemas.openxmlformats.org/drawingml/2006/main">
            <a:r>
              <a:t>À remettre : deux prompts, deux sorties et une courte comparaison.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21–23.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synthèse doit conserver les idées de la source.</a:t>
            </a:r>
          </a:p>
          <a:p xmlns:a="http://schemas.openxmlformats.org/drawingml/2006/main">
            <a:r>
              <a:t>Fournissez un texte et demandez trois points essentiels pour un public défini.</a:t>
            </a:r>
          </a:p>
          <a:p xmlns:a="http://schemas.openxmlformats.org/drawingml/2006/main">
            <a:r>
              <a:t>Vérifiez chaque point dans le texte et supprimez tout ajout non justifié.</a:t>
            </a:r>
          </a:p>
          <a:p xmlns:a="http://schemas.openxmlformats.org/drawingml/2006/main">
            <a:r>
              <a:t>Critères : fidélité, concision et compréhension.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21–23.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brouillon utile contient les informations nécessaires au destinataire.</a:t>
            </a:r>
          </a:p>
          <a:p xmlns:a="http://schemas.openxmlformats.org/drawingml/2006/main">
            <a:r>
              <a:t>Préparez un brief fictif : interlocuteur, objectif, éléments à transmettre.</a:t>
            </a:r>
          </a:p>
          <a:p xmlns:a="http://schemas.openxmlformats.org/drawingml/2006/main">
            <a:r>
              <a:t>Relisez les noms, les dates et le ton. Corrigez avant tout usage.</a:t>
            </a:r>
          </a:p>
          <a:p xmlns:a="http://schemas.openxmlformats.org/drawingml/2006/main">
            <a:r>
              <a:t>À remettre : prompt, brouillon et version corrigée.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21–23.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brief visuel décrit le sujet et son usage.</a:t>
            </a:r>
          </a:p>
          <a:p xmlns:a="http://schemas.openxmlformats.org/drawingml/2006/main">
            <a:r>
              <a:t>Précisez le sujet, le contexte, le style souhaité et le format de diffusion.</a:t>
            </a:r>
          </a:p>
          <a:p xmlns:a="http://schemas.openxmlformats.org/drawingml/2006/main">
            <a:r>
              <a:t>Comparez le résultat au brief et notez les éléments à améliorer.</a:t>
            </a:r>
          </a:p>
          <a:p xmlns:a="http://schemas.openxmlformats.org/drawingml/2006/main">
            <a:r>
              <a:t>Vérifiez aussi la lisibilité du texte et la cohérence des détails.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21–23.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recherche de preuve complète le travail de génération.</a:t>
            </a:r>
          </a:p>
          <a:p xmlns:a="http://schemas.openxmlformats.org/drawingml/2006/main">
            <a:r>
              <a:t>Choisissez une affirmation factuelle dans une réponse et retrouvez une source primaire.</a:t>
            </a:r>
          </a:p>
          <a:p xmlns:a="http://schemas.openxmlformats.org/drawingml/2006/main">
            <a:r>
              <a:t>Notez la date, le passage utile et les éventuelles différences.</a:t>
            </a:r>
          </a:p>
          <a:p xmlns:a="http://schemas.openxmlformats.org/drawingml/2006/main">
            <a:r>
              <a:t>À remettre : affirmation, preuve trouvée et conclusion prudente.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24–27.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FAQ délimite ce que l’assistant peut répondre.</a:t>
            </a:r>
          </a:p>
          <a:p xmlns:a="http://schemas.openxmlformats.org/drawingml/2006/main">
            <a:r>
              <a:t>Fournissez des questions et réponses validées sur un service fictif.</a:t>
            </a:r>
          </a:p>
          <a:p xmlns:a="http://schemas.openxmlformats.org/drawingml/2006/main">
            <a:r>
              <a:t>Demandez une réponse courte et un transfert à un humain si la FAQ ne suffit pas.</a:t>
            </a:r>
          </a:p>
          <a:p xmlns:a="http://schemas.openxmlformats.org/drawingml/2006/main">
            <a:r>
              <a:t>Test : une question connue, une ambiguë et une hors périmètre.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24–27.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public et l’objectif déterminent les informations à retenir.</a:t>
            </a:r>
          </a:p>
          <a:p xmlns:a="http://schemas.openxmlformats.org/drawingml/2006/main">
            <a:r>
              <a:t>Exemple : résumer un compte rendu pour une responsable absente.</a:t>
            </a:r>
          </a:p>
          <a:p xmlns:a="http://schemas.openxmlformats.org/drawingml/2006/main">
            <a:r>
              <a:t>Demandez les décisions et les points ouverts, sans créer de nouvelles échéances.</a:t>
            </a:r>
          </a:p>
          <a:p xmlns:a="http://schemas.openxmlformats.org/drawingml/2006/main">
            <a:r>
              <a:t>Chaque élément doit correspondre à une information fournie.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24–27.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génération aide à explorer plusieurs propositions.</a:t>
            </a:r>
          </a:p>
          <a:p xmlns:a="http://schemas.openxmlformats.org/drawingml/2006/main">
            <a:r>
              <a:t>Décrivez le public, le besoin et les contraintes d’un produit fictif.</a:t>
            </a:r>
          </a:p>
          <a:p xmlns:a="http://schemas.openxmlformats.org/drawingml/2006/main">
            <a:r>
              <a:t>Comparez les idées selon leur utilité et leur faisabilité, puis justifiez votre choix.</a:t>
            </a:r>
          </a:p>
          <a:p xmlns:a="http://schemas.openxmlformats.org/drawingml/2006/main">
            <a:r>
              <a:t>Une idée générée reste une hypothèse à tester sur le terrain.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24–27.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modèle de consigne réutilisable contient des champs à compléter.</a:t>
            </a:r>
          </a:p>
          <a:p xmlns:a="http://schemas.openxmlformats.org/drawingml/2006/main">
            <a:r>
              <a:t>« Résume [texte] pour [public] en [format], sans ajouter d’informations. »</a:t>
            </a:r>
          </a:p>
          <a:p xmlns:a="http://schemas.openxmlformats.org/drawingml/2006/main">
            <a:r>
              <a:t>« Reformule [texte] avec un ton [ton] en conservant [éléments essentiels]. »</a:t>
            </a:r>
          </a:p>
          <a:p xmlns:a="http://schemas.openxmlformats.org/drawingml/2006/main">
            <a:r>
              <a:t>Conserver un exemple de résultat validé avec chaque modèle.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31–33. Les exemples et mises en pratique sont des adaptations pédagogiques. Consulter le manuel pour le cours détaillé.</a:t>
            </a:r>
          </a:p>
          <a:p xmlns:a="http://schemas.openxmlformats.org/drawingml/2006/main">
            <a:r>
              <a:t>Constituer un ensemble de cinq prompts utiles à vos activités.</a:t>
            </a:r>
          </a:p>
          <a:p xmlns:a="http://schemas.openxmlformats.org/drawingml/2006/main">
            <a:r>
              <a:t>Choisissez cinq tâches distinctes et précisez le résultat attendu pour chacune.</a:t>
            </a:r>
          </a:p>
          <a:p xmlns:a="http://schemas.openxmlformats.org/drawingml/2006/main">
            <a:r>
              <a:t>Testez les prompts avec des données fictives ou autorisées.</a:t>
            </a:r>
          </a:p>
          <a:p xmlns:a="http://schemas.openxmlformats.org/drawingml/2006/main">
            <a:r>
              <a:t>Chaque prompt doit être réutilisable et accompagné de ses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31–33.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comparaison rend votre progression visible.</a:t>
            </a:r>
          </a:p>
          <a:p xmlns:a="http://schemas.openxmlformats.org/drawingml/2006/main">
            <a:r>
              <a:t>Présentez la consigne initiale, la version améliorée et un résultat obtenu.</a:t>
            </a:r>
          </a:p>
          <a:p xmlns:a="http://schemas.openxmlformats.org/drawingml/2006/main">
            <a:r>
              <a:t>Expliquez ce que vous avez corrigé et comment vous avez contrôlé le résultat.</a:t>
            </a:r>
          </a:p>
          <a:p xmlns:a="http://schemas.openxmlformats.org/drawingml/2006/main">
            <a:r>
              <a:t>Le formateur évalue le travail à partir des critères du manuel.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28–36.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manuel prévoit un QCM et un projet pratique.</a:t>
            </a:r>
          </a:p>
          <a:p xmlns:a="http://schemas.openxmlformats.org/drawingml/2006/main">
            <a:r>
              <a:t>QCM annoncé : 40 questions. Seuil indiqué : 28 bonnes réponses.</a:t>
            </a:r>
          </a:p>
          <a:p xmlns:a="http://schemas.openxmlformats.org/drawingml/2006/main">
            <a:r>
              <a:t>Projet : 60 points. Seuil indiqué : 42 points.</a:t>
            </a:r>
          </a:p>
          <a:p xmlns:a="http://schemas.openxmlformats.org/drawingml/2006/main">
            <a:r>
              <a:t>Ces slides accompagnent la préparation. Elles ne constituent pas le QCM complet.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1. Source : manuel fourni par l’utilisateur, version août 2026, pages 37–42.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bonne pratique associe demande explicite et résultat contrôlé.</a:t>
            </a:r>
          </a:p>
          <a:p xmlns:a="http://schemas.openxmlformats.org/drawingml/2006/main">
            <a:r>
              <a:t>Conservez vos prompts validés et les exemples qui montrent leurs limites.</a:t>
            </a:r>
          </a:p>
          <a:p xmlns:a="http://schemas.openxmlformats.org/drawingml/2006/main">
            <a:r>
              <a:t>Le niveau 2 développe les processus réutilisables et la mesure de qualité.</a:t>
            </a:r>
          </a:p>
          <a:p xmlns:a="http://schemas.openxmlformats.org/drawingml/2006/main">
            <a:r>
              <a:t>Ressource de référence : le manuel complet du niveau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b4e7d60c643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cec2441674c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47e471e7941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e573d6f4c45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a5016e9754e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5571a665c4b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AC3F6A-42B7-4F70-AA24-21E1A5C3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5EC74D-12F4-49D9-96A6-0852802ABE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90F7D76-6026-457F-9EB0-AAA62AC0A6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019D77-B355-4B0F-B479-8E09DAD4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20935A-E067-4F72-AAD2-891C1E7DE6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D502915-06CE-4A86-B955-A2342BF2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E8B540-F49E-4CD5-816B-E58F91742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C5801F8-DC24-4E10-9EF5-FB7545C8A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FE73F4E-FA21-40D5-B88F-58C80B0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8203BC-8A93-403B-8317-FCC1C3740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578814-28D3-444A-B115-DE11A015E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F0859F-492E-4191-A4B8-C0108CBEBA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D42BCDD-74B2-45BB-92AC-CEB85AEF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00C06D-AD6C-4163-BD2A-1CF9E720F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F5019B-A579-48E1-8AFD-1422EAA85F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59df5e68cf4c8e" /><Relationship Type="http://schemas.openxmlformats.org/officeDocument/2006/relationships/slideLayout" Target="/ppt/slideLayouts/slideLayout1.xml" Id="Rb990d82c5b744e05" /><Relationship Type="http://schemas.openxmlformats.org/officeDocument/2006/relationships/slideLayout" Target="/ppt/slideLayouts/slideLayout2.xml" Id="R49f620ab82c44259" /><Relationship Type="http://schemas.openxmlformats.org/officeDocument/2006/relationships/slideLayout" Target="/ppt/slideLayouts/slideLayout3.xml" Id="R959a0b3877194c55" /><Relationship Type="http://schemas.openxmlformats.org/officeDocument/2006/relationships/slideLayout" Target="/ppt/slideLayouts/slideLayout4.xml" Id="R4b85f5dda4e64093" /><Relationship Type="http://schemas.openxmlformats.org/officeDocument/2006/relationships/slideLayout" Target="/ppt/slideLayouts/slideLayout5.xml" Id="Ra0ad1bcb745d4719" /><Relationship Type="http://schemas.openxmlformats.org/officeDocument/2006/relationships/slideLayout" Target="/ppt/slideLayouts/slideLayout6.xml" Id="Rc723d8d9399e4a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90d82c5b744e05"/>
    <p:sldLayoutId xmlns:r="http://schemas.openxmlformats.org/officeDocument/2006/relationships" id="2147483650" r:id="R49f620ab82c44259"/>
    <p:sldLayoutId xmlns:r="http://schemas.openxmlformats.org/officeDocument/2006/relationships" id="2147483651" r:id="R959a0b3877194c55"/>
    <p:sldLayoutId xmlns:r="http://schemas.openxmlformats.org/officeDocument/2006/relationships" id="2147483652" r:id="R4b85f5dda4e64093"/>
    <p:sldLayoutId xmlns:r="http://schemas.openxmlformats.org/officeDocument/2006/relationships" id="2147483653" r:id="Ra0ad1bcb745d4719"/>
    <p:sldLayoutId xmlns:r="http://schemas.openxmlformats.org/officeDocument/2006/relationships" id="2147483654" r:id="Rc723d8d9399e4a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e05861c40490b" /><Relationship Type="http://schemas.openxmlformats.org/officeDocument/2006/relationships/image" Target="/ppt/media/image.png" Id="R2ef6015440364040" /><Relationship Type="http://schemas.openxmlformats.org/officeDocument/2006/relationships/notesSlide" Target="/ppt/notesSlides/notesSlide1.xml" Id="R30b9c61f2fc8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eae74571945f2" /><Relationship Type="http://schemas.openxmlformats.org/officeDocument/2006/relationships/image" Target="/ppt/media/image2.png" Id="R55b4eade7fb04d15" /><Relationship Type="http://schemas.openxmlformats.org/officeDocument/2006/relationships/notesSlide" Target="/ppt/notesSlides/notesSlide2.xml" Id="Rd435b441012b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10ed319874026" /><Relationship Type="http://schemas.openxmlformats.org/officeDocument/2006/relationships/image" Target="/ppt/media/image3.png" Id="R190735d919f3409c" /><Relationship Type="http://schemas.openxmlformats.org/officeDocument/2006/relationships/notesSlide" Target="/ppt/notesSlides/notesSlide3.xml" Id="Rc198193164ba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9af5849144f61" /><Relationship Type="http://schemas.openxmlformats.org/officeDocument/2006/relationships/image" Target="/ppt/media/image4.png" Id="R0c211081b7ec4d4b" /><Relationship Type="http://schemas.openxmlformats.org/officeDocument/2006/relationships/notesSlide" Target="/ppt/notesSlides/notesSlide4.xml" Id="R0c98f4be899545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13393a2474ba5" /><Relationship Type="http://schemas.openxmlformats.org/officeDocument/2006/relationships/image" Target="/ppt/media/image5.png" Id="R9464767aebf94378" /><Relationship Type="http://schemas.openxmlformats.org/officeDocument/2006/relationships/notesSlide" Target="/ppt/notesSlides/notesSlide5.xml" Id="R88888279251e4e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0d226cca74ee6" /><Relationship Type="http://schemas.openxmlformats.org/officeDocument/2006/relationships/image" Target="/ppt/media/image6.png" Id="R3478739615ee455a" /><Relationship Type="http://schemas.openxmlformats.org/officeDocument/2006/relationships/notesSlide" Target="/ppt/notesSlides/notesSlide6.xml" Id="Rf4f25fc7286348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d45d481bd48d5" /><Relationship Type="http://schemas.openxmlformats.org/officeDocument/2006/relationships/image" Target="/ppt/media/image7.png" Id="Rbf8a4e9354f64218" /><Relationship Type="http://schemas.openxmlformats.org/officeDocument/2006/relationships/notesSlide" Target="/ppt/notesSlides/notesSlide7.xml" Id="Re9e7cda3e667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27821e50d4cc4" /><Relationship Type="http://schemas.openxmlformats.org/officeDocument/2006/relationships/image" Target="/ppt/media/image8.png" Id="Rae7cbb17ea0a45b0" /><Relationship Type="http://schemas.openxmlformats.org/officeDocument/2006/relationships/notesSlide" Target="/ppt/notesSlides/notesSlide8.xml" Id="Rc87ff96e9dad4a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5e7ac9fec43b7" /><Relationship Type="http://schemas.openxmlformats.org/officeDocument/2006/relationships/image" Target="/ppt/media/image9.png" Id="R238a87b3969248ca" /><Relationship Type="http://schemas.openxmlformats.org/officeDocument/2006/relationships/notesSlide" Target="/ppt/notesSlides/notesSlide9.xml" Id="R7b52681e8ba74a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18037376940bd" /><Relationship Type="http://schemas.openxmlformats.org/officeDocument/2006/relationships/image" Target="/ppt/media/image10.png" Id="Rfb59ee3f33f94b94" /><Relationship Type="http://schemas.openxmlformats.org/officeDocument/2006/relationships/notesSlide" Target="/ppt/notesSlides/notesSlide10.xml" Id="R0d051436298941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765f23a3f04d59" /><Relationship Type="http://schemas.openxmlformats.org/officeDocument/2006/relationships/image" Target="/ppt/media/image11.png" Id="Rb9bc0bf9d85c45ed" /><Relationship Type="http://schemas.openxmlformats.org/officeDocument/2006/relationships/notesSlide" Target="/ppt/notesSlides/notesSlide11.xml" Id="R9b4a1b6ff36948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194a4f3514157" /><Relationship Type="http://schemas.openxmlformats.org/officeDocument/2006/relationships/image" Target="/ppt/media/image12.png" Id="R8aeb6e7273024277" /><Relationship Type="http://schemas.openxmlformats.org/officeDocument/2006/relationships/notesSlide" Target="/ppt/notesSlides/notesSlide12.xml" Id="Rd1b54a13510d4d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0843d539d4477" /><Relationship Type="http://schemas.openxmlformats.org/officeDocument/2006/relationships/image" Target="/ppt/media/image13.png" Id="Re67baf613c224aa1" /><Relationship Type="http://schemas.openxmlformats.org/officeDocument/2006/relationships/notesSlide" Target="/ppt/notesSlides/notesSlide13.xml" Id="Re1f8725e810448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13937a89a475e" /><Relationship Type="http://schemas.openxmlformats.org/officeDocument/2006/relationships/image" Target="/ppt/media/image14.png" Id="Re7a1aa7d9c7f4ec2" /><Relationship Type="http://schemas.openxmlformats.org/officeDocument/2006/relationships/notesSlide" Target="/ppt/notesSlides/notesSlide14.xml" Id="R49e98b86ee1c46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5de27376446b0" /><Relationship Type="http://schemas.openxmlformats.org/officeDocument/2006/relationships/image" Target="/ppt/media/image15.png" Id="R0b5a0cbcd9dd4fd2" /><Relationship Type="http://schemas.openxmlformats.org/officeDocument/2006/relationships/notesSlide" Target="/ppt/notesSlides/notesSlide15.xml" Id="Ra179ba21914944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5e656e04543cc" /><Relationship Type="http://schemas.openxmlformats.org/officeDocument/2006/relationships/image" Target="/ppt/media/image16.png" Id="Rd0cdec33d571471f" /><Relationship Type="http://schemas.openxmlformats.org/officeDocument/2006/relationships/notesSlide" Target="/ppt/notesSlides/notesSlide16.xml" Id="R3a6c7fea0d2243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2c2e2001840cc" /><Relationship Type="http://schemas.openxmlformats.org/officeDocument/2006/relationships/image" Target="/ppt/media/image17.png" Id="R330d559f50a84395" /><Relationship Type="http://schemas.openxmlformats.org/officeDocument/2006/relationships/notesSlide" Target="/ppt/notesSlides/notesSlide17.xml" Id="R44529304e4a44c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138235a294bda" /><Relationship Type="http://schemas.openxmlformats.org/officeDocument/2006/relationships/image" Target="/ppt/media/image18.png" Id="R27253be8057a4879" /><Relationship Type="http://schemas.openxmlformats.org/officeDocument/2006/relationships/notesSlide" Target="/ppt/notesSlides/notesSlide18.xml" Id="R8869f19e20c640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7cc56c89684a07" /><Relationship Type="http://schemas.openxmlformats.org/officeDocument/2006/relationships/image" Target="/ppt/media/image19.png" Id="Rf8d161e933e244a2" /><Relationship Type="http://schemas.openxmlformats.org/officeDocument/2006/relationships/notesSlide" Target="/ppt/notesSlides/notesSlide19.xml" Id="Ra915e60bae964f5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22b1902d134e32" /><Relationship Type="http://schemas.openxmlformats.org/officeDocument/2006/relationships/image" Target="/ppt/media/image20.png" Id="R58a29c6f9f3e489a" /><Relationship Type="http://schemas.openxmlformats.org/officeDocument/2006/relationships/notesSlide" Target="/ppt/notesSlides/notesSlide20.xml" Id="R9da63230589d417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5db3d25aa49b9" /><Relationship Type="http://schemas.openxmlformats.org/officeDocument/2006/relationships/image" Target="/ppt/media/image21.png" Id="R603cea7e136c4abe" /><Relationship Type="http://schemas.openxmlformats.org/officeDocument/2006/relationships/notesSlide" Target="/ppt/notesSlides/notesSlide21.xml" Id="Rb4395ddc09dc45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8ea911f3d4d4b" /><Relationship Type="http://schemas.openxmlformats.org/officeDocument/2006/relationships/image" Target="/ppt/media/image22.png" Id="Rff97a774953a4c6e" /><Relationship Type="http://schemas.openxmlformats.org/officeDocument/2006/relationships/notesSlide" Target="/ppt/notesSlides/notesSlide22.xml" Id="R91d21df44949473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f29c68a5c24b40" /><Relationship Type="http://schemas.openxmlformats.org/officeDocument/2006/relationships/image" Target="/ppt/media/image23.png" Id="R9679a952138f43d3" /><Relationship Type="http://schemas.openxmlformats.org/officeDocument/2006/relationships/notesSlide" Target="/ppt/notesSlides/notesSlide23.xml" Id="R91942dac12d447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b74cd30dc4147" /><Relationship Type="http://schemas.openxmlformats.org/officeDocument/2006/relationships/image" Target="/ppt/media/image24.png" Id="R1d1ee93826dc4ee9" /><Relationship Type="http://schemas.openxmlformats.org/officeDocument/2006/relationships/notesSlide" Target="/ppt/notesSlides/notesSlide24.xml" Id="R80b562f4495743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4bcafe0cf4c9b" /><Relationship Type="http://schemas.openxmlformats.org/officeDocument/2006/relationships/image" Target="/ppt/media/image25.png" Id="Ra1e3a74d538b43a6" /><Relationship Type="http://schemas.openxmlformats.org/officeDocument/2006/relationships/notesSlide" Target="/ppt/notesSlides/notesSlide25.xml" Id="R91dc1c9660ad43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5d0a26c3b48f4" /><Relationship Type="http://schemas.openxmlformats.org/officeDocument/2006/relationships/image" Target="/ppt/media/image26.png" Id="Rcaee8220319545a0" /><Relationship Type="http://schemas.openxmlformats.org/officeDocument/2006/relationships/notesSlide" Target="/ppt/notesSlides/notesSlide26.xml" Id="Rcaf1c12faf134a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da1dfd2424f18" /><Relationship Type="http://schemas.openxmlformats.org/officeDocument/2006/relationships/image" Target="/ppt/media/image27.png" Id="Rd467d41d53674bbf" /><Relationship Type="http://schemas.openxmlformats.org/officeDocument/2006/relationships/notesSlide" Target="/ppt/notesSlides/notesSlide27.xml" Id="Re1db4efa8569457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8feb8bcd4428c" /><Relationship Type="http://schemas.openxmlformats.org/officeDocument/2006/relationships/image" Target="/ppt/media/image28.png" Id="R365c9b39bba84807" /><Relationship Type="http://schemas.openxmlformats.org/officeDocument/2006/relationships/notesSlide" Target="/ppt/notesSlides/notesSlide28.xml" Id="R50a3bf9332f8456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eb38924d8b48a7" /><Relationship Type="http://schemas.openxmlformats.org/officeDocument/2006/relationships/image" Target="/ppt/media/image29.png" Id="R3a45801d00814aa8" /><Relationship Type="http://schemas.openxmlformats.org/officeDocument/2006/relationships/notesSlide" Target="/ppt/notesSlides/notesSlide29.xml" Id="R806a8d3743704d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6926059d24251" /><Relationship Type="http://schemas.openxmlformats.org/officeDocument/2006/relationships/image" Target="/ppt/media/image30.png" Id="R8aa9aab4ba894a8f" /><Relationship Type="http://schemas.openxmlformats.org/officeDocument/2006/relationships/notesSlide" Target="/ppt/notesSlides/notesSlide30.xml" Id="R6a3a173c724b478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32ed21e6b4ae2" /><Relationship Type="http://schemas.openxmlformats.org/officeDocument/2006/relationships/image" Target="/ppt/media/image31.png" Id="R11b4f9cf6d3d478b" /><Relationship Type="http://schemas.openxmlformats.org/officeDocument/2006/relationships/notesSlide" Target="/ppt/notesSlides/notesSlide31.xml" Id="Ra610ec5a9f8b44f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8ca8b3ad14fb2" /><Relationship Type="http://schemas.openxmlformats.org/officeDocument/2006/relationships/image" Target="/ppt/media/image32.png" Id="R8dc5cdd0ef154c1d" /><Relationship Type="http://schemas.openxmlformats.org/officeDocument/2006/relationships/notesSlide" Target="/ppt/notesSlides/notesSlide32.xml" Id="Rb487581bf74c46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0A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6015440364040"/>
          <a:stretch xmlns:a="http://schemas.openxmlformats.org/drawingml/2006/main"/>
        </p:blipFill>
        <p:spPr>
          <a:xfrm xmlns:a="http://schemas.openxmlformats.org/drawingml/2006/main">
            <a:off x="914400" y="400050"/>
            <a:ext cx="34290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B052AE48-03CD-49B2-BC22-E68B2713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Fondamentaux du prompt engineering">
            <a:extLst xmlns:a="http://schemas.openxmlformats.org/drawingml/2006/main">
              <a:ext uri="{FF2B5EF4-FFF2-40B4-BE49-F238E27FC236}">
                <a16:creationId xmlns:a16="http://schemas.microsoft.com/office/drawing/2014/main" id="{B6BC5642-22AE-4C1F-9712-66EA9BB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033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Fondamentaux du prompt engineering</a:t>
            </a:r>
          </a:p>
        </p:txBody>
      </p:sp>
      <p:sp>
        <p:nvSpPr>
          <p:cNvPr id="4" name="Comprendre les modèles de langage et formuler des ">
            <a:extLst xmlns:a="http://schemas.openxmlformats.org/drawingml/2006/main">
              <a:ext uri="{FF2B5EF4-FFF2-40B4-BE49-F238E27FC236}">
                <a16:creationId xmlns:a16="http://schemas.microsoft.com/office/drawing/2014/main" id="{8C305B71-828B-4A68-94F6-2A18BC04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Comprendre les modèles de langage et formuler des demandes utiles.</a:t>
            </a:r>
          </a:p>
        </p:txBody>
      </p:sp>
      <p:sp>
        <p:nvSpPr>
          <p:cNvPr id="5" name="14 heures  ·  Support de cours">
            <a:extLst xmlns:a="http://schemas.openxmlformats.org/drawingml/2006/main">
              <a:ext uri="{FF2B5EF4-FFF2-40B4-BE49-F238E27FC236}">
                <a16:creationId xmlns:a16="http://schemas.microsoft.com/office/drawing/2014/main" id="{8FC43880-98DD-4E7A-A4EF-7C5BF5A3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14 heures  ·  Support de cours</a:t>
            </a:r>
          </a:p>
        </p:txBody>
      </p:sp>
    </p:spTree>
    <p:extLst>
      <p:ext uri="{BB962C8B-B14F-4D97-AF65-F5344CB8AC3E}">
        <p14:creationId xmlns:p14="http://schemas.microsoft.com/office/powerpoint/2010/main" val="1695022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FA99F-D9C8-4267-BB3D-D17B4B7E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4A79B3FC-80EF-456B-AE6B-CDE3786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es compétences visées">
            <a:extLst xmlns:a="http://schemas.openxmlformats.org/drawingml/2006/main">
              <a:ext uri="{FF2B5EF4-FFF2-40B4-BE49-F238E27FC236}">
                <a16:creationId xmlns:a16="http://schemas.microsoft.com/office/drawing/2014/main" id="{6B567EB1-ECB1-4F9F-935C-26B4BD2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compétences visées</a:t>
            </a:r>
          </a:p>
        </p:txBody>
      </p:sp>
      <p:sp>
        <p:nvSpPr>
          <p:cNvPr id="4" name="Une demande claire facilite l’évaluation du résult">
            <a:extLst xmlns:a="http://schemas.openxmlformats.org/drawingml/2006/main">
              <a:ext uri="{FF2B5EF4-FFF2-40B4-BE49-F238E27FC236}">
                <a16:creationId xmlns:a16="http://schemas.microsoft.com/office/drawing/2014/main" id="{784F6BFF-5DFA-4E32-9565-2BDF395E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demande claire facilite l’évaluation du résultat.</a:t>
            </a:r>
          </a:p>
        </p:txBody>
      </p:sp>
      <p:sp>
        <p:nvSpPr>
          <p:cNvPr id="5" name="Expliquer le rôle d’un LLM et reconnaître ses limi">
            <a:extLst xmlns:a="http://schemas.openxmlformats.org/drawingml/2006/main">
              <a:ext uri="{FF2B5EF4-FFF2-40B4-BE49-F238E27FC236}">
                <a16:creationId xmlns:a16="http://schemas.microsoft.com/office/drawing/2014/main" id="{7F9EACF6-292C-4D0C-9949-30BDF49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Expliquer le rôle d’un LLM et reconnaître ses limites.</a:t>
            </a:r>
          </a:p>
        </p:txBody>
      </p:sp>
      <p:sp>
        <p:nvSpPr>
          <p:cNvPr id="6" name="Rédiger un prompt structuré, puis vérifier la répo">
            <a:extLst xmlns:a="http://schemas.openxmlformats.org/drawingml/2006/main">
              <a:ext uri="{FF2B5EF4-FFF2-40B4-BE49-F238E27FC236}">
                <a16:creationId xmlns:a16="http://schemas.microsoft.com/office/drawing/2014/main" id="{09585070-AAE0-4F58-9A57-34B151A2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Rédiger un prompt structuré, puis vérifier la réponse obtenue.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4A9FA50-1892-404D-A4F2-075B0348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ivrable : cinq prompts réutilisables pour vos tâc">
            <a:extLst xmlns:a="http://schemas.openxmlformats.org/drawingml/2006/main">
              <a:ext uri="{FF2B5EF4-FFF2-40B4-BE49-F238E27FC236}">
                <a16:creationId xmlns:a16="http://schemas.microsoft.com/office/drawing/2014/main" id="{934BA6B4-2B9C-4D07-8C6E-AC460841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Livrable : cinq prompts réutilisables pour vos tâches.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4eade7fb04d1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2 / 32">
            <a:extLst xmlns:a="http://schemas.openxmlformats.org/drawingml/2006/main">
              <a:ext uri="{FF2B5EF4-FFF2-40B4-BE49-F238E27FC236}">
                <a16:creationId xmlns:a16="http://schemas.microsoft.com/office/drawing/2014/main" id="{3D48FF21-A42A-42AE-BC15-03ACF3E4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02 / 32</a:t>
            </a:r>
          </a:p>
        </p:txBody>
      </p:sp>
    </p:spTree>
    <p:extLst>
      <p:ext uri="{BB962C8B-B14F-4D97-AF65-F5344CB8AC3E}">
        <p14:creationId xmlns:p14="http://schemas.microsoft.com/office/powerpoint/2010/main" val="2138010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71EEC-3BC8-4851-A11B-A6A379E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277820C3-E360-4900-B15C-097F3294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e parcours de formation">
            <a:extLst xmlns:a="http://schemas.openxmlformats.org/drawingml/2006/main">
              <a:ext uri="{FF2B5EF4-FFF2-40B4-BE49-F238E27FC236}">
                <a16:creationId xmlns:a16="http://schemas.microsoft.com/office/drawing/2014/main" id="{2CD5A3B5-B897-4CE9-BCAB-B8461D7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parcours de formation</a:t>
            </a:r>
          </a:p>
        </p:txBody>
      </p:sp>
      <p:sp>
        <p:nvSpPr>
          <p:cNvPr id="4" name="La pratique transforme une notion en compétence ob">
            <a:extLst xmlns:a="http://schemas.openxmlformats.org/drawingml/2006/main">
              <a:ext uri="{FF2B5EF4-FFF2-40B4-BE49-F238E27FC236}">
                <a16:creationId xmlns:a16="http://schemas.microsoft.com/office/drawing/2014/main" id="{6351B1D6-6809-4330-908C-C358B033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pratique transforme une notion en compétence observable.</a:t>
            </a:r>
          </a:p>
        </p:txBody>
      </p:sp>
      <p:sp>
        <p:nvSpPr>
          <p:cNvPr id="5" name="5 h de théorie et 7 h de pratique.">
            <a:extLst xmlns:a="http://schemas.openxmlformats.org/drawingml/2006/main">
              <a:ext uri="{FF2B5EF4-FFF2-40B4-BE49-F238E27FC236}">
                <a16:creationId xmlns:a16="http://schemas.microsoft.com/office/drawing/2014/main" id="{7F236FA3-7954-4559-899E-B9BE217F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5 h de théorie et 7 h de pratique.</a:t>
            </a:r>
          </a:p>
        </p:txBody>
      </p:sp>
      <p:sp>
        <p:nvSpPr>
          <p:cNvPr id="6" name="2 h consacrées à l’évaluation et aux ressources.">
            <a:extLst xmlns:a="http://schemas.openxmlformats.org/drawingml/2006/main">
              <a:ext uri="{FF2B5EF4-FFF2-40B4-BE49-F238E27FC236}">
                <a16:creationId xmlns:a16="http://schemas.microsoft.com/office/drawing/2014/main" id="{8F1156EE-CAE6-4890-9FFA-AE0C616F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2 h consacrées à l’évaluation et aux ressources.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11A52C2A-0EB7-4108-9827-54A63E3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À chaque étape : essai, comparaison et correction.">
            <a:extLst xmlns:a="http://schemas.openxmlformats.org/drawingml/2006/main">
              <a:ext uri="{FF2B5EF4-FFF2-40B4-BE49-F238E27FC236}">
                <a16:creationId xmlns:a16="http://schemas.microsoft.com/office/drawing/2014/main" id="{E8F180AC-8099-473B-9CB4-9A3DC760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chaque étape : essai, comparaison et correction.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735d919f3409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3 / 32">
            <a:extLst xmlns:a="http://schemas.openxmlformats.org/drawingml/2006/main">
              <a:ext uri="{FF2B5EF4-FFF2-40B4-BE49-F238E27FC236}">
                <a16:creationId xmlns:a16="http://schemas.microsoft.com/office/drawing/2014/main" id="{659F5F25-2C4F-4761-8848-47E3860A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03 / 32</a:t>
            </a:r>
          </a:p>
        </p:txBody>
      </p:sp>
    </p:spTree>
    <p:extLst>
      <p:ext uri="{BB962C8B-B14F-4D97-AF65-F5344CB8AC3E}">
        <p14:creationId xmlns:p14="http://schemas.microsoft.com/office/powerpoint/2010/main" val="1120891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B17DA-D1EC-4A00-9DBF-6350DE29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51147DA3-F3D3-4FA1-9D4D-DE3955D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’IA générative">
            <a:extLst xmlns:a="http://schemas.openxmlformats.org/drawingml/2006/main">
              <a:ext uri="{FF2B5EF4-FFF2-40B4-BE49-F238E27FC236}">
                <a16:creationId xmlns:a16="http://schemas.microsoft.com/office/drawing/2014/main" id="{167CCB64-480B-4796-94FB-5D4CB3BF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L’IA générative</a:t>
            </a:r>
          </a:p>
        </p:txBody>
      </p:sp>
      <p:sp>
        <p:nvSpPr>
          <p:cNvPr id="4" name="Un modèle produit du contenu à partir d’une demand">
            <a:extLst xmlns:a="http://schemas.openxmlformats.org/drawingml/2006/main">
              <a:ext uri="{FF2B5EF4-FFF2-40B4-BE49-F238E27FC236}">
                <a16:creationId xmlns:a16="http://schemas.microsoft.com/office/drawing/2014/main" id="{09C84ECE-E5EE-4587-B750-2DD4C4C2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modèle produit du contenu à partir d’une demande et de son contexte.</a:t>
            </a:r>
          </a:p>
        </p:txBody>
      </p:sp>
      <p:sp>
        <p:nvSpPr>
          <p:cNvPr id="5" name="Selon le système, la sortie peut être un texte, un">
            <a:extLst xmlns:a="http://schemas.openxmlformats.org/drawingml/2006/main">
              <a:ext uri="{FF2B5EF4-FFF2-40B4-BE49-F238E27FC236}">
                <a16:creationId xmlns:a16="http://schemas.microsoft.com/office/drawing/2014/main" id="{8DA06BF3-BA11-4303-873A-3E69E0E5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Selon le système, la sortie peut être un texte, une image, du son ou du code.</a:t>
            </a:r>
          </a:p>
        </p:txBody>
      </p:sp>
      <p:sp>
        <p:nvSpPr>
          <p:cNvPr id="6" name="Exemple : proposer un premier brouillon de présent">
            <a:extLst xmlns:a="http://schemas.openxmlformats.org/drawingml/2006/main">
              <a:ext uri="{FF2B5EF4-FFF2-40B4-BE49-F238E27FC236}">
                <a16:creationId xmlns:a16="http://schemas.microsoft.com/office/drawing/2014/main" id="{5B596F64-EAFE-4E41-9A8D-52340F7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Exemple : proposer un premier brouillon de présentation à partir d’un brief.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1EB4FA7B-14D0-4590-8442-9B7E7E40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sortie convaincante exige toujours une vérific">
            <a:extLst xmlns:a="http://schemas.openxmlformats.org/drawingml/2006/main">
              <a:ext uri="{FF2B5EF4-FFF2-40B4-BE49-F238E27FC236}">
                <a16:creationId xmlns:a16="http://schemas.microsoft.com/office/drawing/2014/main" id="{2699577D-2623-45CB-825F-F16167C5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sortie convaincante exige toujours une vérification adaptée.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11081b7ec4d4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4 / 32">
            <a:extLst xmlns:a="http://schemas.openxmlformats.org/drawingml/2006/main">
              <a:ext uri="{FF2B5EF4-FFF2-40B4-BE49-F238E27FC236}">
                <a16:creationId xmlns:a16="http://schemas.microsoft.com/office/drawing/2014/main" id="{3F8D479D-1B08-461E-BDB5-7D35D285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04 / 32</a:t>
            </a:r>
          </a:p>
        </p:txBody>
      </p:sp>
    </p:spTree>
    <p:extLst>
      <p:ext uri="{BB962C8B-B14F-4D97-AF65-F5344CB8AC3E}">
        <p14:creationId xmlns:p14="http://schemas.microsoft.com/office/powerpoint/2010/main" val="1795032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0DCA5-3AFE-4C68-87BB-4340ED1E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FA10FFEA-FE64-4711-AFC4-0076240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Modèle et chatbot">
            <a:extLst xmlns:a="http://schemas.openxmlformats.org/drawingml/2006/main">
              <a:ext uri="{FF2B5EF4-FFF2-40B4-BE49-F238E27FC236}">
                <a16:creationId xmlns:a16="http://schemas.microsoft.com/office/drawing/2014/main" id="{EFD59309-351A-41F1-9962-33A7A23D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Modèle et chatbot</a:t>
            </a:r>
          </a:p>
        </p:txBody>
      </p:sp>
      <p:sp>
        <p:nvSpPr>
          <p:cNvPr id="4" name="Le modèle génère la réponse. Le chatbot organise l">
            <a:extLst xmlns:a="http://schemas.openxmlformats.org/drawingml/2006/main">
              <a:ext uri="{FF2B5EF4-FFF2-40B4-BE49-F238E27FC236}">
                <a16:creationId xmlns:a16="http://schemas.microsoft.com/office/drawing/2014/main" id="{1472F2F6-D10D-4CB2-81A6-20055D98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génère la réponse. Le chatbot organise l’échange.</a:t>
            </a:r>
          </a:p>
        </p:txBody>
      </p:sp>
      <p:sp>
        <p:nvSpPr>
          <p:cNvPr id="5" name="Le modèle traite les informations transmises dans ">
            <a:extLst xmlns:a="http://schemas.openxmlformats.org/drawingml/2006/main">
              <a:ext uri="{FF2B5EF4-FFF2-40B4-BE49-F238E27FC236}">
                <a16:creationId xmlns:a16="http://schemas.microsoft.com/office/drawing/2014/main" id="{038555D7-04EB-4949-9013-60A70106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traite les informations transmises dans son contexte.</a:t>
            </a:r>
          </a:p>
        </p:txBody>
      </p:sp>
      <p:sp>
        <p:nvSpPr>
          <p:cNvPr id="6" name="L’interface peut ajouter des outils, des fichiers ">
            <a:extLst xmlns:a="http://schemas.openxmlformats.org/drawingml/2006/main">
              <a:ext uri="{FF2B5EF4-FFF2-40B4-BE49-F238E27FC236}">
                <a16:creationId xmlns:a16="http://schemas.microsoft.com/office/drawing/2014/main" id="{B14D91B2-D247-4159-A38A-C5B7DA7F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L’interface peut ajouter des outils, des fichiers ou un historique.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F66A729-04B0-4619-AEA6-08C6106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Deux interfaces peuvent utiliser le même modèle av">
            <a:extLst xmlns:a="http://schemas.openxmlformats.org/drawingml/2006/main">
              <a:ext uri="{FF2B5EF4-FFF2-40B4-BE49-F238E27FC236}">
                <a16:creationId xmlns:a16="http://schemas.microsoft.com/office/drawing/2014/main" id="{F1C585A8-6289-469B-A961-11E5B304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Deux interfaces peuvent utiliser le même modèle avec des fonctions différentes.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4767aebf94378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5 / 32">
            <a:extLst xmlns:a="http://schemas.openxmlformats.org/drawingml/2006/main">
              <a:ext uri="{FF2B5EF4-FFF2-40B4-BE49-F238E27FC236}">
                <a16:creationId xmlns:a16="http://schemas.microsoft.com/office/drawing/2014/main" id="{EE540464-AA47-4C7A-91ED-23BCD3D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05 / 32</a:t>
            </a:r>
          </a:p>
        </p:txBody>
      </p:sp>
    </p:spTree>
    <p:extLst>
      <p:ext uri="{BB962C8B-B14F-4D97-AF65-F5344CB8AC3E}">
        <p14:creationId xmlns:p14="http://schemas.microsoft.com/office/powerpoint/2010/main" val="10470968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2D69-4948-4BBC-B02E-1747B23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43938B75-6A3E-4B3D-8D1D-D878329F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a génération de texte">
            <a:extLst xmlns:a="http://schemas.openxmlformats.org/drawingml/2006/main">
              <a:ext uri="{FF2B5EF4-FFF2-40B4-BE49-F238E27FC236}">
                <a16:creationId xmlns:a16="http://schemas.microsoft.com/office/drawing/2014/main" id="{4BF83A48-44B5-4266-943B-7024EF97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génération de texte</a:t>
            </a:r>
          </a:p>
        </p:txBody>
      </p:sp>
      <p:sp>
        <p:nvSpPr>
          <p:cNvPr id="4" name="Le modèle construit une suite de tokens à partir d">
            <a:extLst xmlns:a="http://schemas.openxmlformats.org/drawingml/2006/main">
              <a:ext uri="{FF2B5EF4-FFF2-40B4-BE49-F238E27FC236}">
                <a16:creationId xmlns:a16="http://schemas.microsoft.com/office/drawing/2014/main" id="{971D9F49-672C-49CC-8639-D72BA554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construit une suite de tokens à partir du contexte disponible.</a:t>
            </a:r>
          </a:p>
        </p:txBody>
      </p:sp>
      <p:sp>
        <p:nvSpPr>
          <p:cNvPr id="5" name="Il estime les suites possibles et sélectionne prog">
            <a:extLst xmlns:a="http://schemas.openxmlformats.org/drawingml/2006/main">
              <a:ext uri="{FF2B5EF4-FFF2-40B4-BE49-F238E27FC236}">
                <a16:creationId xmlns:a16="http://schemas.microsoft.com/office/drawing/2014/main" id="{6B3BA39A-2EC5-4976-8184-7E47275F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Il estime les suites possibles et sélectionne progressivement la sortie.</a:t>
            </a:r>
          </a:p>
        </p:txBody>
      </p:sp>
      <p:sp>
        <p:nvSpPr>
          <p:cNvPr id="6" name="La consigne, les exemples et les documents oriente">
            <a:extLst xmlns:a="http://schemas.openxmlformats.org/drawingml/2006/main">
              <a:ext uri="{FF2B5EF4-FFF2-40B4-BE49-F238E27FC236}">
                <a16:creationId xmlns:a16="http://schemas.microsoft.com/office/drawing/2014/main" id="{C3070662-EB29-4B55-9E2D-86C4964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consigne, les exemples et les documents orientent cette génération.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0A10ED33-F942-4714-89F8-609C7A1C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a fluidité du texte ne prouve pas son exactitude.">
            <a:extLst xmlns:a="http://schemas.openxmlformats.org/drawingml/2006/main">
              <a:ext uri="{FF2B5EF4-FFF2-40B4-BE49-F238E27FC236}">
                <a16:creationId xmlns:a16="http://schemas.microsoft.com/office/drawing/2014/main" id="{CFFA73F0-E7FC-461D-A839-23BFD07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fluidité du texte ne prouve pas son exactitude.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8739615ee455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6 / 32">
            <a:extLst xmlns:a="http://schemas.openxmlformats.org/drawingml/2006/main">
              <a:ext uri="{FF2B5EF4-FFF2-40B4-BE49-F238E27FC236}">
                <a16:creationId xmlns:a16="http://schemas.microsoft.com/office/drawing/2014/main" id="{72516F0B-AE5C-466A-8D6F-9247CCEA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06 / 32</a:t>
            </a:r>
          </a:p>
        </p:txBody>
      </p:sp>
    </p:spTree>
    <p:extLst>
      <p:ext uri="{BB962C8B-B14F-4D97-AF65-F5344CB8AC3E}">
        <p14:creationId xmlns:p14="http://schemas.microsoft.com/office/powerpoint/2010/main" val="777833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23D8-BC70-4345-A91D-71EE8FD3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9833A180-7CE1-41ED-91C6-AD72E7BC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es tokens">
            <a:extLst xmlns:a="http://schemas.openxmlformats.org/drawingml/2006/main">
              <a:ext uri="{FF2B5EF4-FFF2-40B4-BE49-F238E27FC236}">
                <a16:creationId xmlns:a16="http://schemas.microsoft.com/office/drawing/2014/main" id="{B4EBF909-6CC5-4AC0-A7E5-6D1B1FC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tokens</a:t>
            </a:r>
          </a:p>
        </p:txBody>
      </p:sp>
      <p:sp>
        <p:nvSpPr>
          <p:cNvPr id="4" name="Un token représente une unité de texte traitée par">
            <a:extLst xmlns:a="http://schemas.openxmlformats.org/drawingml/2006/main">
              <a:ext uri="{FF2B5EF4-FFF2-40B4-BE49-F238E27FC236}">
                <a16:creationId xmlns:a16="http://schemas.microsoft.com/office/drawing/2014/main" id="{A5D36C92-A16A-4E61-AE53-0A51894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token représente une unité de texte traitée par le modèle.</a:t>
            </a:r>
          </a:p>
        </p:txBody>
      </p:sp>
      <p:sp>
        <p:nvSpPr>
          <p:cNvPr id="5" name="Un mot peut correspondre à un ou plusieurs tokens ">
            <a:extLst xmlns:a="http://schemas.openxmlformats.org/drawingml/2006/main">
              <a:ext uri="{FF2B5EF4-FFF2-40B4-BE49-F238E27FC236}">
                <a16:creationId xmlns:a16="http://schemas.microsoft.com/office/drawing/2014/main" id="{33999BE4-0EA3-4379-AA77-3666DDAE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mot peut correspondre à un ou plusieurs tokens selon le modèle et la langue.</a:t>
            </a:r>
          </a:p>
        </p:txBody>
      </p:sp>
      <p:sp>
        <p:nvSpPr>
          <p:cNvPr id="6" name="La ponctuation et les espaces peuvent aussi interv">
            <a:extLst xmlns:a="http://schemas.openxmlformats.org/drawingml/2006/main">
              <a:ext uri="{FF2B5EF4-FFF2-40B4-BE49-F238E27FC236}">
                <a16:creationId xmlns:a16="http://schemas.microsoft.com/office/drawing/2014/main" id="{B8DF4FD6-F4ED-4067-9DD6-C83B5E8B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ponctuation et les espaces peuvent aussi intervenir dans le découpage.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A2A4F93-5CCA-47CF-81BA-306A569B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Éviter une conversion universelle entre mots et to">
            <a:extLst xmlns:a="http://schemas.openxmlformats.org/drawingml/2006/main">
              <a:ext uri="{FF2B5EF4-FFF2-40B4-BE49-F238E27FC236}">
                <a16:creationId xmlns:a16="http://schemas.microsoft.com/office/drawing/2014/main" id="{11DF75FE-1280-4D5E-B34B-A5C75BD0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Éviter une conversion universelle entre mots et tokens.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a4e9354f64218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7 / 32">
            <a:extLst xmlns:a="http://schemas.openxmlformats.org/drawingml/2006/main">
              <a:ext uri="{FF2B5EF4-FFF2-40B4-BE49-F238E27FC236}">
                <a16:creationId xmlns:a16="http://schemas.microsoft.com/office/drawing/2014/main" id="{C0A6F5B3-45AF-4216-9483-523DF4BA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07 / 32</a:t>
            </a:r>
          </a:p>
        </p:txBody>
      </p:sp>
    </p:spTree>
    <p:extLst>
      <p:ext uri="{BB962C8B-B14F-4D97-AF65-F5344CB8AC3E}">
        <p14:creationId xmlns:p14="http://schemas.microsoft.com/office/powerpoint/2010/main" val="914530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6DFF6-A810-4283-B2A8-B8D6F6CB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465C4F68-FDCD-4DAB-8FA0-8E898583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a fenêtre de contexte">
            <a:extLst xmlns:a="http://schemas.openxmlformats.org/drawingml/2006/main">
              <a:ext uri="{FF2B5EF4-FFF2-40B4-BE49-F238E27FC236}">
                <a16:creationId xmlns:a16="http://schemas.microsoft.com/office/drawing/2014/main" id="{35D79737-DD38-4C7F-8C3D-B81EB350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fenêtre de contexte</a:t>
            </a:r>
          </a:p>
        </p:txBody>
      </p:sp>
      <p:sp>
        <p:nvSpPr>
          <p:cNvPr id="4" name="Le modèle ne peut traiter qu’une quantité limitée ">
            <a:extLst xmlns:a="http://schemas.openxmlformats.org/drawingml/2006/main">
              <a:ext uri="{FF2B5EF4-FFF2-40B4-BE49-F238E27FC236}">
                <a16:creationId xmlns:a16="http://schemas.microsoft.com/office/drawing/2014/main" id="{68D3FF46-2C50-4D54-AF91-F3A3AB0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ne peut traiter qu’une quantité limitée d’information à la fois.</a:t>
            </a:r>
          </a:p>
        </p:txBody>
      </p:sp>
      <p:sp>
        <p:nvSpPr>
          <p:cNvPr id="5" name="La consigne et les documents occupent une partie d">
            <a:extLst xmlns:a="http://schemas.openxmlformats.org/drawingml/2006/main">
              <a:ext uri="{FF2B5EF4-FFF2-40B4-BE49-F238E27FC236}">
                <a16:creationId xmlns:a16="http://schemas.microsoft.com/office/drawing/2014/main" id="{91E287A6-0332-4801-A2A6-36F1E09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consigne et les documents occupent une partie du contexte disponible.</a:t>
            </a:r>
          </a:p>
        </p:txBody>
      </p:sp>
      <p:sp>
        <p:nvSpPr>
          <p:cNvPr id="6" name="Un long historique peut devenir incomplet ou diffi">
            <a:extLst xmlns:a="http://schemas.openxmlformats.org/drawingml/2006/main">
              <a:ext uri="{FF2B5EF4-FFF2-40B4-BE49-F238E27FC236}">
                <a16:creationId xmlns:a16="http://schemas.microsoft.com/office/drawing/2014/main" id="{3E464A65-2918-4CF5-9F7B-B7EBBE28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long historique peut devenir incomplet ou difficile à exploiter.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DF2E6FE-DBE3-403B-BAED-54CBE844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texte de conversation et mémoire persistante so">
            <a:extLst xmlns:a="http://schemas.openxmlformats.org/drawingml/2006/main">
              <a:ext uri="{FF2B5EF4-FFF2-40B4-BE49-F238E27FC236}">
                <a16:creationId xmlns:a16="http://schemas.microsoft.com/office/drawing/2014/main" id="{42849AF6-44FF-4A5D-9D1C-087B20E7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Contexte de conversation et mémoire persistante sont deux fonctions distinctes.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cbb17ea0a45b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8 / 32">
            <a:extLst xmlns:a="http://schemas.openxmlformats.org/drawingml/2006/main">
              <a:ext uri="{FF2B5EF4-FFF2-40B4-BE49-F238E27FC236}">
                <a16:creationId xmlns:a16="http://schemas.microsoft.com/office/drawing/2014/main" id="{0205CBB3-C493-40E6-8E1E-1A17F06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08 / 32</a:t>
            </a:r>
          </a:p>
        </p:txBody>
      </p:sp>
    </p:spTree>
    <p:extLst>
      <p:ext uri="{BB962C8B-B14F-4D97-AF65-F5344CB8AC3E}">
        <p14:creationId xmlns:p14="http://schemas.microsoft.com/office/powerpoint/2010/main" val="1733313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DEBF0-CC87-47C5-8CF0-A9D0D10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85FB2C0E-C7F1-4221-9DD4-0A0F5848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a température">
            <a:extLst xmlns:a="http://schemas.openxmlformats.org/drawingml/2006/main">
              <a:ext uri="{FF2B5EF4-FFF2-40B4-BE49-F238E27FC236}">
                <a16:creationId xmlns:a16="http://schemas.microsoft.com/office/drawing/2014/main" id="{A861F0E8-22FA-455F-840F-9ED55852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température</a:t>
            </a:r>
          </a:p>
        </p:txBody>
      </p:sp>
      <p:sp>
        <p:nvSpPr>
          <p:cNvPr id="4" name="Ce réglage peut modifier la diversité des réponses">
            <a:extLst xmlns:a="http://schemas.openxmlformats.org/drawingml/2006/main">
              <a:ext uri="{FF2B5EF4-FFF2-40B4-BE49-F238E27FC236}">
                <a16:creationId xmlns:a16="http://schemas.microsoft.com/office/drawing/2014/main" id="{2E04B9C1-EC44-4AAC-AF6B-B677F016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Ce réglage peut modifier la diversité des réponses produites.</a:t>
            </a:r>
          </a:p>
        </p:txBody>
      </p:sp>
      <p:sp>
        <p:nvSpPr>
          <p:cNvPr id="5" name="Une valeur faible favorise souvent des sorties moi">
            <a:extLst xmlns:a="http://schemas.openxmlformats.org/drawingml/2006/main">
              <a:ext uri="{FF2B5EF4-FFF2-40B4-BE49-F238E27FC236}">
                <a16:creationId xmlns:a16="http://schemas.microsoft.com/office/drawing/2014/main" id="{82DB1A23-0A18-427A-A5A3-CCCD8A94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valeur faible favorise souvent des sorties moins variées.</a:t>
            </a:r>
          </a:p>
        </p:txBody>
      </p:sp>
      <p:sp>
        <p:nvSpPr>
          <p:cNvPr id="6" name="Le paramètre dépend de l’outil et du modèle utilis">
            <a:extLst xmlns:a="http://schemas.openxmlformats.org/drawingml/2006/main">
              <a:ext uri="{FF2B5EF4-FFF2-40B4-BE49-F238E27FC236}">
                <a16:creationId xmlns:a16="http://schemas.microsoft.com/office/drawing/2014/main" id="{5E9D56C7-1C94-4F30-A518-9C6DF156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paramètre dépend de l’outil et du modèle utilisés.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81995D1F-FAF6-4779-895E-0D6051EF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faible température ne garantit ni vérité ni ré">
            <a:extLst xmlns:a="http://schemas.openxmlformats.org/drawingml/2006/main">
              <a:ext uri="{FF2B5EF4-FFF2-40B4-BE49-F238E27FC236}">
                <a16:creationId xmlns:a16="http://schemas.microsoft.com/office/drawing/2014/main" id="{2112669E-85FD-4368-9CCE-4A1BF3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faible température ne garantit ni vérité ni répétition parfaite.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a87b3969248c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9 / 32">
            <a:extLst xmlns:a="http://schemas.openxmlformats.org/drawingml/2006/main">
              <a:ext uri="{FF2B5EF4-FFF2-40B4-BE49-F238E27FC236}">
                <a16:creationId xmlns:a16="http://schemas.microsoft.com/office/drawing/2014/main" id="{E6E0C51C-E2AC-4EC0-B58B-0B0BDA6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09 / 32</a:t>
            </a:r>
          </a:p>
        </p:txBody>
      </p:sp>
    </p:spTree>
    <p:extLst>
      <p:ext uri="{BB962C8B-B14F-4D97-AF65-F5344CB8AC3E}">
        <p14:creationId xmlns:p14="http://schemas.microsoft.com/office/powerpoint/2010/main" val="9302166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8B7D9-D580-498A-BB5D-43AE0D8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966F40A4-2953-4103-83AF-7A4B21A9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e vocabulaire essentiel">
            <a:extLst xmlns:a="http://schemas.openxmlformats.org/drawingml/2006/main">
              <a:ext uri="{FF2B5EF4-FFF2-40B4-BE49-F238E27FC236}">
                <a16:creationId xmlns:a16="http://schemas.microsoft.com/office/drawing/2014/main" id="{B7CDAE04-E71C-43F2-A6BD-274758A5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vocabulaire essentiel</a:t>
            </a:r>
          </a:p>
        </p:txBody>
      </p:sp>
      <p:sp>
        <p:nvSpPr>
          <p:cNvPr id="4" name="Quelques termes suffisent pour commencer à expérim">
            <a:extLst xmlns:a="http://schemas.openxmlformats.org/drawingml/2006/main">
              <a:ext uri="{FF2B5EF4-FFF2-40B4-BE49-F238E27FC236}">
                <a16:creationId xmlns:a16="http://schemas.microsoft.com/office/drawing/2014/main" id="{555C643C-E2FB-43B3-825E-597C499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Quelques termes suffisent pour commencer à expérimenter.</a:t>
            </a:r>
          </a:p>
        </p:txBody>
      </p:sp>
      <p:sp>
        <p:nvSpPr>
          <p:cNvPr id="5" name="Prompt : consigne envoyée au système. Contexte : i">
            <a:extLst xmlns:a="http://schemas.openxmlformats.org/drawingml/2006/main">
              <a:ext uri="{FF2B5EF4-FFF2-40B4-BE49-F238E27FC236}">
                <a16:creationId xmlns:a16="http://schemas.microsoft.com/office/drawing/2014/main" id="{0C411F22-80AA-4DA8-8545-354D16E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Prompt : consigne envoyée au système. Contexte : informations qui accompagnent la demande.</a:t>
            </a:r>
          </a:p>
        </p:txBody>
      </p:sp>
      <p:sp>
        <p:nvSpPr>
          <p:cNvPr id="6" name="Hallucination : contenu plausible mais faux. Biais">
            <a:extLst xmlns:a="http://schemas.openxmlformats.org/drawingml/2006/main">
              <a:ext uri="{FF2B5EF4-FFF2-40B4-BE49-F238E27FC236}">
                <a16:creationId xmlns:a16="http://schemas.microsoft.com/office/drawing/2014/main" id="{CDDDCBB1-6B6B-490B-8C9D-E5EA6F9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Hallucination : contenu plausible mais faux. Biais : tendance qui peut déformer une réponse.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4F17822-0AC5-4CED-95B1-1B199A50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Exercice oral : expliquer chaque terme avec vos pr">
            <a:extLst xmlns:a="http://schemas.openxmlformats.org/drawingml/2006/main">
              <a:ext uri="{FF2B5EF4-FFF2-40B4-BE49-F238E27FC236}">
                <a16:creationId xmlns:a16="http://schemas.microsoft.com/office/drawing/2014/main" id="{A7F98C95-46AF-4F27-A841-FBF8B23B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Exercice oral : expliquer chaque terme avec vos propres mots.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9ee3f33f94b9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0 / 32">
            <a:extLst xmlns:a="http://schemas.openxmlformats.org/drawingml/2006/main">
              <a:ext uri="{FF2B5EF4-FFF2-40B4-BE49-F238E27FC236}">
                <a16:creationId xmlns:a16="http://schemas.microsoft.com/office/drawing/2014/main" id="{3F49EF18-523D-41C8-919E-B9E85516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10 / 32</a:t>
            </a:r>
          </a:p>
        </p:txBody>
      </p:sp>
    </p:spTree>
    <p:extLst>
      <p:ext uri="{BB962C8B-B14F-4D97-AF65-F5344CB8AC3E}">
        <p14:creationId xmlns:p14="http://schemas.microsoft.com/office/powerpoint/2010/main" val="14682071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4601E-BD6A-4413-ABDF-418DF588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DF004DE3-1F35-4BE9-87CA-DE6CF851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découvrir un LLM">
            <a:extLst xmlns:a="http://schemas.openxmlformats.org/drawingml/2006/main">
              <a:ext uri="{FF2B5EF4-FFF2-40B4-BE49-F238E27FC236}">
                <a16:creationId xmlns:a16="http://schemas.microsoft.com/office/drawing/2014/main" id="{1005C018-2513-4546-B1A1-D75BD5A9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découvrir un LLM</a:t>
            </a:r>
          </a:p>
        </p:txBody>
      </p:sp>
      <p:sp>
        <p:nvSpPr>
          <p:cNvPr id="4" name="Comparer deux explications d’une même notion.">
            <a:extLst xmlns:a="http://schemas.openxmlformats.org/drawingml/2006/main">
              <a:ext uri="{FF2B5EF4-FFF2-40B4-BE49-F238E27FC236}">
                <a16:creationId xmlns:a16="http://schemas.microsoft.com/office/drawing/2014/main" id="{562C1B53-0144-486A-9A01-67BD6AAF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Comparer deux explications d’une même notion.</a:t>
            </a:r>
          </a:p>
        </p:txBody>
      </p:sp>
      <p:sp>
        <p:nvSpPr>
          <p:cNvPr id="5" name="Demandez une définition simple de l’IA générative,">
            <a:extLst xmlns:a="http://schemas.openxmlformats.org/drawingml/2006/main">
              <a:ext uri="{FF2B5EF4-FFF2-40B4-BE49-F238E27FC236}">
                <a16:creationId xmlns:a16="http://schemas.microsoft.com/office/drawing/2014/main" id="{DD5891CB-392D-445D-BA62-E4A7E47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définition simple de l’IA générative, puis deux exemples concrets.</a:t>
            </a:r>
          </a:p>
        </p:txBody>
      </p:sp>
      <p:sp>
        <p:nvSpPr>
          <p:cNvPr id="6" name="Reformulez la demande pour un adulte débutant et c">
            <a:extLst xmlns:a="http://schemas.openxmlformats.org/drawingml/2006/main">
              <a:ext uri="{FF2B5EF4-FFF2-40B4-BE49-F238E27FC236}">
                <a16:creationId xmlns:a16="http://schemas.microsoft.com/office/drawing/2014/main" id="{A1DA74FA-965A-4E1B-BFCA-D412FAD1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Reformulez la demande pour un adulte débutant et comparez les résultats.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3C6BC8F7-9A3D-482D-89C8-AFDEAC86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la meilleure réponse et deux raisons ">
            <a:extLst xmlns:a="http://schemas.openxmlformats.org/drawingml/2006/main">
              <a:ext uri="{FF2B5EF4-FFF2-40B4-BE49-F238E27FC236}">
                <a16:creationId xmlns:a16="http://schemas.microsoft.com/office/drawing/2014/main" id="{49EBC8BD-7267-4B93-88B7-267676E0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la meilleure réponse et deux raisons de votre choix.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c0bf9d85c45e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1 / 32">
            <a:extLst xmlns:a="http://schemas.openxmlformats.org/drawingml/2006/main">
              <a:ext uri="{FF2B5EF4-FFF2-40B4-BE49-F238E27FC236}">
                <a16:creationId xmlns:a16="http://schemas.microsoft.com/office/drawing/2014/main" id="{DC8F9D4C-BB0E-4584-9813-6CF5D6F3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11 / 32</a:t>
            </a:r>
          </a:p>
        </p:txBody>
      </p:sp>
    </p:spTree>
    <p:extLst>
      <p:ext uri="{BB962C8B-B14F-4D97-AF65-F5344CB8AC3E}">
        <p14:creationId xmlns:p14="http://schemas.microsoft.com/office/powerpoint/2010/main" val="8278844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057E5-C5AE-4439-99F9-2964E00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AFB4055D-4575-4EB5-A0CE-DF776AA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Quelques repères historiques">
            <a:extLst xmlns:a="http://schemas.openxmlformats.org/drawingml/2006/main">
              <a:ext uri="{FF2B5EF4-FFF2-40B4-BE49-F238E27FC236}">
                <a16:creationId xmlns:a16="http://schemas.microsoft.com/office/drawing/2014/main" id="{7F81406F-F52E-4154-9A5E-C4DEAE6F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Quelques repères historiques</a:t>
            </a:r>
          </a:p>
        </p:txBody>
      </p:sp>
      <p:sp>
        <p:nvSpPr>
          <p:cNvPr id="4" name="Les méthodes de génération ont évolué avec les arc">
            <a:extLst xmlns:a="http://schemas.openxmlformats.org/drawingml/2006/main">
              <a:ext uri="{FF2B5EF4-FFF2-40B4-BE49-F238E27FC236}">
                <a16:creationId xmlns:a16="http://schemas.microsoft.com/office/drawing/2014/main" id="{DF79C4F5-2FC0-457D-843E-FB1E8597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méthodes de génération ont évolué avec les architectures et les données.</a:t>
            </a:r>
          </a:p>
        </p:txBody>
      </p:sp>
      <p:sp>
        <p:nvSpPr>
          <p:cNvPr id="5" name="Les modèles statistiques ont précédé de nombreuses">
            <a:extLst xmlns:a="http://schemas.openxmlformats.org/drawingml/2006/main">
              <a:ext uri="{FF2B5EF4-FFF2-40B4-BE49-F238E27FC236}">
                <a16:creationId xmlns:a16="http://schemas.microsoft.com/office/drawing/2014/main" id="{3FC9C49D-E2D8-4C48-A2DF-FCD7A2FC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modèles statistiques ont précédé de nombreuses approches neuronales.</a:t>
            </a:r>
          </a:p>
        </p:txBody>
      </p:sp>
      <p:sp>
        <p:nvSpPr>
          <p:cNvPr id="6" name="Les transformers ont élargi les possibilités de tr">
            <a:extLst xmlns:a="http://schemas.openxmlformats.org/drawingml/2006/main">
              <a:ext uri="{FF2B5EF4-FFF2-40B4-BE49-F238E27FC236}">
                <a16:creationId xmlns:a16="http://schemas.microsoft.com/office/drawing/2014/main" id="{4F56D00A-4947-488D-B3E9-FEACEC82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transformers ont élargi les possibilités de traitement du contexte.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5812374-4981-40E5-8B35-46EBA648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systèmes combinent aujourd’hui plusieurs métho">
            <a:extLst xmlns:a="http://schemas.openxmlformats.org/drawingml/2006/main">
              <a:ext uri="{FF2B5EF4-FFF2-40B4-BE49-F238E27FC236}">
                <a16:creationId xmlns:a16="http://schemas.microsoft.com/office/drawing/2014/main" id="{71E40755-B0BF-4D41-8B19-CC19523D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systèmes combinent aujourd’hui plusieurs méthodes selon les besoins.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b6e727302427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2 / 32">
            <a:extLst xmlns:a="http://schemas.openxmlformats.org/drawingml/2006/main">
              <a:ext uri="{FF2B5EF4-FFF2-40B4-BE49-F238E27FC236}">
                <a16:creationId xmlns:a16="http://schemas.microsoft.com/office/drawing/2014/main" id="{44EEEA8D-863D-46AB-9073-476B54F2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12 / 32</a:t>
            </a:r>
          </a:p>
        </p:txBody>
      </p:sp>
    </p:spTree>
    <p:extLst>
      <p:ext uri="{BB962C8B-B14F-4D97-AF65-F5344CB8AC3E}">
        <p14:creationId xmlns:p14="http://schemas.microsoft.com/office/powerpoint/2010/main" val="506666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64C26-DC0A-481D-8BA7-EDCCDD2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CB317C5A-D020-49AA-BFD2-A75FD88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Usages et limites">
            <a:extLst xmlns:a="http://schemas.openxmlformats.org/drawingml/2006/main">
              <a:ext uri="{FF2B5EF4-FFF2-40B4-BE49-F238E27FC236}">
                <a16:creationId xmlns:a16="http://schemas.microsoft.com/office/drawing/2014/main" id="{1C6BF5E3-0390-47AA-8FD8-347395F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Usages et limites</a:t>
            </a:r>
          </a:p>
        </p:txBody>
      </p:sp>
      <p:sp>
        <p:nvSpPr>
          <p:cNvPr id="4" name="Un LLM peut assister une tâche tout en produisant ">
            <a:extLst xmlns:a="http://schemas.openxmlformats.org/drawingml/2006/main">
              <a:ext uri="{FF2B5EF4-FFF2-40B4-BE49-F238E27FC236}">
                <a16:creationId xmlns:a16="http://schemas.microsoft.com/office/drawing/2014/main" id="{B9D76BAF-F7C2-4A0B-AC16-B5D02DF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LLM peut assister une tâche tout en produisant des erreurs.</a:t>
            </a:r>
          </a:p>
        </p:txBody>
      </p:sp>
      <p:sp>
        <p:nvSpPr>
          <p:cNvPr id="5" name="Usages : reformuler un texte, préparer un plan ou ">
            <a:extLst xmlns:a="http://schemas.openxmlformats.org/drawingml/2006/main">
              <a:ext uri="{FF2B5EF4-FFF2-40B4-BE49-F238E27FC236}">
                <a16:creationId xmlns:a16="http://schemas.microsoft.com/office/drawing/2014/main" id="{E8818EBF-BEC9-4402-BF0E-D6269EC2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Usages : reformuler un texte, préparer un plan ou résumer un document fourni.</a:t>
            </a:r>
          </a:p>
        </p:txBody>
      </p:sp>
      <p:sp>
        <p:nvSpPr>
          <p:cNvPr id="6" name="Limites : faits inexacts, informations manquantes ">
            <a:extLst xmlns:a="http://schemas.openxmlformats.org/drawingml/2006/main">
              <a:ext uri="{FF2B5EF4-FFF2-40B4-BE49-F238E27FC236}">
                <a16:creationId xmlns:a16="http://schemas.microsoft.com/office/drawing/2014/main" id="{331D398F-02EB-445F-9409-4162FC6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Limites : faits inexacts, informations manquantes et consignes mal interprétées.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9CC7A64-50A5-45B6-9D4E-8AA544A2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niveau de contrôle dépend des conséquences d’un">
            <a:extLst xmlns:a="http://schemas.openxmlformats.org/drawingml/2006/main">
              <a:ext uri="{FF2B5EF4-FFF2-40B4-BE49-F238E27FC236}">
                <a16:creationId xmlns:a16="http://schemas.microsoft.com/office/drawing/2014/main" id="{0C945E6D-543A-4054-A745-7821A52E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niveau de contrôle dépend des conséquences d’une erreur.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baf613c224aa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3 / 32">
            <a:extLst xmlns:a="http://schemas.openxmlformats.org/drawingml/2006/main">
              <a:ext uri="{FF2B5EF4-FFF2-40B4-BE49-F238E27FC236}">
                <a16:creationId xmlns:a16="http://schemas.microsoft.com/office/drawing/2014/main" id="{27373C0D-769C-4728-BF5F-0A74FB2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13 / 32</a:t>
            </a:r>
          </a:p>
        </p:txBody>
      </p:sp>
    </p:spTree>
    <p:extLst>
      <p:ext uri="{BB962C8B-B14F-4D97-AF65-F5344CB8AC3E}">
        <p14:creationId xmlns:p14="http://schemas.microsoft.com/office/powerpoint/2010/main" val="2926813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8EE8C-EBF3-486E-91E6-2D5E4219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27F43A18-B3ED-42D8-B264-919790E6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es hallucinations">
            <a:extLst xmlns:a="http://schemas.openxmlformats.org/drawingml/2006/main">
              <a:ext uri="{FF2B5EF4-FFF2-40B4-BE49-F238E27FC236}">
                <a16:creationId xmlns:a16="http://schemas.microsoft.com/office/drawing/2014/main" id="{7CDAE435-2E7E-489A-A3D1-0F813E5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hallucinations</a:t>
            </a:r>
          </a:p>
        </p:txBody>
      </p:sp>
      <p:sp>
        <p:nvSpPr>
          <p:cNvPr id="4" name="Une réponse peut inventer une source ou attribuer ">
            <a:extLst xmlns:a="http://schemas.openxmlformats.org/drawingml/2006/main">
              <a:ext uri="{FF2B5EF4-FFF2-40B4-BE49-F238E27FC236}">
                <a16:creationId xmlns:a16="http://schemas.microsoft.com/office/drawing/2014/main" id="{4478285F-5672-45C0-9037-FFF37A0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réponse peut inventer une source ou attribuer une citation.</a:t>
            </a:r>
          </a:p>
        </p:txBody>
      </p:sp>
      <p:sp>
        <p:nvSpPr>
          <p:cNvPr id="5" name="Exemple fictif : le modèle cite un rapport que vou">
            <a:extLst xmlns:a="http://schemas.openxmlformats.org/drawingml/2006/main">
              <a:ext uri="{FF2B5EF4-FFF2-40B4-BE49-F238E27FC236}">
                <a16:creationId xmlns:a16="http://schemas.microsoft.com/office/drawing/2014/main" id="{EF6C6C52-9AF1-4A11-AF40-209FB01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Exemple fictif : le modèle cite un rapport que vous ne trouvez dans aucun catalogue.</a:t>
            </a:r>
          </a:p>
        </p:txBody>
      </p:sp>
      <p:sp>
        <p:nvSpPr>
          <p:cNvPr id="6" name="La bonne réaction consiste à vérifier le document ">
            <a:extLst xmlns:a="http://schemas.openxmlformats.org/drawingml/2006/main">
              <a:ext uri="{FF2B5EF4-FFF2-40B4-BE49-F238E27FC236}">
                <a16:creationId xmlns:a16="http://schemas.microsoft.com/office/drawing/2014/main" id="{3241B94A-F77A-4BAF-B436-FACF33E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bonne réaction consiste à vérifier le document et le passage concernés.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FEC40F7-AE61-4B53-A1DB-CB9F1494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référence détaillée peut elle aussi être inven">
            <a:extLst xmlns:a="http://schemas.openxmlformats.org/drawingml/2006/main">
              <a:ext uri="{FF2B5EF4-FFF2-40B4-BE49-F238E27FC236}">
                <a16:creationId xmlns:a16="http://schemas.microsoft.com/office/drawing/2014/main" id="{92C4F710-FCF8-46C0-A0CA-07CE8393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référence détaillée peut elle aussi être inventée.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1aa7d9c7f4ec2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4 / 32">
            <a:extLst xmlns:a="http://schemas.openxmlformats.org/drawingml/2006/main">
              <a:ext uri="{FF2B5EF4-FFF2-40B4-BE49-F238E27FC236}">
                <a16:creationId xmlns:a16="http://schemas.microsoft.com/office/drawing/2014/main" id="{5885EBF5-1AA8-4596-9ED0-929DA39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14 / 32</a:t>
            </a:r>
          </a:p>
        </p:txBody>
      </p:sp>
    </p:spTree>
    <p:extLst>
      <p:ext uri="{BB962C8B-B14F-4D97-AF65-F5344CB8AC3E}">
        <p14:creationId xmlns:p14="http://schemas.microsoft.com/office/powerpoint/2010/main" val="8947044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D2791-10E9-46C3-A3B9-6B32D3E1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4A477BA9-B42E-45EC-8DD8-1E97EBE3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a vérification des réponses">
            <a:extLst xmlns:a="http://schemas.openxmlformats.org/drawingml/2006/main">
              <a:ext uri="{FF2B5EF4-FFF2-40B4-BE49-F238E27FC236}">
                <a16:creationId xmlns:a16="http://schemas.microsoft.com/office/drawing/2014/main" id="{7D0704D9-3DFC-4F74-9FB8-8A94F195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vérification des réponses</a:t>
            </a:r>
          </a:p>
        </p:txBody>
      </p:sp>
      <p:sp>
        <p:nvSpPr>
          <p:cNvPr id="4" name="Chaque affirmation importante doit pouvoir être co">
            <a:extLst xmlns:a="http://schemas.openxmlformats.org/drawingml/2006/main">
              <a:ext uri="{FF2B5EF4-FFF2-40B4-BE49-F238E27FC236}">
                <a16:creationId xmlns:a16="http://schemas.microsoft.com/office/drawing/2014/main" id="{63602DD4-632D-456B-BA5F-3052F6AF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Chaque affirmation importante doit pouvoir être contrôlée.</a:t>
            </a:r>
          </a:p>
        </p:txBody>
      </p:sp>
      <p:sp>
        <p:nvSpPr>
          <p:cNvPr id="5" name="Retrouvez la source originale et vérifiez sa date ">
            <a:extLst xmlns:a="http://schemas.openxmlformats.org/drawingml/2006/main">
              <a:ext uri="{FF2B5EF4-FFF2-40B4-BE49-F238E27FC236}">
                <a16:creationId xmlns:a16="http://schemas.microsoft.com/office/drawing/2014/main" id="{7D87ECF9-5795-4694-9B08-2DAA9D6B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Retrouvez la source originale et vérifiez sa date ainsi que son périmètre.</a:t>
            </a:r>
          </a:p>
        </p:txBody>
      </p:sp>
      <p:sp>
        <p:nvSpPr>
          <p:cNvPr id="6" name="Comparez ce qu’elle dit réellement avec la réponse">
            <a:extLst xmlns:a="http://schemas.openxmlformats.org/drawingml/2006/main">
              <a:ext uri="{FF2B5EF4-FFF2-40B4-BE49-F238E27FC236}">
                <a16:creationId xmlns:a16="http://schemas.microsoft.com/office/drawing/2014/main" id="{1ADC20B8-92A5-4B03-8BD0-5ECA0162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 ce qu’elle dit réellement avec la réponse du modèle.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986048C-450F-4970-8E61-F216232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Si la preuve manque, signalez l’incertitude ou ret">
            <a:extLst xmlns:a="http://schemas.openxmlformats.org/drawingml/2006/main">
              <a:ext uri="{FF2B5EF4-FFF2-40B4-BE49-F238E27FC236}">
                <a16:creationId xmlns:a16="http://schemas.microsoft.com/office/drawing/2014/main" id="{BBE51313-85F6-499B-ABBA-D5D5E810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 la preuve manque, signalez l’incertitude ou retirez l’affirmation.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a0cbcd9dd4fd2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5 / 32">
            <a:extLst xmlns:a="http://schemas.openxmlformats.org/drawingml/2006/main">
              <a:ext uri="{FF2B5EF4-FFF2-40B4-BE49-F238E27FC236}">
                <a16:creationId xmlns:a16="http://schemas.microsoft.com/office/drawing/2014/main" id="{C5270346-A06E-4A80-BE07-1746FD1D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15 / 32</a:t>
            </a:r>
          </a:p>
        </p:txBody>
      </p:sp>
    </p:spTree>
    <p:extLst>
      <p:ext uri="{BB962C8B-B14F-4D97-AF65-F5344CB8AC3E}">
        <p14:creationId xmlns:p14="http://schemas.microsoft.com/office/powerpoint/2010/main" val="2475257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3F445-AF69-4BB8-BBA9-06AF1AB1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D59272E4-641D-4C0B-B8E0-00094A76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Confidentialité et biais">
            <a:extLst xmlns:a="http://schemas.openxmlformats.org/drawingml/2006/main">
              <a:ext uri="{FF2B5EF4-FFF2-40B4-BE49-F238E27FC236}">
                <a16:creationId xmlns:a16="http://schemas.microsoft.com/office/drawing/2014/main" id="{D1A2937C-35F0-46D1-ADAC-C41739D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Confidentialité et biais</a:t>
            </a:r>
          </a:p>
        </p:txBody>
      </p:sp>
      <p:sp>
        <p:nvSpPr>
          <p:cNvPr id="4" name="Le choix des données et la relecture font partie d">
            <a:extLst xmlns:a="http://schemas.openxmlformats.org/drawingml/2006/main">
              <a:ext uri="{FF2B5EF4-FFF2-40B4-BE49-F238E27FC236}">
                <a16:creationId xmlns:a16="http://schemas.microsoft.com/office/drawing/2014/main" id="{17BAABA7-6739-4655-9ACB-C40A5DCB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choix des données et la relecture font partie du travail.</a:t>
            </a:r>
          </a:p>
        </p:txBody>
      </p:sp>
      <p:sp>
        <p:nvSpPr>
          <p:cNvPr id="5" name="Utilisez des exemples fictifs ou anonymisés pour l">
            <a:extLst xmlns:a="http://schemas.openxmlformats.org/drawingml/2006/main">
              <a:ext uri="{FF2B5EF4-FFF2-40B4-BE49-F238E27FC236}">
                <a16:creationId xmlns:a16="http://schemas.microsoft.com/office/drawing/2014/main" id="{9EBF6EB8-EF3C-4202-A1B8-3F277FF4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Utilisez des exemples fictifs ou anonymisés pour les premiers essais.</a:t>
            </a:r>
          </a:p>
        </p:txBody>
      </p:sp>
      <p:sp>
        <p:nvSpPr>
          <p:cNvPr id="6" name="Repérez les généralisations et les représentations">
            <a:extLst xmlns:a="http://schemas.openxmlformats.org/drawingml/2006/main">
              <a:ext uri="{FF2B5EF4-FFF2-40B4-BE49-F238E27FC236}">
                <a16:creationId xmlns:a16="http://schemas.microsoft.com/office/drawing/2014/main" id="{EC23ADC1-32FB-40B9-8B17-EC4FD609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Repérez les généralisations et les représentations injustifiées des personnes.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76952396-FFB5-4ADE-99CC-09C45FF9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Avant un partage : vérifier les données personnell">
            <a:extLst xmlns:a="http://schemas.openxmlformats.org/drawingml/2006/main">
              <a:ext uri="{FF2B5EF4-FFF2-40B4-BE49-F238E27FC236}">
                <a16:creationId xmlns:a16="http://schemas.microsoft.com/office/drawing/2014/main" id="{AD7B5AB3-0736-402C-BAF3-132BDCC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Avant un partage : vérifier les données personnelles et les informations internes.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dec33d571471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6 / 32">
            <a:extLst xmlns:a="http://schemas.openxmlformats.org/drawingml/2006/main">
              <a:ext uri="{FF2B5EF4-FFF2-40B4-BE49-F238E27FC236}">
                <a16:creationId xmlns:a16="http://schemas.microsoft.com/office/drawing/2014/main" id="{4E8EBCDC-CEDA-4671-8C58-278CF24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16 / 32</a:t>
            </a:r>
          </a:p>
        </p:txBody>
      </p:sp>
    </p:spTree>
    <p:extLst>
      <p:ext uri="{BB962C8B-B14F-4D97-AF65-F5344CB8AC3E}">
        <p14:creationId xmlns:p14="http://schemas.microsoft.com/office/powerpoint/2010/main" val="15008989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B7A76-E32D-42EE-8DE2-C33D3190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91E9ABFC-40D5-4723-8E67-E463C60A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a structure d’un prompt">
            <a:extLst xmlns:a="http://schemas.openxmlformats.org/drawingml/2006/main">
              <a:ext uri="{FF2B5EF4-FFF2-40B4-BE49-F238E27FC236}">
                <a16:creationId xmlns:a16="http://schemas.microsoft.com/office/drawing/2014/main" id="{B3BFC135-1CA5-4F1B-B1BE-E1D490EB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structure d’un prompt</a:t>
            </a:r>
          </a:p>
        </p:txBody>
      </p:sp>
      <p:sp>
        <p:nvSpPr>
          <p:cNvPr id="4" name="Le prompt décrit la tâche et les conditions de réu">
            <a:extLst xmlns:a="http://schemas.openxmlformats.org/drawingml/2006/main">
              <a:ext uri="{FF2B5EF4-FFF2-40B4-BE49-F238E27FC236}">
                <a16:creationId xmlns:a16="http://schemas.microsoft.com/office/drawing/2014/main" id="{F3293447-F23B-47F0-B6EE-D2EB437B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prompt décrit la tâche et les conditions de réussite.</a:t>
            </a:r>
          </a:p>
        </p:txBody>
      </p:sp>
      <p:sp>
        <p:nvSpPr>
          <p:cNvPr id="5" name="Rôle, tâche et contexte précisent ce que le systèm">
            <a:extLst xmlns:a="http://schemas.openxmlformats.org/drawingml/2006/main">
              <a:ext uri="{FF2B5EF4-FFF2-40B4-BE49-F238E27FC236}">
                <a16:creationId xmlns:a16="http://schemas.microsoft.com/office/drawing/2014/main" id="{AB6B096A-6D3D-439C-8FC1-C701128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Rôle, tâche et contexte précisent ce que le système doit faire.</a:t>
            </a:r>
          </a:p>
        </p:txBody>
      </p:sp>
      <p:sp>
        <p:nvSpPr>
          <p:cNvPr id="6" name="Contraintes et format définissent les limites et l">
            <a:extLst xmlns:a="http://schemas.openxmlformats.org/drawingml/2006/main">
              <a:ext uri="{FF2B5EF4-FFF2-40B4-BE49-F238E27FC236}">
                <a16:creationId xmlns:a16="http://schemas.microsoft.com/office/drawing/2014/main" id="{72A06AB7-9092-4F48-A219-8EED6B8C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Contraintes et format définissent les limites et la forme du résultat.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6AADCF9-CC49-4472-A4A8-F2EC7FAC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rôle seul ne remplace pas une consigne précise.">
            <a:extLst xmlns:a="http://schemas.openxmlformats.org/drawingml/2006/main">
              <a:ext uri="{FF2B5EF4-FFF2-40B4-BE49-F238E27FC236}">
                <a16:creationId xmlns:a16="http://schemas.microsoft.com/office/drawing/2014/main" id="{04632002-EC4E-40FD-8F55-A9A91851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rôle seul ne remplace pas une consigne précise.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d559f50a8439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7 / 32">
            <a:extLst xmlns:a="http://schemas.openxmlformats.org/drawingml/2006/main">
              <a:ext uri="{FF2B5EF4-FFF2-40B4-BE49-F238E27FC236}">
                <a16:creationId xmlns:a16="http://schemas.microsoft.com/office/drawing/2014/main" id="{CB032CC1-5D91-4E43-8320-606FAD4A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17 / 32</a:t>
            </a:r>
          </a:p>
        </p:txBody>
      </p:sp>
    </p:spTree>
    <p:extLst>
      <p:ext uri="{BB962C8B-B14F-4D97-AF65-F5344CB8AC3E}">
        <p14:creationId xmlns:p14="http://schemas.microsoft.com/office/powerpoint/2010/main" val="14728598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FD7C0-FB73-4651-A2DD-C55C54C1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6C329B9D-018C-4C4B-8132-29959E3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Exemple : prise de rendez-vous">
            <a:extLst xmlns:a="http://schemas.openxmlformats.org/drawingml/2006/main">
              <a:ext uri="{FF2B5EF4-FFF2-40B4-BE49-F238E27FC236}">
                <a16:creationId xmlns:a16="http://schemas.microsoft.com/office/drawing/2014/main" id="{A69562DD-32FB-4BF1-BF03-1DABA536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Exemple : prise de rendez-vous</a:t>
            </a:r>
          </a:p>
        </p:txBody>
      </p:sp>
      <p:sp>
        <p:nvSpPr>
          <p:cNvPr id="4" name="Une consigne exploitable décrit le destinataire et">
            <a:extLst xmlns:a="http://schemas.openxmlformats.org/drawingml/2006/main">
              <a:ext uri="{FF2B5EF4-FFF2-40B4-BE49-F238E27FC236}">
                <a16:creationId xmlns:a16="http://schemas.microsoft.com/office/drawing/2014/main" id="{B2B2D824-054E-4F8E-9BD7-22AEAC2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consigne exploitable décrit le destinataire et le résultat attendu.</a:t>
            </a:r>
          </a:p>
        </p:txBody>
      </p:sp>
      <p:sp>
        <p:nvSpPr>
          <p:cNvPr id="5" name="« Rédige un email à un partenaire pour proposer un">
            <a:extLst xmlns:a="http://schemas.openxmlformats.org/drawingml/2006/main">
              <a:ext uri="{FF2B5EF4-FFF2-40B4-BE49-F238E27FC236}">
                <a16:creationId xmlns:a16="http://schemas.microsoft.com/office/drawing/2014/main" id="{06E9840A-379B-4681-A0F1-FDA05A4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Rédige un email à un partenaire pour proposer un rendez-vous mardi ou jeudi. »</a:t>
            </a:r>
          </a:p>
        </p:txBody>
      </p:sp>
      <p:sp>
        <p:nvSpPr>
          <p:cNvPr id="6" name="« Ton professionnel, moins de 100 mots, objet incl">
            <a:extLst xmlns:a="http://schemas.openxmlformats.org/drawingml/2006/main">
              <a:ext uri="{FF2B5EF4-FFF2-40B4-BE49-F238E27FC236}">
                <a16:creationId xmlns:a16="http://schemas.microsoft.com/office/drawing/2014/main" id="{C614EC4E-4820-40E1-A7CE-307B914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Ton professionnel, moins de 100 mots, objet inclus. Laisse les horaires à compléter. »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4F117CE3-357B-4D04-B456-767F527B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Exemple fictif. Aucun message n’est envoyé.">
            <a:extLst xmlns:a="http://schemas.openxmlformats.org/drawingml/2006/main">
              <a:ext uri="{FF2B5EF4-FFF2-40B4-BE49-F238E27FC236}">
                <a16:creationId xmlns:a16="http://schemas.microsoft.com/office/drawing/2014/main" id="{931A59A1-DF8A-490E-ADA5-68235C5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Exemple fictif. Aucun message n’est envoyé.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53be8057a487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8 / 32">
            <a:extLst xmlns:a="http://schemas.openxmlformats.org/drawingml/2006/main">
              <a:ext uri="{FF2B5EF4-FFF2-40B4-BE49-F238E27FC236}">
                <a16:creationId xmlns:a16="http://schemas.microsoft.com/office/drawing/2014/main" id="{7B232602-5530-43BF-A124-DAF618DE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18 / 32</a:t>
            </a:r>
          </a:p>
        </p:txBody>
      </p:sp>
    </p:spTree>
    <p:extLst>
      <p:ext uri="{BB962C8B-B14F-4D97-AF65-F5344CB8AC3E}">
        <p14:creationId xmlns:p14="http://schemas.microsoft.com/office/powerpoint/2010/main" val="2035321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9091-617C-4C3B-9702-B647FCC7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A48CC872-7670-4DD5-BE24-49AF6141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Une consigne plus précise">
            <a:extLst xmlns:a="http://schemas.openxmlformats.org/drawingml/2006/main">
              <a:ext uri="{FF2B5EF4-FFF2-40B4-BE49-F238E27FC236}">
                <a16:creationId xmlns:a16="http://schemas.microsoft.com/office/drawing/2014/main" id="{E3F72874-F50E-49D3-ABD5-86AF4D8E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Une consigne plus précise</a:t>
            </a:r>
          </a:p>
        </p:txBody>
      </p:sp>
      <p:sp>
        <p:nvSpPr>
          <p:cNvPr id="4" name="La qualité du brief se voit dans les critères que ">
            <a:extLst xmlns:a="http://schemas.openxmlformats.org/drawingml/2006/main">
              <a:ext uri="{FF2B5EF4-FFF2-40B4-BE49-F238E27FC236}">
                <a16:creationId xmlns:a16="http://schemas.microsoft.com/office/drawing/2014/main" id="{D8E1D772-03BE-44F4-98C1-C32B8450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qualité du brief se voit dans les critères que vous pouvez vérifier.</a:t>
            </a:r>
          </a:p>
        </p:txBody>
      </p:sp>
      <p:sp>
        <p:nvSpPr>
          <p:cNvPr id="5" name="Demande vague : « Aide-moi à écrire un email. »">
            <a:extLst xmlns:a="http://schemas.openxmlformats.org/drawingml/2006/main">
              <a:ext uri="{FF2B5EF4-FFF2-40B4-BE49-F238E27FC236}">
                <a16:creationId xmlns:a16="http://schemas.microsoft.com/office/drawing/2014/main" id="{E6A88585-9222-411D-BBCF-0381997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 vague : « Aide-moi à écrire un email. »</a:t>
            </a:r>
          </a:p>
        </p:txBody>
      </p:sp>
      <p:sp>
        <p:nvSpPr>
          <p:cNvPr id="6" name="Demande précise : destinataire, but, informations ">
            <a:extLst xmlns:a="http://schemas.openxmlformats.org/drawingml/2006/main">
              <a:ext uri="{FF2B5EF4-FFF2-40B4-BE49-F238E27FC236}">
                <a16:creationId xmlns:a16="http://schemas.microsoft.com/office/drawing/2014/main" id="{F3E0D0C9-DAA4-44AD-836F-18435673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 précise : destinataire, but, informations disponibles, ton et longueur.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F62A924D-CB17-46A1-8629-381970BC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mparer les réponses avec les mêmes critères.">
            <a:extLst xmlns:a="http://schemas.openxmlformats.org/drawingml/2006/main">
              <a:ext uri="{FF2B5EF4-FFF2-40B4-BE49-F238E27FC236}">
                <a16:creationId xmlns:a16="http://schemas.microsoft.com/office/drawing/2014/main" id="{4B8FF6B6-3F48-41C7-A2C7-551C71AD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Comparer les réponses avec les mêmes critères.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161e933e244a2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9 / 32">
            <a:extLst xmlns:a="http://schemas.openxmlformats.org/drawingml/2006/main">
              <a:ext uri="{FF2B5EF4-FFF2-40B4-BE49-F238E27FC236}">
                <a16:creationId xmlns:a16="http://schemas.microsoft.com/office/drawing/2014/main" id="{C7446CDF-F4EB-4557-A995-A3526414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19 / 32</a:t>
            </a:r>
          </a:p>
        </p:txBody>
      </p:sp>
    </p:spTree>
    <p:extLst>
      <p:ext uri="{BB962C8B-B14F-4D97-AF65-F5344CB8AC3E}">
        <p14:creationId xmlns:p14="http://schemas.microsoft.com/office/powerpoint/2010/main" val="16846224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FF155-C282-4B8E-BF34-6EDED8DC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1C0B5D05-73A6-44A7-AA85-3FD399A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réécrire un prompt">
            <a:extLst xmlns:a="http://schemas.openxmlformats.org/drawingml/2006/main">
              <a:ext uri="{FF2B5EF4-FFF2-40B4-BE49-F238E27FC236}">
                <a16:creationId xmlns:a16="http://schemas.microsoft.com/office/drawing/2014/main" id="{E185EC1D-42A5-4A43-8861-65FBC47C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réécrire un prompt</a:t>
            </a:r>
          </a:p>
        </p:txBody>
      </p:sp>
      <p:sp>
        <p:nvSpPr>
          <p:cNvPr id="4" name="Améliorer une demande en conservant le même object">
            <a:extLst xmlns:a="http://schemas.openxmlformats.org/drawingml/2006/main">
              <a:ext uri="{FF2B5EF4-FFF2-40B4-BE49-F238E27FC236}">
                <a16:creationId xmlns:a16="http://schemas.microsoft.com/office/drawing/2014/main" id="{51570CDF-531A-4D14-99B1-FA2DB58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Améliorer une demande en conservant le même objectif.</a:t>
            </a:r>
          </a:p>
        </p:txBody>
      </p:sp>
      <p:sp>
        <p:nvSpPr>
          <p:cNvPr id="5" name="Choisissez une consigne vague. Ajoutez le contexte">
            <a:extLst xmlns:a="http://schemas.openxmlformats.org/drawingml/2006/main">
              <a:ext uri="{FF2B5EF4-FFF2-40B4-BE49-F238E27FC236}">
                <a16:creationId xmlns:a16="http://schemas.microsoft.com/office/drawing/2014/main" id="{919DC6BF-F97B-4CB7-B29B-980AE67F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Choisissez une consigne vague. Ajoutez le contexte, les contraintes et le format.</a:t>
            </a:r>
          </a:p>
        </p:txBody>
      </p:sp>
      <p:sp>
        <p:nvSpPr>
          <p:cNvPr id="6" name="Testez les deux versions sur la même tâche et rele">
            <a:extLst xmlns:a="http://schemas.openxmlformats.org/drawingml/2006/main">
              <a:ext uri="{FF2B5EF4-FFF2-40B4-BE49-F238E27FC236}">
                <a16:creationId xmlns:a16="http://schemas.microsoft.com/office/drawing/2014/main" id="{DB80A6F3-3075-47E7-A55D-B21D866E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les deux versions sur la même tâche et relevez les différences.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2257C105-7A01-4D79-8D44-DB60CBB4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deux prompts, deux sorties et une cou">
            <a:extLst xmlns:a="http://schemas.openxmlformats.org/drawingml/2006/main">
              <a:ext uri="{FF2B5EF4-FFF2-40B4-BE49-F238E27FC236}">
                <a16:creationId xmlns:a16="http://schemas.microsoft.com/office/drawing/2014/main" id="{8152F712-DA8B-4375-9D1F-33F8701E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deux prompts, deux sorties et une courte comparaison.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29c6f9f3e489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0 / 32">
            <a:extLst xmlns:a="http://schemas.openxmlformats.org/drawingml/2006/main">
              <a:ext uri="{FF2B5EF4-FFF2-40B4-BE49-F238E27FC236}">
                <a16:creationId xmlns:a16="http://schemas.microsoft.com/office/drawing/2014/main" id="{723BEAF0-1E94-4128-A846-BDB4FD1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20 / 32</a:t>
            </a:r>
          </a:p>
        </p:txBody>
      </p:sp>
    </p:spTree>
    <p:extLst>
      <p:ext uri="{BB962C8B-B14F-4D97-AF65-F5344CB8AC3E}">
        <p14:creationId xmlns:p14="http://schemas.microsoft.com/office/powerpoint/2010/main" val="5683708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997E4-5464-4774-AC73-4796C6B3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411606E1-E19A-47AB-81C7-7B923C0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synthétiser un texte">
            <a:extLst xmlns:a="http://schemas.openxmlformats.org/drawingml/2006/main">
              <a:ext uri="{FF2B5EF4-FFF2-40B4-BE49-F238E27FC236}">
                <a16:creationId xmlns:a16="http://schemas.microsoft.com/office/drawing/2014/main" id="{0B97E9E5-000D-464A-99B3-14ECDA1B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synthétiser un texte</a:t>
            </a:r>
          </a:p>
        </p:txBody>
      </p:sp>
      <p:sp>
        <p:nvSpPr>
          <p:cNvPr id="4" name="La synthèse doit conserver les idées de la source.">
            <a:extLst xmlns:a="http://schemas.openxmlformats.org/drawingml/2006/main">
              <a:ext uri="{FF2B5EF4-FFF2-40B4-BE49-F238E27FC236}">
                <a16:creationId xmlns:a16="http://schemas.microsoft.com/office/drawing/2014/main" id="{BA7F4BA9-DAA3-424C-852B-3B12FDD7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synthèse doit conserver les idées de la source.</a:t>
            </a:r>
          </a:p>
        </p:txBody>
      </p:sp>
      <p:sp>
        <p:nvSpPr>
          <p:cNvPr id="5" name="Fournissez un texte et demandez trois points essen">
            <a:extLst xmlns:a="http://schemas.openxmlformats.org/drawingml/2006/main">
              <a:ext uri="{FF2B5EF4-FFF2-40B4-BE49-F238E27FC236}">
                <a16:creationId xmlns:a16="http://schemas.microsoft.com/office/drawing/2014/main" id="{B8D19681-C951-40DF-9715-64202DA7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un texte et demandez trois points essentiels pour un public défini.</a:t>
            </a:r>
          </a:p>
        </p:txBody>
      </p:sp>
      <p:sp>
        <p:nvSpPr>
          <p:cNvPr id="6" name="Vérifiez chaque point dans le texte et supprimez t">
            <a:extLst xmlns:a="http://schemas.openxmlformats.org/drawingml/2006/main">
              <a:ext uri="{FF2B5EF4-FFF2-40B4-BE49-F238E27FC236}">
                <a16:creationId xmlns:a16="http://schemas.microsoft.com/office/drawing/2014/main" id="{64225D2A-3252-4096-BFB2-CE1C961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chaque point dans le texte et supprimez tout ajout non justifié.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026E6129-A4E5-4252-B0E0-3332B946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Critères : fidélité, concision et compréhension.">
            <a:extLst xmlns:a="http://schemas.openxmlformats.org/drawingml/2006/main">
              <a:ext uri="{FF2B5EF4-FFF2-40B4-BE49-F238E27FC236}">
                <a16:creationId xmlns:a16="http://schemas.microsoft.com/office/drawing/2014/main" id="{3B426FAB-4305-484A-B3D9-F50B3BF3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Critères : fidélité, concision et compréhension.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cea7e136c4ab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1 / 32">
            <a:extLst xmlns:a="http://schemas.openxmlformats.org/drawingml/2006/main">
              <a:ext uri="{FF2B5EF4-FFF2-40B4-BE49-F238E27FC236}">
                <a16:creationId xmlns:a16="http://schemas.microsoft.com/office/drawing/2014/main" id="{A40B4B0C-0380-40D7-9C47-5062D8F5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21 / 32</a:t>
            </a:r>
          </a:p>
        </p:txBody>
      </p:sp>
    </p:spTree>
    <p:extLst>
      <p:ext uri="{BB962C8B-B14F-4D97-AF65-F5344CB8AC3E}">
        <p14:creationId xmlns:p14="http://schemas.microsoft.com/office/powerpoint/2010/main" val="1028519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FC33D-3CE6-4E46-95C5-453E77AA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9B4CB9FD-D239-4387-A030-BD56B944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rédiger un email">
            <a:extLst xmlns:a="http://schemas.openxmlformats.org/drawingml/2006/main">
              <a:ext uri="{FF2B5EF4-FFF2-40B4-BE49-F238E27FC236}">
                <a16:creationId xmlns:a16="http://schemas.microsoft.com/office/drawing/2014/main" id="{7F325034-D56B-4D02-B4B0-6AA3350D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rédiger un email</a:t>
            </a:r>
          </a:p>
        </p:txBody>
      </p:sp>
      <p:sp>
        <p:nvSpPr>
          <p:cNvPr id="4" name="Un brouillon utile contient les informations néces">
            <a:extLst xmlns:a="http://schemas.openxmlformats.org/drawingml/2006/main">
              <a:ext uri="{FF2B5EF4-FFF2-40B4-BE49-F238E27FC236}">
                <a16:creationId xmlns:a16="http://schemas.microsoft.com/office/drawing/2014/main" id="{8A740055-098A-48DE-AA13-B126F84A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brouillon utile contient les informations nécessaires au destinataire.</a:t>
            </a:r>
          </a:p>
        </p:txBody>
      </p:sp>
      <p:sp>
        <p:nvSpPr>
          <p:cNvPr id="5" name="Préparez un brief fictif : interlocuteur, objectif">
            <a:extLst xmlns:a="http://schemas.openxmlformats.org/drawingml/2006/main">
              <a:ext uri="{FF2B5EF4-FFF2-40B4-BE49-F238E27FC236}">
                <a16:creationId xmlns:a16="http://schemas.microsoft.com/office/drawing/2014/main" id="{DFF4A873-9A15-4F1C-A6C8-5A5532F0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 brief fictif : interlocuteur, objectif, éléments à transmettre.</a:t>
            </a:r>
          </a:p>
        </p:txBody>
      </p:sp>
      <p:sp>
        <p:nvSpPr>
          <p:cNvPr id="6" name="Relisez les noms, les dates et le ton. Corrigez av">
            <a:extLst xmlns:a="http://schemas.openxmlformats.org/drawingml/2006/main">
              <a:ext uri="{FF2B5EF4-FFF2-40B4-BE49-F238E27FC236}">
                <a16:creationId xmlns:a16="http://schemas.microsoft.com/office/drawing/2014/main" id="{8CE73008-0549-4B31-B9C6-65929CE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Relisez les noms, les dates et le ton. Corrigez avant tout usage.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461676A6-92A3-4E61-ADD5-6293781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prompt, brouillon et version corrigée">
            <a:extLst xmlns:a="http://schemas.openxmlformats.org/drawingml/2006/main">
              <a:ext uri="{FF2B5EF4-FFF2-40B4-BE49-F238E27FC236}">
                <a16:creationId xmlns:a16="http://schemas.microsoft.com/office/drawing/2014/main" id="{29A31F6E-4721-41D5-BEE5-1C9E0613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prompt, brouillon et version corrigée.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7a774953a4c6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2 / 32">
            <a:extLst xmlns:a="http://schemas.openxmlformats.org/drawingml/2006/main">
              <a:ext uri="{FF2B5EF4-FFF2-40B4-BE49-F238E27FC236}">
                <a16:creationId xmlns:a16="http://schemas.microsoft.com/office/drawing/2014/main" id="{03B31D19-B700-405D-B7DB-71E9538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22 / 32</a:t>
            </a:r>
          </a:p>
        </p:txBody>
      </p:sp>
    </p:spTree>
    <p:extLst>
      <p:ext uri="{BB962C8B-B14F-4D97-AF65-F5344CB8AC3E}">
        <p14:creationId xmlns:p14="http://schemas.microsoft.com/office/powerpoint/2010/main" val="2848180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310F8-3053-4160-B046-0C8DF8DF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5418802E-1094-40D4-93E7-F9F57BBB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création visuelle">
            <a:extLst xmlns:a="http://schemas.openxmlformats.org/drawingml/2006/main">
              <a:ext uri="{FF2B5EF4-FFF2-40B4-BE49-F238E27FC236}">
                <a16:creationId xmlns:a16="http://schemas.microsoft.com/office/drawing/2014/main" id="{5C6C04DF-2EA4-4213-A5F0-3EC32D4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création visuelle</a:t>
            </a:r>
          </a:p>
        </p:txBody>
      </p:sp>
      <p:sp>
        <p:nvSpPr>
          <p:cNvPr id="4" name="Un brief visuel décrit le sujet et son usage.">
            <a:extLst xmlns:a="http://schemas.openxmlformats.org/drawingml/2006/main">
              <a:ext uri="{FF2B5EF4-FFF2-40B4-BE49-F238E27FC236}">
                <a16:creationId xmlns:a16="http://schemas.microsoft.com/office/drawing/2014/main" id="{29339C85-7B38-4E49-8949-77A010F9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brief visuel décrit le sujet et son usage.</a:t>
            </a:r>
          </a:p>
        </p:txBody>
      </p:sp>
      <p:sp>
        <p:nvSpPr>
          <p:cNvPr id="5" name="Précisez le sujet, le contexte, le style souhaité ">
            <a:extLst xmlns:a="http://schemas.openxmlformats.org/drawingml/2006/main">
              <a:ext uri="{FF2B5EF4-FFF2-40B4-BE49-F238E27FC236}">
                <a16:creationId xmlns:a16="http://schemas.microsoft.com/office/drawing/2014/main" id="{59D5E44A-04CF-406A-A6D3-FE66689C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le sujet, le contexte, le style souhaité et le format de diffusion.</a:t>
            </a:r>
          </a:p>
        </p:txBody>
      </p:sp>
      <p:sp>
        <p:nvSpPr>
          <p:cNvPr id="6" name="Comparez le résultat au brief et notez les élément">
            <a:extLst xmlns:a="http://schemas.openxmlformats.org/drawingml/2006/main">
              <a:ext uri="{FF2B5EF4-FFF2-40B4-BE49-F238E27FC236}">
                <a16:creationId xmlns:a16="http://schemas.microsoft.com/office/drawing/2014/main" id="{B7A1DD7E-1209-41A8-8805-570F39BD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 le résultat au brief et notez les éléments à améliorer.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3B1F88DD-7514-4702-828B-5189638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Vérifiez aussi la lisibilité du texte et la cohére">
            <a:extLst xmlns:a="http://schemas.openxmlformats.org/drawingml/2006/main">
              <a:ext uri="{FF2B5EF4-FFF2-40B4-BE49-F238E27FC236}">
                <a16:creationId xmlns:a16="http://schemas.microsoft.com/office/drawing/2014/main" id="{9816C966-FB70-455A-A845-647113C1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Vérifiez aussi la lisibilité du texte et la cohérence des détails.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9a952138f43d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3 / 32">
            <a:extLst xmlns:a="http://schemas.openxmlformats.org/drawingml/2006/main">
              <a:ext uri="{FF2B5EF4-FFF2-40B4-BE49-F238E27FC236}">
                <a16:creationId xmlns:a16="http://schemas.microsoft.com/office/drawing/2014/main" id="{F2C0C363-F4B7-484A-9F43-FE1C057C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23 / 32</a:t>
            </a:r>
          </a:p>
        </p:txBody>
      </p:sp>
    </p:spTree>
    <p:extLst>
      <p:ext uri="{BB962C8B-B14F-4D97-AF65-F5344CB8AC3E}">
        <p14:creationId xmlns:p14="http://schemas.microsoft.com/office/powerpoint/2010/main" val="8225372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4ADB0-9586-4CF6-B758-CD95FFB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4D036A6C-6D21-470B-8794-348F06F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vérifier une affirmation">
            <a:extLst xmlns:a="http://schemas.openxmlformats.org/drawingml/2006/main">
              <a:ext uri="{FF2B5EF4-FFF2-40B4-BE49-F238E27FC236}">
                <a16:creationId xmlns:a16="http://schemas.microsoft.com/office/drawing/2014/main" id="{63CE6F3A-5D8C-436A-814D-DDDCFF9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vérifier une affirmation</a:t>
            </a:r>
          </a:p>
        </p:txBody>
      </p:sp>
      <p:sp>
        <p:nvSpPr>
          <p:cNvPr id="4" name="Une recherche de preuve complète le travail de gén">
            <a:extLst xmlns:a="http://schemas.openxmlformats.org/drawingml/2006/main">
              <a:ext uri="{FF2B5EF4-FFF2-40B4-BE49-F238E27FC236}">
                <a16:creationId xmlns:a16="http://schemas.microsoft.com/office/drawing/2014/main" id="{4EAAE663-7E84-4C3C-94F3-CC0B8F2F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recherche de preuve complète le travail de génération.</a:t>
            </a:r>
          </a:p>
        </p:txBody>
      </p:sp>
      <p:sp>
        <p:nvSpPr>
          <p:cNvPr id="5" name="Choisissez une affirmation factuelle dans une répo">
            <a:extLst xmlns:a="http://schemas.openxmlformats.org/drawingml/2006/main">
              <a:ext uri="{FF2B5EF4-FFF2-40B4-BE49-F238E27FC236}">
                <a16:creationId xmlns:a16="http://schemas.microsoft.com/office/drawing/2014/main" id="{23EBEF9A-5DD6-4A84-86F4-A63D0EAA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Choisissez une affirmation factuelle dans une réponse et retrouvez une source primaire.</a:t>
            </a:r>
          </a:p>
        </p:txBody>
      </p:sp>
      <p:sp>
        <p:nvSpPr>
          <p:cNvPr id="6" name="Notez la date, le passage utile et les éventuelles">
            <a:extLst xmlns:a="http://schemas.openxmlformats.org/drawingml/2006/main">
              <a:ext uri="{FF2B5EF4-FFF2-40B4-BE49-F238E27FC236}">
                <a16:creationId xmlns:a16="http://schemas.microsoft.com/office/drawing/2014/main" id="{D19F8062-3295-4088-BF6F-913F535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Notez la date, le passage utile et les éventuelles différences.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0736C7F3-1259-4973-8E85-ECB9ACE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affirmation, preuve trouvée et conclu">
            <a:extLst xmlns:a="http://schemas.openxmlformats.org/drawingml/2006/main">
              <a:ext uri="{FF2B5EF4-FFF2-40B4-BE49-F238E27FC236}">
                <a16:creationId xmlns:a16="http://schemas.microsoft.com/office/drawing/2014/main" id="{D94FBDE6-ACE4-4F78-9404-FEF66691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affirmation, preuve trouvée et conclusion prudente.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ee93826dc4ee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4 / 32">
            <a:extLst xmlns:a="http://schemas.openxmlformats.org/drawingml/2006/main">
              <a:ext uri="{FF2B5EF4-FFF2-40B4-BE49-F238E27FC236}">
                <a16:creationId xmlns:a16="http://schemas.microsoft.com/office/drawing/2014/main" id="{8C6AD55F-5E78-47B9-8F0E-E906CA13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24 / 32</a:t>
            </a:r>
          </a:p>
        </p:txBody>
      </p:sp>
    </p:spTree>
    <p:extLst>
      <p:ext uri="{BB962C8B-B14F-4D97-AF65-F5344CB8AC3E}">
        <p14:creationId xmlns:p14="http://schemas.microsoft.com/office/powerpoint/2010/main" val="3061999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D8684-E8B9-45D4-9E46-EC0D1F4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A84565E6-90FE-4734-A6CC-E833680A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Cas : service client">
            <a:extLst xmlns:a="http://schemas.openxmlformats.org/drawingml/2006/main">
              <a:ext uri="{FF2B5EF4-FFF2-40B4-BE49-F238E27FC236}">
                <a16:creationId xmlns:a16="http://schemas.microsoft.com/office/drawing/2014/main" id="{2BC4877B-3852-4D01-BA53-3D62D3CF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service client</a:t>
            </a:r>
          </a:p>
        </p:txBody>
      </p:sp>
      <p:sp>
        <p:nvSpPr>
          <p:cNvPr id="4" name="Une FAQ délimite ce que l’assistant peut répondre.">
            <a:extLst xmlns:a="http://schemas.openxmlformats.org/drawingml/2006/main">
              <a:ext uri="{FF2B5EF4-FFF2-40B4-BE49-F238E27FC236}">
                <a16:creationId xmlns:a16="http://schemas.microsoft.com/office/drawing/2014/main" id="{36622856-D080-458E-9521-65EE5F25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FAQ délimite ce que l’assistant peut répondre.</a:t>
            </a:r>
          </a:p>
        </p:txBody>
      </p:sp>
      <p:sp>
        <p:nvSpPr>
          <p:cNvPr id="5" name="Fournissez des questions et réponses validées sur ">
            <a:extLst xmlns:a="http://schemas.openxmlformats.org/drawingml/2006/main">
              <a:ext uri="{FF2B5EF4-FFF2-40B4-BE49-F238E27FC236}">
                <a16:creationId xmlns:a16="http://schemas.microsoft.com/office/drawing/2014/main" id="{B504C902-74C8-4F49-8660-04D0B7DC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Fournissez des questions et réponses validées sur un service fictif.</a:t>
            </a:r>
          </a:p>
        </p:txBody>
      </p:sp>
      <p:sp>
        <p:nvSpPr>
          <p:cNvPr id="6" name="Demandez une réponse courte et un transfert à un h">
            <a:extLst xmlns:a="http://schemas.openxmlformats.org/drawingml/2006/main">
              <a:ext uri="{FF2B5EF4-FFF2-40B4-BE49-F238E27FC236}">
                <a16:creationId xmlns:a16="http://schemas.microsoft.com/office/drawing/2014/main" id="{5AAD0AD8-9F51-4083-9526-AE41A971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réponse courte et un transfert à un humain si la FAQ ne suffit pas.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87B5012-D52F-4D7A-B77F-4C241A1E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Test : une question connue, une ambiguë et une hor">
            <a:extLst xmlns:a="http://schemas.openxmlformats.org/drawingml/2006/main">
              <a:ext uri="{FF2B5EF4-FFF2-40B4-BE49-F238E27FC236}">
                <a16:creationId xmlns:a16="http://schemas.microsoft.com/office/drawing/2014/main" id="{F9FF0077-5767-4BDF-BE78-E0044757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Test : une question connue, une ambiguë et une hors périmètre.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3a74d538b43a6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5 / 32">
            <a:extLst xmlns:a="http://schemas.openxmlformats.org/drawingml/2006/main">
              <a:ext uri="{FF2B5EF4-FFF2-40B4-BE49-F238E27FC236}">
                <a16:creationId xmlns:a16="http://schemas.microsoft.com/office/drawing/2014/main" id="{D82F1034-371F-4FC4-AB43-B8ADDE50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25 / 32</a:t>
            </a:r>
          </a:p>
        </p:txBody>
      </p:sp>
    </p:spTree>
    <p:extLst>
      <p:ext uri="{BB962C8B-B14F-4D97-AF65-F5344CB8AC3E}">
        <p14:creationId xmlns:p14="http://schemas.microsoft.com/office/powerpoint/2010/main" val="17656318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F3323-2B80-489A-AB68-DA53B795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2060452C-E03D-4538-8F9F-C9B9CAA7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Cas : note de synthèse">
            <a:extLst xmlns:a="http://schemas.openxmlformats.org/drawingml/2006/main">
              <a:ext uri="{FF2B5EF4-FFF2-40B4-BE49-F238E27FC236}">
                <a16:creationId xmlns:a16="http://schemas.microsoft.com/office/drawing/2014/main" id="{83EA2B63-D1C3-48EC-93F1-D78F278E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note de synthèse</a:t>
            </a:r>
          </a:p>
        </p:txBody>
      </p:sp>
      <p:sp>
        <p:nvSpPr>
          <p:cNvPr id="4" name="Le public et l’objectif déterminent les informatio">
            <a:extLst xmlns:a="http://schemas.openxmlformats.org/drawingml/2006/main">
              <a:ext uri="{FF2B5EF4-FFF2-40B4-BE49-F238E27FC236}">
                <a16:creationId xmlns:a16="http://schemas.microsoft.com/office/drawing/2014/main" id="{964320B4-EAC6-4907-A549-86F7DF3B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public et l’objectif déterminent les informations à retenir.</a:t>
            </a:r>
          </a:p>
        </p:txBody>
      </p:sp>
      <p:sp>
        <p:nvSpPr>
          <p:cNvPr id="5" name="Exemple : résumer un compte rendu pour une respons">
            <a:extLst xmlns:a="http://schemas.openxmlformats.org/drawingml/2006/main">
              <a:ext uri="{FF2B5EF4-FFF2-40B4-BE49-F238E27FC236}">
                <a16:creationId xmlns:a16="http://schemas.microsoft.com/office/drawing/2014/main" id="{AD0EDD18-BDFE-4358-A6C0-7AA79A54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Exemple : résumer un compte rendu pour une responsable absente.</a:t>
            </a:r>
          </a:p>
        </p:txBody>
      </p:sp>
      <p:sp>
        <p:nvSpPr>
          <p:cNvPr id="6" name="Demandez les décisions et les points ouverts, sans">
            <a:extLst xmlns:a="http://schemas.openxmlformats.org/drawingml/2006/main">
              <a:ext uri="{FF2B5EF4-FFF2-40B4-BE49-F238E27FC236}">
                <a16:creationId xmlns:a16="http://schemas.microsoft.com/office/drawing/2014/main" id="{023EDFAD-6357-4689-A7C8-F36B62EF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les décisions et les points ouverts, sans créer de nouvelles échéances.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02AA8542-581C-48A2-8C47-077A8037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haque élément doit correspondre à une information">
            <a:extLst xmlns:a="http://schemas.openxmlformats.org/drawingml/2006/main">
              <a:ext uri="{FF2B5EF4-FFF2-40B4-BE49-F238E27FC236}">
                <a16:creationId xmlns:a16="http://schemas.microsoft.com/office/drawing/2014/main" id="{F1AB1341-594F-4A93-9D18-1B7BC88E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Chaque élément doit correspondre à une information fournie.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e8220319545a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6 / 32">
            <a:extLst xmlns:a="http://schemas.openxmlformats.org/drawingml/2006/main">
              <a:ext uri="{FF2B5EF4-FFF2-40B4-BE49-F238E27FC236}">
                <a16:creationId xmlns:a16="http://schemas.microsoft.com/office/drawing/2014/main" id="{E03880E0-B928-46FF-9BF0-148DF22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26 / 32</a:t>
            </a:r>
          </a:p>
        </p:txBody>
      </p:sp>
    </p:spTree>
    <p:extLst>
      <p:ext uri="{BB962C8B-B14F-4D97-AF65-F5344CB8AC3E}">
        <p14:creationId xmlns:p14="http://schemas.microsoft.com/office/powerpoint/2010/main" val="2754649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D4CA3-CB6C-4429-BEE3-4CBDA32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9A50641B-EC79-4DBD-B362-C7FC182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Cas : idées de produit">
            <a:extLst xmlns:a="http://schemas.openxmlformats.org/drawingml/2006/main">
              <a:ext uri="{FF2B5EF4-FFF2-40B4-BE49-F238E27FC236}">
                <a16:creationId xmlns:a16="http://schemas.microsoft.com/office/drawing/2014/main" id="{4E51C109-ABD3-4BA4-9C3B-F35F556E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idées de produit</a:t>
            </a:r>
          </a:p>
        </p:txBody>
      </p:sp>
      <p:sp>
        <p:nvSpPr>
          <p:cNvPr id="4" name="La génération aide à explorer plusieurs propositio">
            <a:extLst xmlns:a="http://schemas.openxmlformats.org/drawingml/2006/main">
              <a:ext uri="{FF2B5EF4-FFF2-40B4-BE49-F238E27FC236}">
                <a16:creationId xmlns:a16="http://schemas.microsoft.com/office/drawing/2014/main" id="{B771EBC0-E940-410D-8723-9835E7E3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génération aide à explorer plusieurs propositions.</a:t>
            </a:r>
          </a:p>
        </p:txBody>
      </p:sp>
      <p:sp>
        <p:nvSpPr>
          <p:cNvPr id="5" name="Décrivez le public, le besoin et les contraintes d">
            <a:extLst xmlns:a="http://schemas.openxmlformats.org/drawingml/2006/main">
              <a:ext uri="{FF2B5EF4-FFF2-40B4-BE49-F238E27FC236}">
                <a16:creationId xmlns:a16="http://schemas.microsoft.com/office/drawing/2014/main" id="{3C3D1136-CF25-4870-B202-883BCBB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le public, le besoin et les contraintes d’un produit fictif.</a:t>
            </a:r>
          </a:p>
        </p:txBody>
      </p:sp>
      <p:sp>
        <p:nvSpPr>
          <p:cNvPr id="6" name="Comparez les idées selon leur utilité et leur fais">
            <a:extLst xmlns:a="http://schemas.openxmlformats.org/drawingml/2006/main">
              <a:ext uri="{FF2B5EF4-FFF2-40B4-BE49-F238E27FC236}">
                <a16:creationId xmlns:a16="http://schemas.microsoft.com/office/drawing/2014/main" id="{058126BE-70DD-44C6-98BA-6B030A26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 les idées selon leur utilité et leur faisabilité, puis justifiez votre choix.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2C23C7A-E47B-404D-97A9-DD879AB5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idée générée reste une hypothèse à tester sur ">
            <a:extLst xmlns:a="http://schemas.openxmlformats.org/drawingml/2006/main">
              <a:ext uri="{FF2B5EF4-FFF2-40B4-BE49-F238E27FC236}">
                <a16:creationId xmlns:a16="http://schemas.microsoft.com/office/drawing/2014/main" id="{E3A1DF7E-0137-434F-A978-1FE19B4D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idée générée reste une hypothèse à tester sur le terrain.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7d41d53674bb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7 / 32">
            <a:extLst xmlns:a="http://schemas.openxmlformats.org/drawingml/2006/main">
              <a:ext uri="{FF2B5EF4-FFF2-40B4-BE49-F238E27FC236}">
                <a16:creationId xmlns:a16="http://schemas.microsoft.com/office/drawing/2014/main" id="{51BCEEE8-D360-4A07-AA69-E37BCB9F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27 / 32</a:t>
            </a:r>
          </a:p>
        </p:txBody>
      </p:sp>
    </p:spTree>
    <p:extLst>
      <p:ext uri="{BB962C8B-B14F-4D97-AF65-F5344CB8AC3E}">
        <p14:creationId xmlns:p14="http://schemas.microsoft.com/office/powerpoint/2010/main" val="14465209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93E8D-4855-446D-9681-EDF44CB3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8AEB6803-F444-479B-9D76-172BED9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Une bibliothèque de prompts">
            <a:extLst xmlns:a="http://schemas.openxmlformats.org/drawingml/2006/main">
              <a:ext uri="{FF2B5EF4-FFF2-40B4-BE49-F238E27FC236}">
                <a16:creationId xmlns:a16="http://schemas.microsoft.com/office/drawing/2014/main" id="{425463DC-9050-4C40-90B6-46A9E3B6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Une bibliothèque de prompts</a:t>
            </a:r>
          </a:p>
        </p:txBody>
      </p:sp>
      <p:sp>
        <p:nvSpPr>
          <p:cNvPr id="4" name="Un modèle de consigne réutilisable contient des ch">
            <a:extLst xmlns:a="http://schemas.openxmlformats.org/drawingml/2006/main">
              <a:ext uri="{FF2B5EF4-FFF2-40B4-BE49-F238E27FC236}">
                <a16:creationId xmlns:a16="http://schemas.microsoft.com/office/drawing/2014/main" id="{E18193F7-67B9-4FE6-8F1E-3147C94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modèle de consigne réutilisable contient des champs à compléter.</a:t>
            </a:r>
          </a:p>
        </p:txBody>
      </p:sp>
      <p:sp>
        <p:nvSpPr>
          <p:cNvPr id="5" name="« Résume [texte] pour [public] en [format], sans a">
            <a:extLst xmlns:a="http://schemas.openxmlformats.org/drawingml/2006/main">
              <a:ext uri="{FF2B5EF4-FFF2-40B4-BE49-F238E27FC236}">
                <a16:creationId xmlns:a16="http://schemas.microsoft.com/office/drawing/2014/main" id="{1B5476A3-B8A7-45EC-ADA6-F12DA817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Résume [texte] pour [public] en [format], sans ajouter d’informations. »</a:t>
            </a:r>
          </a:p>
        </p:txBody>
      </p:sp>
      <p:sp>
        <p:nvSpPr>
          <p:cNvPr id="6" name="« Reformule [texte] avec un ton [ton] en conservan">
            <a:extLst xmlns:a="http://schemas.openxmlformats.org/drawingml/2006/main">
              <a:ext uri="{FF2B5EF4-FFF2-40B4-BE49-F238E27FC236}">
                <a16:creationId xmlns:a16="http://schemas.microsoft.com/office/drawing/2014/main" id="{6CB95F26-0B44-43AB-BCD7-FDD711F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« Reformule [texte] avec un ton [ton] en conservant [éléments essentiels]. »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761EE36-0C23-4B61-BED8-40BD3685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server un exemple de résultat validé avec chaqu">
            <a:extLst xmlns:a="http://schemas.openxmlformats.org/drawingml/2006/main">
              <a:ext uri="{FF2B5EF4-FFF2-40B4-BE49-F238E27FC236}">
                <a16:creationId xmlns:a16="http://schemas.microsoft.com/office/drawing/2014/main" id="{E73C2D94-036A-4FFF-80F2-CE9ECABF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Conserver un exemple de résultat validé avec chaque modèle.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c9b39bba8480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8 / 32">
            <a:extLst xmlns:a="http://schemas.openxmlformats.org/drawingml/2006/main">
              <a:ext uri="{FF2B5EF4-FFF2-40B4-BE49-F238E27FC236}">
                <a16:creationId xmlns:a16="http://schemas.microsoft.com/office/drawing/2014/main" id="{E2F9C73F-7C63-4927-A359-00E6F3CA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28 / 32</a:t>
            </a:r>
          </a:p>
        </p:txBody>
      </p:sp>
    </p:spTree>
    <p:extLst>
      <p:ext uri="{BB962C8B-B14F-4D97-AF65-F5344CB8AC3E}">
        <p14:creationId xmlns:p14="http://schemas.microsoft.com/office/powerpoint/2010/main" val="4640332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CDBF2-8BB3-4B3D-BA66-63F51E9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7FDCDFAB-D5EB-4327-9D57-6F84D8F1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Projet : assistant personnel">
            <a:extLst xmlns:a="http://schemas.openxmlformats.org/drawingml/2006/main">
              <a:ext uri="{FF2B5EF4-FFF2-40B4-BE49-F238E27FC236}">
                <a16:creationId xmlns:a16="http://schemas.microsoft.com/office/drawing/2014/main" id="{C4B58682-2D31-4147-AF3D-DFA68DE8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Projet : assistant personnel</a:t>
            </a:r>
          </a:p>
        </p:txBody>
      </p:sp>
      <p:sp>
        <p:nvSpPr>
          <p:cNvPr id="4" name="Constituer un ensemble de cinq prompts utiles à vo">
            <a:extLst xmlns:a="http://schemas.openxmlformats.org/drawingml/2006/main">
              <a:ext uri="{FF2B5EF4-FFF2-40B4-BE49-F238E27FC236}">
                <a16:creationId xmlns:a16="http://schemas.microsoft.com/office/drawing/2014/main" id="{47BC096E-902F-48D9-BD0B-49FA68F2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Constituer un ensemble de cinq prompts utiles à vos activités.</a:t>
            </a:r>
          </a:p>
        </p:txBody>
      </p:sp>
      <p:sp>
        <p:nvSpPr>
          <p:cNvPr id="5" name="Choisissez cinq tâches distinctes et précisez le r">
            <a:extLst xmlns:a="http://schemas.openxmlformats.org/drawingml/2006/main">
              <a:ext uri="{FF2B5EF4-FFF2-40B4-BE49-F238E27FC236}">
                <a16:creationId xmlns:a16="http://schemas.microsoft.com/office/drawing/2014/main" id="{B23606DD-9B04-4875-BA38-FCD3EC10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Choisissez cinq tâches distinctes et précisez le résultat attendu pour chacune.</a:t>
            </a:r>
          </a:p>
        </p:txBody>
      </p:sp>
      <p:sp>
        <p:nvSpPr>
          <p:cNvPr id="6" name="Testez les prompts avec des données fictives ou au">
            <a:extLst xmlns:a="http://schemas.openxmlformats.org/drawingml/2006/main">
              <a:ext uri="{FF2B5EF4-FFF2-40B4-BE49-F238E27FC236}">
                <a16:creationId xmlns:a16="http://schemas.microsoft.com/office/drawing/2014/main" id="{A26BC01E-CB67-4331-AF41-FEC2FCE1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les prompts avec des données fictives ou autorisées.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D8D0437-73CA-47DF-B07E-3B20836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haque prompt doit être réutilisable et accompagné">
            <a:extLst xmlns:a="http://schemas.openxmlformats.org/drawingml/2006/main">
              <a:ext uri="{FF2B5EF4-FFF2-40B4-BE49-F238E27FC236}">
                <a16:creationId xmlns:a16="http://schemas.microsoft.com/office/drawing/2014/main" id="{CD19842D-E679-4F72-A274-99A4825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Chaque prompt doit être réutilisable et accompagné de ses limites.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5801d00814aa8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9 / 32">
            <a:extLst xmlns:a="http://schemas.openxmlformats.org/drawingml/2006/main">
              <a:ext uri="{FF2B5EF4-FFF2-40B4-BE49-F238E27FC236}">
                <a16:creationId xmlns:a16="http://schemas.microsoft.com/office/drawing/2014/main" id="{78F742B3-5C86-472B-A2C2-A34A9A2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29 / 32</a:t>
            </a:r>
          </a:p>
        </p:txBody>
      </p:sp>
    </p:spTree>
    <p:extLst>
      <p:ext uri="{BB962C8B-B14F-4D97-AF65-F5344CB8AC3E}">
        <p14:creationId xmlns:p14="http://schemas.microsoft.com/office/powerpoint/2010/main" val="7462376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FFEEF-DD01-411D-958F-8D5E6176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3D76E872-D1B8-4611-BEF3-B378432E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e dossier du projet">
            <a:extLst xmlns:a="http://schemas.openxmlformats.org/drawingml/2006/main">
              <a:ext uri="{FF2B5EF4-FFF2-40B4-BE49-F238E27FC236}">
                <a16:creationId xmlns:a16="http://schemas.microsoft.com/office/drawing/2014/main" id="{67B85BE1-7B3F-49C4-A56A-70F1AED5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dossier du projet</a:t>
            </a:r>
          </a:p>
        </p:txBody>
      </p:sp>
      <p:sp>
        <p:nvSpPr>
          <p:cNvPr id="4" name="La comparaison rend votre progression visible.">
            <a:extLst xmlns:a="http://schemas.openxmlformats.org/drawingml/2006/main">
              <a:ext uri="{FF2B5EF4-FFF2-40B4-BE49-F238E27FC236}">
                <a16:creationId xmlns:a16="http://schemas.microsoft.com/office/drawing/2014/main" id="{CF308AE9-BC1B-4DA0-A0B3-B768D7C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comparaison rend votre progression visible.</a:t>
            </a:r>
          </a:p>
        </p:txBody>
      </p:sp>
      <p:sp>
        <p:nvSpPr>
          <p:cNvPr id="5" name="Présentez la consigne initiale, la version amélior">
            <a:extLst xmlns:a="http://schemas.openxmlformats.org/drawingml/2006/main">
              <a:ext uri="{FF2B5EF4-FFF2-40B4-BE49-F238E27FC236}">
                <a16:creationId xmlns:a16="http://schemas.microsoft.com/office/drawing/2014/main" id="{C018E346-FC30-401F-900B-A1F14D6B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Présentez la consigne initiale, la version améliorée et un résultat obtenu.</a:t>
            </a:r>
          </a:p>
        </p:txBody>
      </p:sp>
      <p:sp>
        <p:nvSpPr>
          <p:cNvPr id="6" name="Expliquez ce que vous avez corrigé et comment vous">
            <a:extLst xmlns:a="http://schemas.openxmlformats.org/drawingml/2006/main">
              <a:ext uri="{FF2B5EF4-FFF2-40B4-BE49-F238E27FC236}">
                <a16:creationId xmlns:a16="http://schemas.microsoft.com/office/drawing/2014/main" id="{7EB929A6-EF76-47FD-922A-3D373262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Expliquez ce que vous avez corrigé et comment vous avez contrôlé le résultat.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B3EC4B00-F394-422D-AF5C-5ABB53AD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formateur évalue le travail à partir des critèr">
            <a:extLst xmlns:a="http://schemas.openxmlformats.org/drawingml/2006/main">
              <a:ext uri="{FF2B5EF4-FFF2-40B4-BE49-F238E27FC236}">
                <a16:creationId xmlns:a16="http://schemas.microsoft.com/office/drawing/2014/main" id="{983C4212-D7D8-4B2D-8A0B-8B374EB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formateur évalue le travail à partir des critères du manuel.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9aab4ba894a8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0 / 32">
            <a:extLst xmlns:a="http://schemas.openxmlformats.org/drawingml/2006/main">
              <a:ext uri="{FF2B5EF4-FFF2-40B4-BE49-F238E27FC236}">
                <a16:creationId xmlns:a16="http://schemas.microsoft.com/office/drawing/2014/main" id="{62EF7AA2-F967-4C1A-BD4B-BAED92F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30 / 32</a:t>
            </a:r>
          </a:p>
        </p:txBody>
      </p:sp>
    </p:spTree>
    <p:extLst>
      <p:ext uri="{BB962C8B-B14F-4D97-AF65-F5344CB8AC3E}">
        <p14:creationId xmlns:p14="http://schemas.microsoft.com/office/powerpoint/2010/main" val="55194270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0848E-0FC5-493D-A0A8-3390A001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DF7C1EAA-B07F-4570-A670-D4AC7EC4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’évaluation du niveau 1">
            <a:extLst xmlns:a="http://schemas.openxmlformats.org/drawingml/2006/main">
              <a:ext uri="{FF2B5EF4-FFF2-40B4-BE49-F238E27FC236}">
                <a16:creationId xmlns:a16="http://schemas.microsoft.com/office/drawing/2014/main" id="{867F3B03-06E5-45FE-9311-B70F6DC2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L’évaluation du niveau 1</a:t>
            </a:r>
          </a:p>
        </p:txBody>
      </p:sp>
      <p:sp>
        <p:nvSpPr>
          <p:cNvPr id="4" name="Le manuel prévoit un QCM et un projet pratique.">
            <a:extLst xmlns:a="http://schemas.openxmlformats.org/drawingml/2006/main">
              <a:ext uri="{FF2B5EF4-FFF2-40B4-BE49-F238E27FC236}">
                <a16:creationId xmlns:a16="http://schemas.microsoft.com/office/drawing/2014/main" id="{14DEE955-011D-4652-A4E6-0A37372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manuel prévoit un QCM et un projet pratique.</a:t>
            </a:r>
          </a:p>
        </p:txBody>
      </p:sp>
      <p:sp>
        <p:nvSpPr>
          <p:cNvPr id="5" name="QCM annoncé : 40 questions. Seuil indiqué : 28 bon">
            <a:extLst xmlns:a="http://schemas.openxmlformats.org/drawingml/2006/main">
              <a:ext uri="{FF2B5EF4-FFF2-40B4-BE49-F238E27FC236}">
                <a16:creationId xmlns:a16="http://schemas.microsoft.com/office/drawing/2014/main" id="{1B8A8DE9-4650-42D6-A918-0D64A788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QCM annoncé : 40 questions. Seuil indiqué : 28 bonnes réponses.</a:t>
            </a:r>
          </a:p>
        </p:txBody>
      </p:sp>
      <p:sp>
        <p:nvSpPr>
          <p:cNvPr id="6" name="Projet : 60 points. Seuil indiqué : 42 points.">
            <a:extLst xmlns:a="http://schemas.openxmlformats.org/drawingml/2006/main">
              <a:ext uri="{FF2B5EF4-FFF2-40B4-BE49-F238E27FC236}">
                <a16:creationId xmlns:a16="http://schemas.microsoft.com/office/drawing/2014/main" id="{8C0C907F-63CC-447E-BB84-1B4D3D91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Projet : 60 points. Seuil indiqué : 42 points.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1E8C6B17-9189-4869-8958-3D6E773E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es slides accompagnent la préparation. Elles ne c">
            <a:extLst xmlns:a="http://schemas.openxmlformats.org/drawingml/2006/main">
              <a:ext uri="{FF2B5EF4-FFF2-40B4-BE49-F238E27FC236}">
                <a16:creationId xmlns:a16="http://schemas.microsoft.com/office/drawing/2014/main" id="{C1E4F578-3CFC-48CB-A365-92507B1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Ces slides accompagnent la préparation. Elles ne constituent pas le QCM complet.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4f9cf6d3d478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1 / 32">
            <a:extLst xmlns:a="http://schemas.openxmlformats.org/drawingml/2006/main">
              <a:ext uri="{FF2B5EF4-FFF2-40B4-BE49-F238E27FC236}">
                <a16:creationId xmlns:a16="http://schemas.microsoft.com/office/drawing/2014/main" id="{2E4B1FC4-20BA-421E-9099-62E661E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31 / 32</a:t>
            </a:r>
          </a:p>
        </p:txBody>
      </p:sp>
    </p:spTree>
    <p:extLst>
      <p:ext uri="{BB962C8B-B14F-4D97-AF65-F5344CB8AC3E}">
        <p14:creationId xmlns:p14="http://schemas.microsoft.com/office/powerpoint/2010/main" val="2705101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4A347-C648-4124-ADB2-13C113CC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1">
            <a:extLst xmlns:a="http://schemas.openxmlformats.org/drawingml/2006/main">
              <a:ext uri="{FF2B5EF4-FFF2-40B4-BE49-F238E27FC236}">
                <a16:creationId xmlns:a16="http://schemas.microsoft.com/office/drawing/2014/main" id="{80F8C52D-786A-40E5-BF5B-611DEA6E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1</a:t>
            </a:r>
          </a:p>
        </p:txBody>
      </p:sp>
      <p:sp>
        <p:nvSpPr>
          <p:cNvPr id="3" name="La suite du parcours">
            <a:extLst xmlns:a="http://schemas.openxmlformats.org/drawingml/2006/main">
              <a:ext uri="{FF2B5EF4-FFF2-40B4-BE49-F238E27FC236}">
                <a16:creationId xmlns:a16="http://schemas.microsoft.com/office/drawing/2014/main" id="{3F6FE2D2-FE78-4681-915A-64BB5E36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suite du parcours</a:t>
            </a:r>
          </a:p>
        </p:txBody>
      </p:sp>
      <p:sp>
        <p:nvSpPr>
          <p:cNvPr id="4" name="Une bonne pratique associe demande explicite et ré">
            <a:extLst xmlns:a="http://schemas.openxmlformats.org/drawingml/2006/main">
              <a:ext uri="{FF2B5EF4-FFF2-40B4-BE49-F238E27FC236}">
                <a16:creationId xmlns:a16="http://schemas.microsoft.com/office/drawing/2014/main" id="{0A6B7466-CE04-43AF-A46B-25465692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bonne pratique associe demande explicite et résultat contrôlé.</a:t>
            </a:r>
          </a:p>
        </p:txBody>
      </p:sp>
      <p:sp>
        <p:nvSpPr>
          <p:cNvPr id="5" name="Conservez vos prompts validés et les exemples qui ">
            <a:extLst xmlns:a="http://schemas.openxmlformats.org/drawingml/2006/main">
              <a:ext uri="{FF2B5EF4-FFF2-40B4-BE49-F238E27FC236}">
                <a16:creationId xmlns:a16="http://schemas.microsoft.com/office/drawing/2014/main" id="{6E0EC036-D623-48B6-8D09-C2F59F09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vos prompts validés et les exemples qui montrent leurs limites.</a:t>
            </a:r>
          </a:p>
        </p:txBody>
      </p:sp>
      <p:sp>
        <p:nvSpPr>
          <p:cNvPr id="6" name="Le niveau 2 développe les processus réutilisables ">
            <a:extLst xmlns:a="http://schemas.openxmlformats.org/drawingml/2006/main">
              <a:ext uri="{FF2B5EF4-FFF2-40B4-BE49-F238E27FC236}">
                <a16:creationId xmlns:a16="http://schemas.microsoft.com/office/drawing/2014/main" id="{6FACB9E2-52A0-41AD-AA08-6370BAC1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niveau 2 développe les processus réutilisables et la mesure de qualité.</a:t>
            </a:r>
          </a:p>
        </p:txBody>
      </p:sp>
      <p:sp>
        <p:nvSpPr>
          <p:cNvPr id="7" name="POUR POURSUIVRE">
            <a:extLst xmlns:a="http://schemas.openxmlformats.org/drawingml/2006/main">
              <a:ext uri="{FF2B5EF4-FFF2-40B4-BE49-F238E27FC236}">
                <a16:creationId xmlns:a16="http://schemas.microsoft.com/office/drawing/2014/main" id="{6BC6A863-5098-4BC4-B3DA-EAFCC467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POUR POURSUIVRE</a:t>
            </a:r>
          </a:p>
        </p:txBody>
      </p:sp>
      <p:sp>
        <p:nvSpPr>
          <p:cNvPr id="8" name="Ressource de référence : le manuel complet du nive">
            <a:extLst xmlns:a="http://schemas.openxmlformats.org/drawingml/2006/main">
              <a:ext uri="{FF2B5EF4-FFF2-40B4-BE49-F238E27FC236}">
                <a16:creationId xmlns:a16="http://schemas.microsoft.com/office/drawing/2014/main" id="{DB419A3F-4222-4F4A-BDA9-8DB23B67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Ressource de référence : le manuel complet du niveau 1.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5cdd0ef154c1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2 / 32">
            <a:extLst xmlns:a="http://schemas.openxmlformats.org/drawingml/2006/main">
              <a:ext uri="{FF2B5EF4-FFF2-40B4-BE49-F238E27FC236}">
                <a16:creationId xmlns:a16="http://schemas.microsoft.com/office/drawing/2014/main" id="{B4BA9ADF-3EFA-4236-BBCE-FCE3160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32 / 32</a:t>
            </a:r>
          </a:p>
        </p:txBody>
      </p:sp>
    </p:spTree>
    <p:extLst>
      <p:ext uri="{BB962C8B-B14F-4D97-AF65-F5344CB8AC3E}">
        <p14:creationId xmlns:p14="http://schemas.microsoft.com/office/powerpoint/2010/main" val="1584129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2026-10-02T23:20:55.9440000Z</dcterms:created>
  <dcterms:modified xsi:type="dcterms:W3CDTF">2026-10-02T23:20:55.9440000Z</dcterms:modified>
</coreProperties>
</file>