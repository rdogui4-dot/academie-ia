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9c6c0ea9f34b47" /><Relationship Type="http://schemas.openxmlformats.org/officeDocument/2006/relationships/extended-properties" Target="/docProps/app.xml" Id="R950e400a9767462b" /><Relationship Type="http://schemas.openxmlformats.org/officeDocument/2006/relationships/officeDocument" Target="/ppt/presentation.xml" Id="R4790bcf3c89d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67056a051c42dd"/>
  </p:sldMasterIdLst>
  <p:notesMasterIdLst>
    <p:notesMasterId xmlns:r="http://schemas.openxmlformats.org/officeDocument/2006/relationships" r:id="R6c259e6466184c49"/>
  </p:notesMasterIdLst>
  <p:sldIdLst>
    <p:sldId xmlns:r="http://schemas.openxmlformats.org/officeDocument/2006/relationships" id="256" r:id="R8d5066e74c404b85"/>
    <p:sldId xmlns:r="http://schemas.openxmlformats.org/officeDocument/2006/relationships" id="257" r:id="Rf73fdba30f2a4e45"/>
    <p:sldId xmlns:r="http://schemas.openxmlformats.org/officeDocument/2006/relationships" id="258" r:id="R0dd308c4f65348c1"/>
    <p:sldId xmlns:r="http://schemas.openxmlformats.org/officeDocument/2006/relationships" id="259" r:id="Re66fac20fb1d49fc"/>
    <p:sldId xmlns:r="http://schemas.openxmlformats.org/officeDocument/2006/relationships" id="260" r:id="R493a262b5d33483a"/>
    <p:sldId xmlns:r="http://schemas.openxmlformats.org/officeDocument/2006/relationships" id="261" r:id="Ra815db8b2d024ccf"/>
    <p:sldId xmlns:r="http://schemas.openxmlformats.org/officeDocument/2006/relationships" id="262" r:id="R97be1ed5be5b4ccd"/>
    <p:sldId xmlns:r="http://schemas.openxmlformats.org/officeDocument/2006/relationships" id="263" r:id="R3c8e88414c234d2d"/>
    <p:sldId xmlns:r="http://schemas.openxmlformats.org/officeDocument/2006/relationships" id="264" r:id="Rc12209b61d394b14"/>
    <p:sldId xmlns:r="http://schemas.openxmlformats.org/officeDocument/2006/relationships" id="265" r:id="Rec6f507a735346ec"/>
    <p:sldId xmlns:r="http://schemas.openxmlformats.org/officeDocument/2006/relationships" id="266" r:id="R1329bd2804f9492b"/>
    <p:sldId xmlns:r="http://schemas.openxmlformats.org/officeDocument/2006/relationships" id="267" r:id="Re0cf3e772bab4dd4"/>
    <p:sldId xmlns:r="http://schemas.openxmlformats.org/officeDocument/2006/relationships" id="268" r:id="R16fee6fa856c4a15"/>
    <p:sldId xmlns:r="http://schemas.openxmlformats.org/officeDocument/2006/relationships" id="269" r:id="R3100c64c3f8b4475"/>
    <p:sldId xmlns:r="http://schemas.openxmlformats.org/officeDocument/2006/relationships" id="270" r:id="Rbb88385cd77b4c43"/>
    <p:sldId xmlns:r="http://schemas.openxmlformats.org/officeDocument/2006/relationships" id="271" r:id="Rdeb52125f48e4503"/>
    <p:sldId xmlns:r="http://schemas.openxmlformats.org/officeDocument/2006/relationships" id="272" r:id="R7f339a21aad94b60"/>
    <p:sldId xmlns:r="http://schemas.openxmlformats.org/officeDocument/2006/relationships" id="273" r:id="Rc4f4886fda3c4dbb"/>
    <p:sldId xmlns:r="http://schemas.openxmlformats.org/officeDocument/2006/relationships" id="274" r:id="R45ff3703a7a3436d"/>
    <p:sldId xmlns:r="http://schemas.openxmlformats.org/officeDocument/2006/relationships" id="275" r:id="R59df6b900f874af9"/>
    <p:sldId xmlns:r="http://schemas.openxmlformats.org/officeDocument/2006/relationships" id="276" r:id="Rc8393d398591473a"/>
    <p:sldId xmlns:r="http://schemas.openxmlformats.org/officeDocument/2006/relationships" id="277" r:id="Rc89aef5de07e4e84"/>
    <p:sldId xmlns:r="http://schemas.openxmlformats.org/officeDocument/2006/relationships" id="278" r:id="R2b43d3ce420f4fb5"/>
    <p:sldId xmlns:r="http://schemas.openxmlformats.org/officeDocument/2006/relationships" id="279" r:id="R25dc084a750b466a"/>
    <p:sldId xmlns:r="http://schemas.openxmlformats.org/officeDocument/2006/relationships" id="280" r:id="Rf9bfc0877f404134"/>
    <p:sldId xmlns:r="http://schemas.openxmlformats.org/officeDocument/2006/relationships" id="281" r:id="R12063a30e680433f"/>
    <p:sldId xmlns:r="http://schemas.openxmlformats.org/officeDocument/2006/relationships" id="282" r:id="Re02a37a48c054ebe"/>
    <p:sldId xmlns:r="http://schemas.openxmlformats.org/officeDocument/2006/relationships" id="283" r:id="Ra815b4052ece46e2"/>
    <p:sldId xmlns:r="http://schemas.openxmlformats.org/officeDocument/2006/relationships" id="284" r:id="R17f6569e81594c2d"/>
    <p:sldId xmlns:r="http://schemas.openxmlformats.org/officeDocument/2006/relationships" id="285" r:id="R538e29e2d45641d6"/>
    <p:sldId xmlns:r="http://schemas.openxmlformats.org/officeDocument/2006/relationships" id="286" r:id="R4b89c7353efa48b3"/>
    <p:sldId xmlns:r="http://schemas.openxmlformats.org/officeDocument/2006/relationships" id="287" r:id="R552b363a9beb4aa6"/>
    <p:sldId xmlns:r="http://schemas.openxmlformats.org/officeDocument/2006/relationships" id="288" r:id="R0edd97d27ab64db8"/>
    <p:sldId xmlns:r="http://schemas.openxmlformats.org/officeDocument/2006/relationships" id="289" r:id="R93345dadb4634a95"/>
    <p:sldId xmlns:r="http://schemas.openxmlformats.org/officeDocument/2006/relationships" id="290" r:id="Reecbaabb99d04156"/>
    <p:sldId xmlns:r="http://schemas.openxmlformats.org/officeDocument/2006/relationships" id="291" r:id="R501f1c03a5b94b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fcd816ffdb40f8" /><Relationship Type="http://schemas.openxmlformats.org/officeDocument/2006/relationships/slideMaster" Target="/ppt/slideMasters/slideMaster1.xml" Id="Rf067056a051c42dd" /><Relationship Type="http://schemas.openxmlformats.org/officeDocument/2006/relationships/notesMaster" Target="/ppt/notesMasters/notesMaster1.xml" Id="R6c259e6466184c49" /><Relationship Type="http://schemas.openxmlformats.org/officeDocument/2006/relationships/presProps" Target="/ppt/presProps.xml" Id="Rde9b444ec707452a" /><Relationship Type="http://schemas.openxmlformats.org/officeDocument/2006/relationships/tableStyles" Target="/ppt/tableStyles.xml" Id="R2fe2ca7c49d54e98" /><Relationship Type="http://schemas.openxmlformats.org/officeDocument/2006/relationships/slide" Target="/ppt/slides/slide1.xml" Id="R8d5066e74c404b85" /><Relationship Type="http://schemas.openxmlformats.org/officeDocument/2006/relationships/slide" Target="/ppt/slides/slide2.xml" Id="Rf73fdba30f2a4e45" /><Relationship Type="http://schemas.openxmlformats.org/officeDocument/2006/relationships/slide" Target="/ppt/slides/slide3.xml" Id="R0dd308c4f65348c1" /><Relationship Type="http://schemas.openxmlformats.org/officeDocument/2006/relationships/slide" Target="/ppt/slides/slide4.xml" Id="Re66fac20fb1d49fc" /><Relationship Type="http://schemas.openxmlformats.org/officeDocument/2006/relationships/slide" Target="/ppt/slides/slide5.xml" Id="R493a262b5d33483a" /><Relationship Type="http://schemas.openxmlformats.org/officeDocument/2006/relationships/slide" Target="/ppt/slides/slide6.xml" Id="Ra815db8b2d024ccf" /><Relationship Type="http://schemas.openxmlformats.org/officeDocument/2006/relationships/slide" Target="/ppt/slides/slide7.xml" Id="R97be1ed5be5b4ccd" /><Relationship Type="http://schemas.openxmlformats.org/officeDocument/2006/relationships/slide" Target="/ppt/slides/slide8.xml" Id="R3c8e88414c234d2d" /><Relationship Type="http://schemas.openxmlformats.org/officeDocument/2006/relationships/slide" Target="/ppt/slides/slide9.xml" Id="Rc12209b61d394b14" /><Relationship Type="http://schemas.openxmlformats.org/officeDocument/2006/relationships/slide" Target="/ppt/slides/slide10.xml" Id="Rec6f507a735346ec" /><Relationship Type="http://schemas.openxmlformats.org/officeDocument/2006/relationships/slide" Target="/ppt/slides/slide11.xml" Id="R1329bd2804f9492b" /><Relationship Type="http://schemas.openxmlformats.org/officeDocument/2006/relationships/slide" Target="/ppt/slides/slide12.xml" Id="Re0cf3e772bab4dd4" /><Relationship Type="http://schemas.openxmlformats.org/officeDocument/2006/relationships/slide" Target="/ppt/slides/slide13.xml" Id="R16fee6fa856c4a15" /><Relationship Type="http://schemas.openxmlformats.org/officeDocument/2006/relationships/slide" Target="/ppt/slides/slide14.xml" Id="R3100c64c3f8b4475" /><Relationship Type="http://schemas.openxmlformats.org/officeDocument/2006/relationships/slide" Target="/ppt/slides/slide15.xml" Id="Rbb88385cd77b4c43" /><Relationship Type="http://schemas.openxmlformats.org/officeDocument/2006/relationships/slide" Target="/ppt/slides/slide16.xml" Id="Rdeb52125f48e4503" /><Relationship Type="http://schemas.openxmlformats.org/officeDocument/2006/relationships/slide" Target="/ppt/slides/slide17.xml" Id="R7f339a21aad94b60" /><Relationship Type="http://schemas.openxmlformats.org/officeDocument/2006/relationships/slide" Target="/ppt/slides/slide18.xml" Id="Rc4f4886fda3c4dbb" /><Relationship Type="http://schemas.openxmlformats.org/officeDocument/2006/relationships/slide" Target="/ppt/slides/slide19.xml" Id="R45ff3703a7a3436d" /><Relationship Type="http://schemas.openxmlformats.org/officeDocument/2006/relationships/slide" Target="/ppt/slides/slide20.xml" Id="R59df6b900f874af9" /><Relationship Type="http://schemas.openxmlformats.org/officeDocument/2006/relationships/slide" Target="/ppt/slides/slide21.xml" Id="Rc8393d398591473a" /><Relationship Type="http://schemas.openxmlformats.org/officeDocument/2006/relationships/slide" Target="/ppt/slides/slide22.xml" Id="Rc89aef5de07e4e84" /><Relationship Type="http://schemas.openxmlformats.org/officeDocument/2006/relationships/slide" Target="/ppt/slides/slide23.xml" Id="R2b43d3ce420f4fb5" /><Relationship Type="http://schemas.openxmlformats.org/officeDocument/2006/relationships/slide" Target="/ppt/slides/slide24.xml" Id="R25dc084a750b466a" /><Relationship Type="http://schemas.openxmlformats.org/officeDocument/2006/relationships/slide" Target="/ppt/slides/slide25.xml" Id="Rf9bfc0877f404134" /><Relationship Type="http://schemas.openxmlformats.org/officeDocument/2006/relationships/slide" Target="/ppt/slides/slide26.xml" Id="R12063a30e680433f" /><Relationship Type="http://schemas.openxmlformats.org/officeDocument/2006/relationships/slide" Target="/ppt/slides/slide27.xml" Id="Re02a37a48c054ebe" /><Relationship Type="http://schemas.openxmlformats.org/officeDocument/2006/relationships/slide" Target="/ppt/slides/slide28.xml" Id="Ra815b4052ece46e2" /><Relationship Type="http://schemas.openxmlformats.org/officeDocument/2006/relationships/slide" Target="/ppt/slides/slide29.xml" Id="R17f6569e81594c2d" /><Relationship Type="http://schemas.openxmlformats.org/officeDocument/2006/relationships/slide" Target="/ppt/slides/slide30.xml" Id="R538e29e2d45641d6" /><Relationship Type="http://schemas.openxmlformats.org/officeDocument/2006/relationships/slide" Target="/ppt/slides/slide31.xml" Id="R4b89c7353efa48b3" /><Relationship Type="http://schemas.openxmlformats.org/officeDocument/2006/relationships/slide" Target="/ppt/slides/slide32.xml" Id="R552b363a9beb4aa6" /><Relationship Type="http://schemas.openxmlformats.org/officeDocument/2006/relationships/slide" Target="/ppt/slides/slide33.xml" Id="R0edd97d27ab64db8" /><Relationship Type="http://schemas.openxmlformats.org/officeDocument/2006/relationships/slide" Target="/ppt/slides/slide34.xml" Id="R93345dadb4634a95" /><Relationship Type="http://schemas.openxmlformats.org/officeDocument/2006/relationships/slide" Target="/ppt/slides/slide35.xml" Id="Reecbaabb99d04156" /><Relationship Type="http://schemas.openxmlformats.org/officeDocument/2006/relationships/slide" Target="/ppt/slides/slide36.xml" Id="R501f1c03a5b94b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9a92cd3e5844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b1060b54b4450a" /><Relationship Type="http://schemas.openxmlformats.org/officeDocument/2006/relationships/notesMaster" Target="/ppt/notesMasters/notesMaster1.xml" Id="R950fbfdb524d4d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57f08e36e74d4d" /><Relationship Type="http://schemas.openxmlformats.org/officeDocument/2006/relationships/notesMaster" Target="/ppt/notesMasters/notesMaster1.xml" Id="R2572902709b14e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4be9b01cd54790" /><Relationship Type="http://schemas.openxmlformats.org/officeDocument/2006/relationships/notesMaster" Target="/ppt/notesMasters/notesMaster1.xml" Id="R97c77bd8293c43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60de9bf75d44ab" /><Relationship Type="http://schemas.openxmlformats.org/officeDocument/2006/relationships/notesMaster" Target="/ppt/notesMasters/notesMaster1.xml" Id="R7606a6a287ac4e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b76c9e4074456b" /><Relationship Type="http://schemas.openxmlformats.org/officeDocument/2006/relationships/notesMaster" Target="/ppt/notesMasters/notesMaster1.xml" Id="R1201265377054c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7bb8dc964d4cd4" /><Relationship Type="http://schemas.openxmlformats.org/officeDocument/2006/relationships/notesMaster" Target="/ppt/notesMasters/notesMaster1.xml" Id="Rfa97ed918f9148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7d30a8f5bd4b01" /><Relationship Type="http://schemas.openxmlformats.org/officeDocument/2006/relationships/notesMaster" Target="/ppt/notesMasters/notesMaster1.xml" Id="R9c2bf882aecc4f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711a31a1f24b8b" /><Relationship Type="http://schemas.openxmlformats.org/officeDocument/2006/relationships/notesMaster" Target="/ppt/notesMasters/notesMaster1.xml" Id="Rb77e884694914c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347ad6a0a64e23" /><Relationship Type="http://schemas.openxmlformats.org/officeDocument/2006/relationships/notesMaster" Target="/ppt/notesMasters/notesMaster1.xml" Id="R49e9cce198b040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4fe44e8f084f71" /><Relationship Type="http://schemas.openxmlformats.org/officeDocument/2006/relationships/notesMaster" Target="/ppt/notesMasters/notesMaster1.xml" Id="R6f3397e182df47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601d0ffb024710" /><Relationship Type="http://schemas.openxmlformats.org/officeDocument/2006/relationships/notesMaster" Target="/ppt/notesMasters/notesMaster1.xml" Id="R1375bb3bb4184b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518943787841ef" /><Relationship Type="http://schemas.openxmlformats.org/officeDocument/2006/relationships/notesMaster" Target="/ppt/notesMasters/notesMaster1.xml" Id="R119915bafd5946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93013329104062" /><Relationship Type="http://schemas.openxmlformats.org/officeDocument/2006/relationships/notesMaster" Target="/ppt/notesMasters/notesMaster1.xml" Id="Re9a543f42cf144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6d5f42a9b84dd2" /><Relationship Type="http://schemas.openxmlformats.org/officeDocument/2006/relationships/notesMaster" Target="/ppt/notesMasters/notesMaster1.xml" Id="Rc622028ae0164b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be425b608743d3" /><Relationship Type="http://schemas.openxmlformats.org/officeDocument/2006/relationships/notesMaster" Target="/ppt/notesMasters/notesMaster1.xml" Id="Rf3d9bd61406b4a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a7768725624738" /><Relationship Type="http://schemas.openxmlformats.org/officeDocument/2006/relationships/notesMaster" Target="/ppt/notesMasters/notesMaster1.xml" Id="Ra0c552ccb9eb40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9ba7d0f9ec4675" /><Relationship Type="http://schemas.openxmlformats.org/officeDocument/2006/relationships/notesMaster" Target="/ppt/notesMasters/notesMaster1.xml" Id="R7e9b209ecc4442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43801c2e174288" /><Relationship Type="http://schemas.openxmlformats.org/officeDocument/2006/relationships/notesMaster" Target="/ppt/notesMasters/notesMaster1.xml" Id="Re8ca59427d544e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b540aa2b8b4dc6" /><Relationship Type="http://schemas.openxmlformats.org/officeDocument/2006/relationships/notesMaster" Target="/ppt/notesMasters/notesMaster1.xml" Id="R6ca4cba5831247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0f07f5230247a5" /><Relationship Type="http://schemas.openxmlformats.org/officeDocument/2006/relationships/notesMaster" Target="/ppt/notesMasters/notesMaster1.xml" Id="R7532e7f4664a43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54bb4bbfc9e42a3" /><Relationship Type="http://schemas.openxmlformats.org/officeDocument/2006/relationships/notesMaster" Target="/ppt/notesMasters/notesMaster1.xml" Id="R4206fb216233497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f74530940a403e" /><Relationship Type="http://schemas.openxmlformats.org/officeDocument/2006/relationships/notesMaster" Target="/ppt/notesMasters/notesMaster1.xml" Id="R515586f4f1464c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3e79b237f4443cd" /><Relationship Type="http://schemas.openxmlformats.org/officeDocument/2006/relationships/notesMaster" Target="/ppt/notesMasters/notesMaster1.xml" Id="R1835ac2c429c4a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8f14db91fd4cd9" /><Relationship Type="http://schemas.openxmlformats.org/officeDocument/2006/relationships/notesMaster" Target="/ppt/notesMasters/notesMaster1.xml" Id="R3622ed8644d542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591120582e14fae" /><Relationship Type="http://schemas.openxmlformats.org/officeDocument/2006/relationships/notesMaster" Target="/ppt/notesMasters/notesMaster1.xml" Id="R81e4ccdb77f3439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fdb81b169c4081" /><Relationship Type="http://schemas.openxmlformats.org/officeDocument/2006/relationships/notesMaster" Target="/ppt/notesMasters/notesMaster1.xml" Id="Rb8f79f8a554d4ba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5733f34ffb84ce6" /><Relationship Type="http://schemas.openxmlformats.org/officeDocument/2006/relationships/notesMaster" Target="/ppt/notesMasters/notesMaster1.xml" Id="R133c075a0a21438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5e5fc6eb794462b" /><Relationship Type="http://schemas.openxmlformats.org/officeDocument/2006/relationships/notesMaster" Target="/ppt/notesMasters/notesMaster1.xml" Id="R31e19c3f8baa424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00ab246d4a141f6" /><Relationship Type="http://schemas.openxmlformats.org/officeDocument/2006/relationships/notesMaster" Target="/ppt/notesMasters/notesMaster1.xml" Id="R027b780e267b447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5fffa569bf643f3" /><Relationship Type="http://schemas.openxmlformats.org/officeDocument/2006/relationships/notesMaster" Target="/ppt/notesMasters/notesMaster1.xml" Id="Rbb2485ce7f62411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1587165846e4808" /><Relationship Type="http://schemas.openxmlformats.org/officeDocument/2006/relationships/notesMaster" Target="/ppt/notesMasters/notesMaster1.xml" Id="R5eecb54fe859484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be6a1c70d4d4d3b" /><Relationship Type="http://schemas.openxmlformats.org/officeDocument/2006/relationships/notesMaster" Target="/ppt/notesMasters/notesMaster1.xml" Id="R7375e863dcf7452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200864143fe4316" /><Relationship Type="http://schemas.openxmlformats.org/officeDocument/2006/relationships/notesMaster" Target="/ppt/notesMasters/notesMaster1.xml" Id="R5275f2a6763845c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f588ff2458147f5" /><Relationship Type="http://schemas.openxmlformats.org/officeDocument/2006/relationships/notesMaster" Target="/ppt/notesMasters/notesMaster1.xml" Id="Rb9c7058648c742b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794f05471fa41ad" /><Relationship Type="http://schemas.openxmlformats.org/officeDocument/2006/relationships/notesMaster" Target="/ppt/notesMasters/notesMaster1.xml" Id="R566de40bb6b24f5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32a945474244b55" /><Relationship Type="http://schemas.openxmlformats.org/officeDocument/2006/relationships/notesMaster" Target="/ppt/notesMasters/notesMaster1.xml" Id="Rd18a7daf7c874a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1–4. Les exemples et mises en pratique sont des adaptations pédagogiques. Consulter le manuel pour le cours détaillé.</a:t>
            </a:r>
          </a:p>
          <a:p xmlns:a="http://schemas.openxmlformats.org/drawingml/2006/main">
            <a:r>
              <a:t>Organiser des tâches réutilisables et contrôler leur qualité.</a:t>
            </a:r>
          </a:p>
          <a:p xmlns:a="http://schemas.openxmlformats.org/drawingml/2006/main">
            <a:r>
              <a:t>Niveau 2 Perfectionnement professionnel</a:t>
            </a:r>
          </a:p>
          <a:p xmlns:a="http://schemas.openxmlformats.org/drawingml/2006/main">
            <a:r>
              <a:t>28 heures Support de cours</a:t>
            </a:r>
          </a:p>
          <a:p xmlns:a="http://schemas.openxmlformats.org/drawingml/2006/main">
            <a:r>
              <a:t>De novice à expert engineer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4.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qualité d’un processus se mesure sur plusieurs essais.</a:t>
            </a:r>
          </a:p>
          <a:p xmlns:a="http://schemas.openxmlformats.org/drawingml/2006/main">
            <a:r>
              <a:t>Concevoir des prompts réutilisables et organiser des étapes cohérentes.</a:t>
            </a:r>
          </a:p>
          <a:p xmlns:a="http://schemas.openxmlformats.org/drawingml/2006/main">
            <a:r>
              <a:t>Évaluer les résultats et documenter les conditions d’utilisation.</a:t>
            </a:r>
          </a:p>
          <a:p xmlns:a="http://schemas.openxmlformats.org/drawingml/2006/main">
            <a:r>
              <a:t>Projet : améliorer un processus professionnel.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2–4.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module alterne méthodes, essais et restitution.</a:t>
            </a:r>
          </a:p>
          <a:p xmlns:a="http://schemas.openxmlformats.org/drawingml/2006/main">
            <a:r>
              <a:t>8 h de théorie et 12 h de pratique.</a:t>
            </a:r>
          </a:p>
          <a:p xmlns:a="http://schemas.openxmlformats.org/drawingml/2006/main">
            <a:r>
              <a:t>8 h consacrées à l’évaluation selon le découpage du support.</a:t>
            </a:r>
          </a:p>
          <a:p xmlns:a="http://schemas.openxmlformats.org/drawingml/2006/main">
            <a:r>
              <a:t>Prévoir un dossier d’essais pour conserver vos comparaisons.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4.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tâche précise donne un objectif testable.</a:t>
            </a:r>
          </a:p>
          <a:p xmlns:a="http://schemas.openxmlformats.org/drawingml/2006/main">
            <a:r>
              <a:t>Décrivez une tâche répétitive, les informations d’entrée et le livrable attendu.</a:t>
            </a:r>
          </a:p>
          <a:p xmlns:a="http://schemas.openxmlformats.org/drawingml/2006/main">
            <a:r>
              <a:t>Repérez le temps de travail, les erreurs fréquentes et les contrôles déjà réalisés.</a:t>
            </a:r>
          </a:p>
          <a:p xmlns:a="http://schemas.openxmlformats.org/drawingml/2006/main">
            <a:r>
              <a:t>Utilisez une situation que vous connaissez.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5–8.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structure relie une intention à des critères observables.</a:t>
            </a:r>
          </a:p>
          <a:p xmlns:a="http://schemas.openxmlformats.org/drawingml/2006/main">
            <a:r>
              <a:t>Précisez le rôle utile, la tâche et les informations disponibles.</a:t>
            </a:r>
          </a:p>
          <a:p xmlns:a="http://schemas.openxmlformats.org/drawingml/2006/main">
            <a:r>
              <a:t>Ajoutez les limites et le format de sortie attendu.</a:t>
            </a:r>
          </a:p>
          <a:p xmlns:a="http://schemas.openxmlformats.org/drawingml/2006/main">
            <a:r>
              <a:t>Le lecteur doit pouvoir décider si le résultat respecte la demande.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5–8.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Quelques exemples montrent le comportement attendu.</a:t>
            </a:r>
          </a:p>
          <a:p xmlns:a="http://schemas.openxmlformats.org/drawingml/2006/main">
            <a:r>
              <a:t>Présentez des couples entrée et sortie cohérents avec votre tâche.</a:t>
            </a:r>
          </a:p>
          <a:p xmlns:a="http://schemas.openxmlformats.org/drawingml/2006/main">
            <a:r>
              <a:t>Variez les exemples pour couvrir plusieurs situations représentatives.</a:t>
            </a:r>
          </a:p>
          <a:p xmlns:a="http://schemas.openxmlformats.org/drawingml/2006/main">
            <a:r>
              <a:t>Les exemples guident le modèle sans garantir sa réussite.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5–8.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Des exemples explicites rendent les catégories plus compréhensibles.</a:t>
            </a:r>
          </a:p>
          <a:p xmlns:a="http://schemas.openxmlformats.org/drawingml/2006/main">
            <a:r>
              <a:t>« Où est ma facture ? » : Facturation. « Mon accès ne fonctionne plus » : Assistance.</a:t>
            </a:r>
          </a:p>
          <a:p xmlns:a="http://schemas.openxmlformats.org/drawingml/2006/main">
            <a:r>
              <a:t>« Quels sont vos horaires ? » : Information. Demandez ensuite le classement d’un cas nouveau.</a:t>
            </a:r>
          </a:p>
          <a:p xmlns:a="http://schemas.openxmlformats.org/drawingml/2006/main">
            <a:r>
              <a:t>Exemples fictifs. Prévoir une catégorie « À clarifier 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29–32.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bon test utilise une entrée absente des exemples.</a:t>
            </a:r>
          </a:p>
          <a:p xmlns:a="http://schemas.openxmlformats.org/drawingml/2006/main">
            <a:r>
              <a:t>Préparez quelques demandes fictives et leur catégorie de référence.</a:t>
            </a:r>
          </a:p>
          <a:p xmlns:a="http://schemas.openxmlformats.org/drawingml/2006/main">
            <a:r>
              <a:t>Testez de nouvelles demandes, dont une ambiguë, puis comparez les résultats.</a:t>
            </a:r>
          </a:p>
          <a:p xmlns:a="http://schemas.openxmlformats.org/drawingml/2006/main">
            <a:r>
              <a:t>À remettre : exemples, cas de test et erreurs observées.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9–11. Les exemples et mises en pratique sont des adaptations pédagogiques. Consulter le manuel pour le cours détaillé.</a:t>
            </a:r>
          </a:p>
          <a:p xmlns:a="http://schemas.openxmlformats.org/drawingml/2006/main">
            <a:r>
              <a:t>Des étapes distinctes rendent les erreurs plus faciles à localiser.</a:t>
            </a:r>
          </a:p>
          <a:p xmlns:a="http://schemas.openxmlformats.org/drawingml/2006/main">
            <a:r>
              <a:t>Commencez par extraire les informations utiles, puis organisez-les.</a:t>
            </a:r>
          </a:p>
          <a:p xmlns:a="http://schemas.openxmlformats.org/drawingml/2006/main">
            <a:r>
              <a:t>Produisez ensuite le livrable et vérifiez-le contre les données d’entrée.</a:t>
            </a:r>
          </a:p>
          <a:p xmlns:a="http://schemas.openxmlformats.org/drawingml/2006/main">
            <a:r>
              <a:t>Un contrôle intermédiaire évite de propager une erreur.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9–11.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réponse peut expliquer ses choix de manière concise.</a:t>
            </a:r>
          </a:p>
          <a:p xmlns:a="http://schemas.openxmlformats.org/drawingml/2006/main">
            <a:r>
              <a:t>Demandez les hypothèses retenues et les sources utilisées.</a:t>
            </a:r>
          </a:p>
          <a:p xmlns:a="http://schemas.openxmlformats.org/drawingml/2006/main">
            <a:r>
              <a:t>Contrôlez cette explication avec les données disponibles.</a:t>
            </a:r>
          </a:p>
          <a:p xmlns:a="http://schemas.openxmlformats.org/drawingml/2006/main">
            <a:r>
              <a:t>Une explication convaincante peut contenir des erreurs.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9–11.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même tâche permet une comparaison équitable.</a:t>
            </a:r>
          </a:p>
          <a:p xmlns:a="http://schemas.openxmlformats.org/drawingml/2006/main">
            <a:r>
              <a:t>Méthode A : demander directement la synthèse d’un compte rendu.</a:t>
            </a:r>
          </a:p>
          <a:p xmlns:a="http://schemas.openxmlformats.org/drawingml/2006/main">
            <a:r>
              <a:t>Méthode B : extraire les décisions, vérifier, puis rédiger la synthèse.</a:t>
            </a:r>
          </a:p>
          <a:p xmlns:a="http://schemas.openxmlformats.org/drawingml/2006/main">
            <a:r>
              <a:t>Comparer fidélité, omissions et temps de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12–16.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processus décrit ce qui entre, ce qui se passe et ce qui sort.</a:t>
            </a:r>
          </a:p>
          <a:p xmlns:a="http://schemas.openxmlformats.org/drawingml/2006/main">
            <a:r>
              <a:t>Entrée : données nécessaires. Traitement : tâches successives.</a:t>
            </a:r>
          </a:p>
          <a:p xmlns:a="http://schemas.openxmlformats.org/drawingml/2006/main">
            <a:r>
              <a:t>Contrôle : critères de validation. Sortie : livrable et destinataire.</a:t>
            </a:r>
          </a:p>
          <a:p xmlns:a="http://schemas.openxmlformats.org/drawingml/2006/main">
            <a:r>
              <a:t>Nommer une personne responsable de la validation finale.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12–16.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format explicite facilite la relecture et la réutilisation.</a:t>
            </a:r>
          </a:p>
          <a:p xmlns:a="http://schemas.openxmlformats.org/drawingml/2006/main">
            <a:r>
              <a:t>Exemple : un tableau avec Décision, Responsable et Échéance.</a:t>
            </a:r>
          </a:p>
          <a:p xmlns:a="http://schemas.openxmlformats.org/drawingml/2006/main">
            <a:r>
              <a:t>Si une information manque, demander « Non précisé » plutôt qu’une valeur inventée.</a:t>
            </a:r>
          </a:p>
          <a:p xmlns:a="http://schemas.openxmlformats.org/drawingml/2006/main">
            <a:r>
              <a:t>Les champs structurés exigent aussi une vérification du contenu.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12–16. Les exemples et mises en pratique sont des adaptations pédagogiques. Consulter le manuel pour le cours détaillé.</a:t>
            </a:r>
          </a:p>
          <a:p xmlns:a="http://schemas.openxmlformats.org/drawingml/2006/main">
            <a:r>
              <a:t>Les champs à compléter rendent une consigne adaptable.</a:t>
            </a:r>
          </a:p>
          <a:p xmlns:a="http://schemas.openxmlformats.org/drawingml/2006/main">
            <a:r>
              <a:t>« Résume [document] pour [public] dans [format]. »</a:t>
            </a:r>
          </a:p>
          <a:p xmlns:a="http://schemas.openxmlformats.org/drawingml/2006/main">
            <a:r>
              <a:t>« Conserve [informations indispensables] et signale [éléments manquants]. »</a:t>
            </a:r>
          </a:p>
          <a:p xmlns:a="http://schemas.openxmlformats.org/drawingml/2006/main">
            <a:r>
              <a:t>Documenter le sens de chaque variable.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29–32. Les exemples et mises en pratique sont des adaptations pédagogiques. Consulter le manuel pour le cours détaillé.</a:t>
            </a:r>
          </a:p>
          <a:p xmlns:a="http://schemas.openxmlformats.org/drawingml/2006/main">
            <a:r>
              <a:t>Transformer des notes fictives en un document exploitable.</a:t>
            </a:r>
          </a:p>
          <a:p xmlns:a="http://schemas.openxmlformats.org/drawingml/2006/main">
            <a:r>
              <a:t>Préparez des notes avec décisions, questions ouvertes et informations manquantes.</a:t>
            </a:r>
          </a:p>
          <a:p xmlns:a="http://schemas.openxmlformats.org/drawingml/2006/main">
            <a:r>
              <a:t>Produisez le compte rendu, puis comparez chaque ligne aux notes.</a:t>
            </a:r>
          </a:p>
          <a:p xmlns:a="http://schemas.openxmlformats.org/drawingml/2006/main">
            <a:r>
              <a:t>À remettre : notes, prompt, compte rendu et corrections.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Chaque contrôle correspond à un risque concret.</a:t>
            </a:r>
          </a:p>
          <a:p xmlns:a="http://schemas.openxmlformats.org/drawingml/2006/main">
            <a:r>
              <a:t>Vérifiez les dates, les montants et les engagements présents dans la source.</a:t>
            </a:r>
          </a:p>
          <a:p xmlns:a="http://schemas.openxmlformats.org/drawingml/2006/main">
            <a:r>
              <a:t>Repérez les contradictions et les éléments qui demandent une clarification.</a:t>
            </a:r>
          </a:p>
          <a:p xmlns:a="http://schemas.openxmlformats.org/drawingml/2006/main">
            <a:r>
              <a:t>Une validation explicite précède toute diffusion.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qualité dépend de la tâche et du public.</a:t>
            </a:r>
          </a:p>
          <a:p xmlns:a="http://schemas.openxmlformats.org/drawingml/2006/main">
            <a:r>
              <a:t>Fidélité : respect des sources. Complétude : éléments attendus présents.</a:t>
            </a:r>
          </a:p>
          <a:p xmlns:a="http://schemas.openxmlformats.org/drawingml/2006/main">
            <a:r>
              <a:t>Lisibilité : compréhension. Utilité : adéquation au besoin.</a:t>
            </a:r>
          </a:p>
          <a:p xmlns:a="http://schemas.openxmlformats.org/drawingml/2006/main">
            <a:r>
              <a:t>Définir ces critères avant de comparer les réponses.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Des cas de référence permettent de suivre les améliorations.</a:t>
            </a:r>
          </a:p>
          <a:p xmlns:a="http://schemas.openxmlformats.org/drawingml/2006/main">
            <a:r>
              <a:t>Conservez des entrées représentatives avec le résultat ou les critères attendus.</a:t>
            </a:r>
          </a:p>
          <a:p xmlns:a="http://schemas.openxmlformats.org/drawingml/2006/main">
            <a:r>
              <a:t>Réutilisez les mêmes cas après chaque modification importante.</a:t>
            </a:r>
          </a:p>
          <a:p xmlns:a="http://schemas.openxmlformats.org/drawingml/2006/main">
            <a:r>
              <a:t>Séparer les exemples du prompt des cas utilisés pour l’évaluer.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processus doit aussi gérer les demandes difficiles.</a:t>
            </a:r>
          </a:p>
          <a:p xmlns:a="http://schemas.openxmlformats.org/drawingml/2006/main">
            <a:r>
              <a:t>Testez une consigne ambiguë, une source absente et des informations contradictoires.</a:t>
            </a:r>
          </a:p>
          <a:p xmlns:a="http://schemas.openxmlformats.org/drawingml/2006/main">
            <a:r>
              <a:t>Vérifiez que le système demande une précision ou indique une limite.</a:t>
            </a:r>
          </a:p>
          <a:p xmlns:a="http://schemas.openxmlformats.org/drawingml/2006/main">
            <a:r>
              <a:t>Une réponse prudente peut être la bonne réponse.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Seules les informations nécessaires doivent entrer dans le processus.</a:t>
            </a:r>
          </a:p>
          <a:p xmlns:a="http://schemas.openxmlformats.org/drawingml/2006/main">
            <a:r>
              <a:t>Remplacez les données personnelles par des exemples fictifs lors des essais.</a:t>
            </a:r>
          </a:p>
          <a:p xmlns:a="http://schemas.openxmlformats.org/drawingml/2006/main">
            <a:r>
              <a:t>Vérifiez les règles de votre organisation avant de transmettre un document.</a:t>
            </a:r>
          </a:p>
          <a:p xmlns:a="http://schemas.openxmlformats.org/drawingml/2006/main">
            <a:r>
              <a:t>Limiter les accès aux fichiers et aux résultats.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document peut contenir une consigne qui détourne la tâche.</a:t>
            </a:r>
          </a:p>
          <a:p xmlns:a="http://schemas.openxmlformats.org/drawingml/2006/main">
            <a:r>
              <a:t>Exemple fictif : un texte à résumer demande d’ignorer la consigne initiale.</a:t>
            </a:r>
          </a:p>
          <a:p xmlns:a="http://schemas.openxmlformats.org/drawingml/2006/main">
            <a:r>
              <a:t>Traitez cette phrase comme du contenu et limitez les actions possibles du système.</a:t>
            </a:r>
          </a:p>
          <a:p xmlns:a="http://schemas.openxmlformats.org/drawingml/2006/main">
            <a:r>
              <a:t>La séparation des consignes ne suffit pas à elle seule à éliminer le risque.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processus doit savoir traiter une information absente.</a:t>
            </a:r>
          </a:p>
          <a:p xmlns:a="http://schemas.openxmlformats.org/drawingml/2006/main">
            <a:r>
              <a:t>Précisez quand poser une question et quand indiquer « Information insuffisante ».</a:t>
            </a:r>
          </a:p>
          <a:p xmlns:a="http://schemas.openxmlformats.org/drawingml/2006/main">
            <a:r>
              <a:t>Prévoyez un recours à une personne pour les cas hors périmètre.</a:t>
            </a:r>
          </a:p>
          <a:p xmlns:a="http://schemas.openxmlformats.org/drawingml/2006/main">
            <a:r>
              <a:t>Tester ces règles avec des exemples concrets.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23–28.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recherche documentaire alimente la génération d’une réponse.</a:t>
            </a:r>
          </a:p>
          <a:p xmlns:a="http://schemas.openxmlformats.org/drawingml/2006/main">
            <a:r>
              <a:t>Le système recherche des passages dans un corpus, puis les fournit au modèle.</a:t>
            </a:r>
          </a:p>
          <a:p xmlns:a="http://schemas.openxmlformats.org/drawingml/2006/main">
            <a:r>
              <a:t>Le modèle formule une réponse à partir des éléments retrouvés.</a:t>
            </a:r>
          </a:p>
          <a:p xmlns:a="http://schemas.openxmlformats.org/drawingml/2006/main">
            <a:r>
              <a:t>La qualité dépend du corpus, de la recherche et de la vérification.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23–28.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réponse documentée passe par plusieurs opérations.</a:t>
            </a:r>
          </a:p>
          <a:p xmlns:a="http://schemas.openxmlformats.org/drawingml/2006/main">
            <a:r>
              <a:t>La question oriente la recherche et la sélection d’extraits pertinents.</a:t>
            </a:r>
          </a:p>
          <a:p xmlns:a="http://schemas.openxmlformats.org/drawingml/2006/main">
            <a:r>
              <a:t>Le modèle rédige une réponse, puis l’utilisateur vérifie les sources citées.</a:t>
            </a:r>
          </a:p>
          <a:p xmlns:a="http://schemas.openxmlformats.org/drawingml/2006/main">
            <a:r>
              <a:t>Une source retrouvée peut rester insuffisante pour répondre.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23–28. Les exemples et mises en pratique sont des adaptations pédagogiques. Consulter le manuel pour le cours détaillé.</a:t>
            </a:r>
          </a:p>
          <a:p xmlns:a="http://schemas.openxmlformats.org/drawingml/2006/main">
            <a:r>
              <a:t>Des documents organisés facilitent la recherche.</a:t>
            </a:r>
          </a:p>
          <a:p xmlns:a="http://schemas.openxmlformats.org/drawingml/2006/main">
            <a:r>
              <a:t>Écartez les doublons et identifiez les versions obsolètes.</a:t>
            </a:r>
          </a:p>
          <a:p xmlns:a="http://schemas.openxmlformats.org/drawingml/2006/main">
            <a:r>
              <a:t>Conservez le titre, la date et les informations d’accès de chaque source.</a:t>
            </a:r>
          </a:p>
          <a:p xmlns:a="http://schemas.openxmlformats.org/drawingml/2006/main">
            <a:r>
              <a:t>Un corpus de qualité doit aussi rester à jour.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23–28.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citation doit soutenir l’affirmation qui l’accompagne.</a:t>
            </a:r>
          </a:p>
          <a:p xmlns:a="http://schemas.openxmlformats.org/drawingml/2006/main">
            <a:r>
              <a:t>Vérifiez que le passage cité existe et traite réellement la question.</a:t>
            </a:r>
          </a:p>
          <a:p xmlns:a="http://schemas.openxmlformats.org/drawingml/2006/main">
            <a:r>
              <a:t>Contrôlez sa date et les éventuelles réserves de l’auteur.</a:t>
            </a:r>
          </a:p>
          <a:p xmlns:a="http://schemas.openxmlformats.org/drawingml/2006/main">
            <a:r>
              <a:t>Compter les citations ne suffit pas pour mesurer la qualité.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29–32. Les exemples et mises en pratique sont des adaptations pédagogiques. Consulter le manuel pour le cours détaillé.</a:t>
            </a:r>
          </a:p>
          <a:p xmlns:a="http://schemas.openxmlformats.org/drawingml/2006/main">
            <a:r>
              <a:t>Répondre uniquement à partir d’un petit corpus fourni.</a:t>
            </a:r>
          </a:p>
          <a:p xmlns:a="http://schemas.openxmlformats.org/drawingml/2006/main">
            <a:r>
              <a:t>Préparez une FAQ fictive, puis des questions couvertes et non couvertes.</a:t>
            </a:r>
          </a:p>
          <a:p xmlns:a="http://schemas.openxmlformats.org/drawingml/2006/main">
            <a:r>
              <a:t>Vérifiez les réponses, les passages utilisés et le signalement des lacunes.</a:t>
            </a:r>
          </a:p>
          <a:p xmlns:a="http://schemas.openxmlformats.org/drawingml/2006/main">
            <a:r>
              <a:t>À remettre : corpus, questions, réponses et bilan des erreurs.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33–37.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compte rendu doit conserver les engagements réels.</a:t>
            </a:r>
          </a:p>
          <a:p xmlns:a="http://schemas.openxmlformats.org/drawingml/2006/main">
            <a:r>
              <a:t>Extrayez les décisions, les personnes nommées et les échéances explicites.</a:t>
            </a:r>
          </a:p>
          <a:p xmlns:a="http://schemas.openxmlformats.org/drawingml/2006/main">
            <a:r>
              <a:t>Séparez les questions ouvertes des décisions confirmées.</a:t>
            </a:r>
          </a:p>
          <a:p xmlns:a="http://schemas.openxmlformats.org/drawingml/2006/main">
            <a:r>
              <a:t>Ne pas attribuer une responsabilité absente des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33–37.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brouillon repose sur un besoin et un périmètre validés.</a:t>
            </a:r>
          </a:p>
          <a:p xmlns:a="http://schemas.openxmlformats.org/drawingml/2006/main">
            <a:r>
              <a:t>Fournissez le brief, les prestations autorisées et les conditions connues.</a:t>
            </a:r>
          </a:p>
          <a:p xmlns:a="http://schemas.openxmlformats.org/drawingml/2006/main">
            <a:r>
              <a:t>Signalez les hypothèses et les informations à confirmer avant envoi.</a:t>
            </a:r>
          </a:p>
          <a:p xmlns:a="http://schemas.openxmlformats.org/drawingml/2006/main">
            <a:r>
              <a:t>Une personne valide les engagements et le prix.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33–37.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réponse doit respecter le périmètre documentaire.</a:t>
            </a:r>
          </a:p>
          <a:p xmlns:a="http://schemas.openxmlformats.org/drawingml/2006/main">
            <a:r>
              <a:t>Posez des questions sur les procédures d’une organisation fictive.</a:t>
            </a:r>
          </a:p>
          <a:p xmlns:a="http://schemas.openxmlformats.org/drawingml/2006/main">
            <a:r>
              <a:t>Demandez une citation ou une indication claire de l’information absente.</a:t>
            </a:r>
          </a:p>
          <a:p xmlns:a="http://schemas.openxmlformats.org/drawingml/2006/main">
            <a:r>
              <a:t>Prévoir un interlocuteur lorsque le corpus ne suffit pas.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38–41. Les exemples et mises en pratique sont des adaptations pédagogiques. Consulter le manuel pour le cours détaillé.</a:t>
            </a:r>
          </a:p>
          <a:p xmlns:a="http://schemas.openxmlformats.org/drawingml/2006/main">
            <a:r>
              <a:t>Chaque modèle décrit son usage et ses conditions.</a:t>
            </a:r>
          </a:p>
          <a:p xmlns:a="http://schemas.openxmlformats.org/drawingml/2006/main">
            <a:r>
              <a:t>Conservez le prompt, les variables et un exemple de résultat validé.</a:t>
            </a:r>
          </a:p>
          <a:p xmlns:a="http://schemas.openxmlformats.org/drawingml/2006/main">
            <a:r>
              <a:t>Ajoutez les limites, les contrôles nécessaires et la date de révision.</a:t>
            </a:r>
          </a:p>
          <a:p xmlns:a="http://schemas.openxmlformats.org/drawingml/2006/main">
            <a:r>
              <a:t>Regrouper les modèles par tâche facilite leur recherche.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42–44.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L’automatisation relie un déclencheur à une suite de traitements.</a:t>
            </a:r>
          </a:p>
          <a:p xmlns:a="http://schemas.openxmlformats.org/drawingml/2006/main">
            <a:r>
              <a:t>Définissez l’événement de départ, les entrées et le livrable.</a:t>
            </a:r>
          </a:p>
          <a:p xmlns:a="http://schemas.openxmlformats.org/drawingml/2006/main">
            <a:r>
              <a:t>Ajoutez une validation humaine avant les actions qui engagent l’organisation.</a:t>
            </a:r>
          </a:p>
          <a:p xmlns:a="http://schemas.openxmlformats.org/drawingml/2006/main">
            <a:r>
              <a:t>Prévoir un journal et une gestion des erreurs.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42–44. Les exemples et mises en pratique sont des adaptations pédagogiques. Consulter le manuel pour le cours détaillé.</a:t>
            </a:r>
          </a:p>
          <a:p xmlns:a="http://schemas.openxmlformats.org/drawingml/2006/main">
            <a:r>
              <a:t>Décrire le fonctionnement avant de connecter les outils.</a:t>
            </a:r>
          </a:p>
          <a:p xmlns:a="http://schemas.openxmlformats.org/drawingml/2006/main">
            <a:r>
              <a:t>Dessinez les étapes d’un cas fictif et indiquez les données utilisées.</a:t>
            </a:r>
          </a:p>
          <a:p xmlns:a="http://schemas.openxmlformats.org/drawingml/2006/main">
            <a:r>
              <a:t>Placez les validations et les conditions d’arrêt en cas d’erreur.</a:t>
            </a:r>
          </a:p>
          <a:p xmlns:a="http://schemas.openxmlformats.org/drawingml/2006/main">
            <a:r>
              <a:t>À remettre : processus, rôles et scénario de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49–52.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comparaison initiale et finale montre l’intérêt du projet.</a:t>
            </a:r>
          </a:p>
          <a:p xmlns:a="http://schemas.openxmlformats.org/drawingml/2006/main">
            <a:r>
              <a:t>Décrivez le besoin, construisez un prototype et testez des cas représentatifs.</a:t>
            </a:r>
          </a:p>
          <a:p xmlns:a="http://schemas.openxmlformats.org/drawingml/2006/main">
            <a:r>
              <a:t>Présentez les résultats observés, les limites et les contrôles conservés.</a:t>
            </a:r>
          </a:p>
          <a:p xmlns:a="http://schemas.openxmlformats.org/drawingml/2006/main">
            <a:r>
              <a:t>Les gains annoncés doivent provenir de mesures réelles.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45–54.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support prévoit un QCM et une mise en pratique.</a:t>
            </a:r>
          </a:p>
          <a:p xmlns:a="http://schemas.openxmlformats.org/drawingml/2006/main">
            <a:r>
              <a:t>Le QCM annoncé comporte 30 questions sur les méthodes du niveau.</a:t>
            </a:r>
          </a:p>
          <a:p xmlns:a="http://schemas.openxmlformats.org/drawingml/2006/main">
            <a:r>
              <a:t>Le projet présente un processus, ses prompts et les résultats des essais.</a:t>
            </a:r>
          </a:p>
          <a:p xmlns:a="http://schemas.openxmlformats.org/drawingml/2006/main">
            <a:r>
              <a:t>Consulter le manuel pour les consignes détaillées de restitution.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2. Source : manuel fourni par l’utilisateur, version août 2026, pages 55–59.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processus réutilisable reste documenté et révisable.</a:t>
            </a:r>
          </a:p>
          <a:p xmlns:a="http://schemas.openxmlformats.org/drawingml/2006/main">
            <a:r>
              <a:t>Conservez les tests et les décisions qui expliquent vos choix.</a:t>
            </a:r>
          </a:p>
          <a:p xmlns:a="http://schemas.openxmlformats.org/drawingml/2006/main">
            <a:r>
              <a:t>Le niveau 3 développe les architectures RAG et les appels d’outils.</a:t>
            </a:r>
          </a:p>
          <a:p xmlns:a="http://schemas.openxmlformats.org/drawingml/2006/main">
            <a:r>
              <a:t>Ressource de référence : le manuel complet du niveau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6ee3245ac40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586ca2cf04d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a4e51f77d47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7d5361d5f45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daafc5d2b46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7afc0c8b24a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EFE4016-8521-412A-B7D6-026B46DC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4C204C-7D81-470A-9BC4-5DF2EC6E3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2FBAE6B-05EB-4E97-8D41-D1F8BE8376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B8BA7CC-9430-493D-8872-1F42EE8F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E01F29-75B0-4015-9DB9-52A38FA3E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030CB1F-0A1E-40E8-9112-90D99B24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72CC9E-06A8-4BEF-AB12-63EA43881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91ADAA8-94E8-46E9-9389-EFC1672DEE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AD39778-AE05-49FB-A0F6-1DD5F190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356EB5-3DD9-475D-9B91-48ECEC4CF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FA149E-8BF6-40F3-B980-558157CF8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37EF82-773A-4541-9ED1-8517CB75A3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CDD0E2E-D6D6-4A98-9F44-41D6F049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43B04D-E1B6-4931-8224-EFC0FDB8F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8A670F-7162-4288-92E5-437E25570B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696b5245b845d4" /><Relationship Type="http://schemas.openxmlformats.org/officeDocument/2006/relationships/slideLayout" Target="/ppt/slideLayouts/slideLayout1.xml" Id="R81cb21c62b0f496d" /><Relationship Type="http://schemas.openxmlformats.org/officeDocument/2006/relationships/slideLayout" Target="/ppt/slideLayouts/slideLayout2.xml" Id="Rdfa01165d9464df8" /><Relationship Type="http://schemas.openxmlformats.org/officeDocument/2006/relationships/slideLayout" Target="/ppt/slideLayouts/slideLayout3.xml" Id="Rf1a46775d60e49ce" /><Relationship Type="http://schemas.openxmlformats.org/officeDocument/2006/relationships/slideLayout" Target="/ppt/slideLayouts/slideLayout4.xml" Id="Rd1751fba8dbd4f7e" /><Relationship Type="http://schemas.openxmlformats.org/officeDocument/2006/relationships/slideLayout" Target="/ppt/slideLayouts/slideLayout5.xml" Id="R273db32abc414951" /><Relationship Type="http://schemas.openxmlformats.org/officeDocument/2006/relationships/slideLayout" Target="/ppt/slideLayouts/slideLayout6.xml" Id="R9f35a0bf3fc74e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cb21c62b0f496d"/>
    <p:sldLayoutId xmlns:r="http://schemas.openxmlformats.org/officeDocument/2006/relationships" id="2147483650" r:id="Rdfa01165d9464df8"/>
    <p:sldLayoutId xmlns:r="http://schemas.openxmlformats.org/officeDocument/2006/relationships" id="2147483651" r:id="Rf1a46775d60e49ce"/>
    <p:sldLayoutId xmlns:r="http://schemas.openxmlformats.org/officeDocument/2006/relationships" id="2147483652" r:id="Rd1751fba8dbd4f7e"/>
    <p:sldLayoutId xmlns:r="http://schemas.openxmlformats.org/officeDocument/2006/relationships" id="2147483653" r:id="R273db32abc414951"/>
    <p:sldLayoutId xmlns:r="http://schemas.openxmlformats.org/officeDocument/2006/relationships" id="2147483654" r:id="R9f35a0bf3fc74e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0f9a3a1944348" /><Relationship Type="http://schemas.openxmlformats.org/officeDocument/2006/relationships/image" Target="/ppt/media/image.png" Id="Rb93beb08b7c5435d" /><Relationship Type="http://schemas.openxmlformats.org/officeDocument/2006/relationships/notesSlide" Target="/ppt/notesSlides/notesSlide1.xml" Id="R56d93bebddfb49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4b12baa7c45d9" /><Relationship Type="http://schemas.openxmlformats.org/officeDocument/2006/relationships/image" Target="/ppt/media/image2.png" Id="R23254ea7cdb841e3" /><Relationship Type="http://schemas.openxmlformats.org/officeDocument/2006/relationships/notesSlide" Target="/ppt/notesSlides/notesSlide2.xml" Id="Rc7b30c79485945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03e377a3743fb" /><Relationship Type="http://schemas.openxmlformats.org/officeDocument/2006/relationships/image" Target="/ppt/media/image3.png" Id="R452bca20865146fe" /><Relationship Type="http://schemas.openxmlformats.org/officeDocument/2006/relationships/notesSlide" Target="/ppt/notesSlides/notesSlide3.xml" Id="R1b20a7f694b342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24d30e503432a" /><Relationship Type="http://schemas.openxmlformats.org/officeDocument/2006/relationships/image" Target="/ppt/media/image4.png" Id="R6c37556916b0412e" /><Relationship Type="http://schemas.openxmlformats.org/officeDocument/2006/relationships/notesSlide" Target="/ppt/notesSlides/notesSlide4.xml" Id="Rddc627a3a5cd42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b383ccb6545ac" /><Relationship Type="http://schemas.openxmlformats.org/officeDocument/2006/relationships/image" Target="/ppt/media/image5.png" Id="Rdd7f33758ca24e65" /><Relationship Type="http://schemas.openxmlformats.org/officeDocument/2006/relationships/notesSlide" Target="/ppt/notesSlides/notesSlide5.xml" Id="R5ed76c08579549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7084a08bc43db" /><Relationship Type="http://schemas.openxmlformats.org/officeDocument/2006/relationships/image" Target="/ppt/media/image6.png" Id="R3a65ea96c5004e3b" /><Relationship Type="http://schemas.openxmlformats.org/officeDocument/2006/relationships/notesSlide" Target="/ppt/notesSlides/notesSlide6.xml" Id="R92373ce5a73e44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2b1b37e804b12" /><Relationship Type="http://schemas.openxmlformats.org/officeDocument/2006/relationships/image" Target="/ppt/media/image7.png" Id="Rcd488b1f08d047b5" /><Relationship Type="http://schemas.openxmlformats.org/officeDocument/2006/relationships/notesSlide" Target="/ppt/notesSlides/notesSlide7.xml" Id="R7f5b077cab574c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9dcca76354eeb" /><Relationship Type="http://schemas.openxmlformats.org/officeDocument/2006/relationships/image" Target="/ppt/media/image8.png" Id="R72609e0b87bd430d" /><Relationship Type="http://schemas.openxmlformats.org/officeDocument/2006/relationships/notesSlide" Target="/ppt/notesSlides/notesSlide8.xml" Id="R8d6f6a606e204f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e06c31df81431a" /><Relationship Type="http://schemas.openxmlformats.org/officeDocument/2006/relationships/image" Target="/ppt/media/image9.png" Id="Rd5b93cf730434571" /><Relationship Type="http://schemas.openxmlformats.org/officeDocument/2006/relationships/notesSlide" Target="/ppt/notesSlides/notesSlide9.xml" Id="R1840e9cfebaf43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fbaae0fb34f1b" /><Relationship Type="http://schemas.openxmlformats.org/officeDocument/2006/relationships/image" Target="/ppt/media/image10.png" Id="R6748b74da00d46bc" /><Relationship Type="http://schemas.openxmlformats.org/officeDocument/2006/relationships/notesSlide" Target="/ppt/notesSlides/notesSlide10.xml" Id="R746d854916f24e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f32a73d004399" /><Relationship Type="http://schemas.openxmlformats.org/officeDocument/2006/relationships/image" Target="/ppt/media/image11.png" Id="R9b92872b82304c7f" /><Relationship Type="http://schemas.openxmlformats.org/officeDocument/2006/relationships/notesSlide" Target="/ppt/notesSlides/notesSlide11.xml" Id="R7dd7e52d84af4d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7549d40ab4cd8" /><Relationship Type="http://schemas.openxmlformats.org/officeDocument/2006/relationships/image" Target="/ppt/media/image12.png" Id="R9e7ae8bc82f645b4" /><Relationship Type="http://schemas.openxmlformats.org/officeDocument/2006/relationships/notesSlide" Target="/ppt/notesSlides/notesSlide12.xml" Id="Ra7f3aaa8505c43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f17a7aaeb4405" /><Relationship Type="http://schemas.openxmlformats.org/officeDocument/2006/relationships/image" Target="/ppt/media/image13.png" Id="R64cfb5acc71d44fb" /><Relationship Type="http://schemas.openxmlformats.org/officeDocument/2006/relationships/notesSlide" Target="/ppt/notesSlides/notesSlide13.xml" Id="R00cfc54bd18c48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6e093c83e486b" /><Relationship Type="http://schemas.openxmlformats.org/officeDocument/2006/relationships/image" Target="/ppt/media/image14.png" Id="Rd81f36259847400e" /><Relationship Type="http://schemas.openxmlformats.org/officeDocument/2006/relationships/notesSlide" Target="/ppt/notesSlides/notesSlide14.xml" Id="Rc70f6c28be1e40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0fc95e46cc48c2" /><Relationship Type="http://schemas.openxmlformats.org/officeDocument/2006/relationships/image" Target="/ppt/media/image15.png" Id="Rda569da251fb48b7" /><Relationship Type="http://schemas.openxmlformats.org/officeDocument/2006/relationships/notesSlide" Target="/ppt/notesSlides/notesSlide15.xml" Id="R9611e04b093d40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4f3a50f7942c5" /><Relationship Type="http://schemas.openxmlformats.org/officeDocument/2006/relationships/image" Target="/ppt/media/image16.png" Id="Rcbe6f29b6a344f13" /><Relationship Type="http://schemas.openxmlformats.org/officeDocument/2006/relationships/notesSlide" Target="/ppt/notesSlides/notesSlide16.xml" Id="R4a35262d046f45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a033c148f4e66" /><Relationship Type="http://schemas.openxmlformats.org/officeDocument/2006/relationships/image" Target="/ppt/media/image17.png" Id="R5a92a0c9b0ab4bc0" /><Relationship Type="http://schemas.openxmlformats.org/officeDocument/2006/relationships/notesSlide" Target="/ppt/notesSlides/notesSlide17.xml" Id="R05e044eace3e4f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080ed48e74f1e" /><Relationship Type="http://schemas.openxmlformats.org/officeDocument/2006/relationships/image" Target="/ppt/media/image18.png" Id="R60cb40b69ea849da" /><Relationship Type="http://schemas.openxmlformats.org/officeDocument/2006/relationships/notesSlide" Target="/ppt/notesSlides/notesSlide18.xml" Id="R2dbdbf0667ea41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0a1c5e068f4412" /><Relationship Type="http://schemas.openxmlformats.org/officeDocument/2006/relationships/image" Target="/ppt/media/image19.png" Id="R403b74c5da084999" /><Relationship Type="http://schemas.openxmlformats.org/officeDocument/2006/relationships/notesSlide" Target="/ppt/notesSlides/notesSlide19.xml" Id="R1238ac4b115f49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d122b073c42c9" /><Relationship Type="http://schemas.openxmlformats.org/officeDocument/2006/relationships/image" Target="/ppt/media/image20.png" Id="R9cb99d2e0bad4b11" /><Relationship Type="http://schemas.openxmlformats.org/officeDocument/2006/relationships/notesSlide" Target="/ppt/notesSlides/notesSlide20.xml" Id="R90f0d915147b4f0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e63e805d94a94" /><Relationship Type="http://schemas.openxmlformats.org/officeDocument/2006/relationships/image" Target="/ppt/media/image21.png" Id="Red32832226284066" /><Relationship Type="http://schemas.openxmlformats.org/officeDocument/2006/relationships/notesSlide" Target="/ppt/notesSlides/notesSlide21.xml" Id="Ra0817855d0c6430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fea953b6f4197" /><Relationship Type="http://schemas.openxmlformats.org/officeDocument/2006/relationships/image" Target="/ppt/media/image22.png" Id="R837d9fbe9dc646df" /><Relationship Type="http://schemas.openxmlformats.org/officeDocument/2006/relationships/notesSlide" Target="/ppt/notesSlides/notesSlide22.xml" Id="R504f847bdb7f45a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4c123e175244b8" /><Relationship Type="http://schemas.openxmlformats.org/officeDocument/2006/relationships/image" Target="/ppt/media/image23.png" Id="R6b242b2991c343ca" /><Relationship Type="http://schemas.openxmlformats.org/officeDocument/2006/relationships/notesSlide" Target="/ppt/notesSlides/notesSlide23.xml" Id="Rc8f2f4ea278e4d0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8599622694621" /><Relationship Type="http://schemas.openxmlformats.org/officeDocument/2006/relationships/image" Target="/ppt/media/image24.png" Id="R23be7aff9e3642e1" /><Relationship Type="http://schemas.openxmlformats.org/officeDocument/2006/relationships/notesSlide" Target="/ppt/notesSlides/notesSlide24.xml" Id="R5d830cd5a568428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364197f084320" /><Relationship Type="http://schemas.openxmlformats.org/officeDocument/2006/relationships/image" Target="/ppt/media/image25.png" Id="R9d71c41344a34bef" /><Relationship Type="http://schemas.openxmlformats.org/officeDocument/2006/relationships/notesSlide" Target="/ppt/notesSlides/notesSlide25.xml" Id="R79eb691124e64d7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b94a1fc84475e" /><Relationship Type="http://schemas.openxmlformats.org/officeDocument/2006/relationships/image" Target="/ppt/media/image26.png" Id="Rd918145fd4a34df0" /><Relationship Type="http://schemas.openxmlformats.org/officeDocument/2006/relationships/notesSlide" Target="/ppt/notesSlides/notesSlide26.xml" Id="R2963303c3a91402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47051b2134912" /><Relationship Type="http://schemas.openxmlformats.org/officeDocument/2006/relationships/image" Target="/ppt/media/image27.png" Id="R0dfc2d0f20d44b74" /><Relationship Type="http://schemas.openxmlformats.org/officeDocument/2006/relationships/notesSlide" Target="/ppt/notesSlides/notesSlide27.xml" Id="R8c3f9f979fa047d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2e173cbe44933" /><Relationship Type="http://schemas.openxmlformats.org/officeDocument/2006/relationships/image" Target="/ppt/media/image28.png" Id="Read8e5ac63d24228" /><Relationship Type="http://schemas.openxmlformats.org/officeDocument/2006/relationships/notesSlide" Target="/ppt/notesSlides/notesSlide28.xml" Id="R29a69be1ddee464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e466b1c2e4c5e" /><Relationship Type="http://schemas.openxmlformats.org/officeDocument/2006/relationships/image" Target="/ppt/media/image29.png" Id="R96a7521663c248d2" /><Relationship Type="http://schemas.openxmlformats.org/officeDocument/2006/relationships/notesSlide" Target="/ppt/notesSlides/notesSlide29.xml" Id="Rb8bfe995b7a749f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58a588d334d0a" /><Relationship Type="http://schemas.openxmlformats.org/officeDocument/2006/relationships/image" Target="/ppt/media/image30.png" Id="Re246196f464f4a8f" /><Relationship Type="http://schemas.openxmlformats.org/officeDocument/2006/relationships/notesSlide" Target="/ppt/notesSlides/notesSlide30.xml" Id="R3a0ce1ee40654cd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f22e652c24692" /><Relationship Type="http://schemas.openxmlformats.org/officeDocument/2006/relationships/image" Target="/ppt/media/image31.png" Id="R3aedcc1684aa42ca" /><Relationship Type="http://schemas.openxmlformats.org/officeDocument/2006/relationships/notesSlide" Target="/ppt/notesSlides/notesSlide31.xml" Id="R100a0d555f0443b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fa7694eb1479b" /><Relationship Type="http://schemas.openxmlformats.org/officeDocument/2006/relationships/image" Target="/ppt/media/image32.png" Id="R5c9b2c4e5483401c" /><Relationship Type="http://schemas.openxmlformats.org/officeDocument/2006/relationships/notesSlide" Target="/ppt/notesSlides/notesSlide32.xml" Id="Rb6361a6cfba9480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5d002e9cb46bb" /><Relationship Type="http://schemas.openxmlformats.org/officeDocument/2006/relationships/image" Target="/ppt/media/image33.png" Id="Rf4c06b97e9d64783" /><Relationship Type="http://schemas.openxmlformats.org/officeDocument/2006/relationships/notesSlide" Target="/ppt/notesSlides/notesSlide33.xml" Id="R541b1b7d8b2e4e5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772effb49450b" /><Relationship Type="http://schemas.openxmlformats.org/officeDocument/2006/relationships/image" Target="/ppt/media/image34.png" Id="R86219c1fa50c4bc0" /><Relationship Type="http://schemas.openxmlformats.org/officeDocument/2006/relationships/notesSlide" Target="/ppt/notesSlides/notesSlide34.xml" Id="R3ccc55b8a5974f4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050bedf964c41" /><Relationship Type="http://schemas.openxmlformats.org/officeDocument/2006/relationships/image" Target="/ppt/media/image35.png" Id="R51dedd63a665407d" /><Relationship Type="http://schemas.openxmlformats.org/officeDocument/2006/relationships/notesSlide" Target="/ppt/notesSlides/notesSlide35.xml" Id="R20df999204f448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44eaea39a4515" /><Relationship Type="http://schemas.openxmlformats.org/officeDocument/2006/relationships/image" Target="/ppt/media/image36.png" Id="R5dc2392741ec418e" /><Relationship Type="http://schemas.openxmlformats.org/officeDocument/2006/relationships/notesSlide" Target="/ppt/notesSlides/notesSlide36.xml" Id="R0d6e48d06a414d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D0A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beb08b7c5435d"/>
          <a:stretch xmlns:a="http://schemas.openxmlformats.org/drawingml/2006/main"/>
        </p:blipFill>
        <p:spPr>
          <a:xfrm xmlns:a="http://schemas.openxmlformats.org/drawingml/2006/main">
            <a:off x="914400" y="400050"/>
            <a:ext cx="34290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8438B578-9131-4ADD-81B7-B0EA37A8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Prompts structurés et productivité">
            <a:extLst xmlns:a="http://schemas.openxmlformats.org/drawingml/2006/main">
              <a:ext uri="{FF2B5EF4-FFF2-40B4-BE49-F238E27FC236}">
                <a16:creationId xmlns:a16="http://schemas.microsoft.com/office/drawing/2014/main" id="{CDE1A525-019F-48F0-A03A-D5D97371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10334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4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Prompts structurés et productivité</a:t>
            </a:r>
          </a:p>
        </p:txBody>
      </p:sp>
      <p:sp>
        <p:nvSpPr>
          <p:cNvPr id="4" name="Organiser des tâches réutilisables et contrôler le">
            <a:extLst xmlns:a="http://schemas.openxmlformats.org/drawingml/2006/main">
              <a:ext uri="{FF2B5EF4-FFF2-40B4-BE49-F238E27FC236}">
                <a16:creationId xmlns:a16="http://schemas.microsoft.com/office/drawing/2014/main" id="{5A872A90-7D21-4C95-BF47-026DAFF0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Organiser des tâches réutilisables et contrôler leur qualité.</a:t>
            </a:r>
          </a:p>
        </p:txBody>
      </p:sp>
      <p:sp>
        <p:nvSpPr>
          <p:cNvPr id="5" name="28 heures  ·  Support de cours">
            <a:extLst xmlns:a="http://schemas.openxmlformats.org/drawingml/2006/main">
              <a:ext uri="{FF2B5EF4-FFF2-40B4-BE49-F238E27FC236}">
                <a16:creationId xmlns:a16="http://schemas.microsoft.com/office/drawing/2014/main" id="{7BE0F877-A322-4D99-8D6C-220C4A22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28 heures  ·  Support de cours</a:t>
            </a:r>
          </a:p>
        </p:txBody>
      </p:sp>
    </p:spTree>
    <p:extLst>
      <p:ext uri="{BB962C8B-B14F-4D97-AF65-F5344CB8AC3E}">
        <p14:creationId xmlns:p14="http://schemas.microsoft.com/office/powerpoint/2010/main" val="1372077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26091-BADA-4248-AC57-6A5A0753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55FD843E-006E-4E55-9D26-AFF7517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s compétences visées">
            <a:extLst xmlns:a="http://schemas.openxmlformats.org/drawingml/2006/main">
              <a:ext uri="{FF2B5EF4-FFF2-40B4-BE49-F238E27FC236}">
                <a16:creationId xmlns:a16="http://schemas.microsoft.com/office/drawing/2014/main" id="{C4DC7885-A77F-4E86-B871-19B83ECD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compétences visées</a:t>
            </a:r>
          </a:p>
        </p:txBody>
      </p:sp>
      <p:sp>
        <p:nvSpPr>
          <p:cNvPr id="4" name="La qualité d’un processus se mesure sur plusieurs ">
            <a:extLst xmlns:a="http://schemas.openxmlformats.org/drawingml/2006/main">
              <a:ext uri="{FF2B5EF4-FFF2-40B4-BE49-F238E27FC236}">
                <a16:creationId xmlns:a16="http://schemas.microsoft.com/office/drawing/2014/main" id="{BF6D24A9-FE70-4E6F-9469-C3316ACA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qualité d’un processus se mesure sur plusieurs essais.</a:t>
            </a:r>
          </a:p>
        </p:txBody>
      </p:sp>
      <p:sp>
        <p:nvSpPr>
          <p:cNvPr id="5" name="Concevoir des prompts réutilisables et organiser d">
            <a:extLst xmlns:a="http://schemas.openxmlformats.org/drawingml/2006/main">
              <a:ext uri="{FF2B5EF4-FFF2-40B4-BE49-F238E27FC236}">
                <a16:creationId xmlns:a16="http://schemas.microsoft.com/office/drawing/2014/main" id="{58B05089-DF37-4143-B08D-5E9D37D4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Concevoir des prompts réutilisables et organiser des étapes cohérentes.</a:t>
            </a:r>
          </a:p>
        </p:txBody>
      </p:sp>
      <p:sp>
        <p:nvSpPr>
          <p:cNvPr id="6" name="Évaluer les résultats et documenter les conditions">
            <a:extLst xmlns:a="http://schemas.openxmlformats.org/drawingml/2006/main">
              <a:ext uri="{FF2B5EF4-FFF2-40B4-BE49-F238E27FC236}">
                <a16:creationId xmlns:a16="http://schemas.microsoft.com/office/drawing/2014/main" id="{180BC1F2-2569-486F-A21D-64C08ACE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Évaluer les résultats et documenter les conditions d’utilisation.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0342FAAD-3647-4532-86FE-6E5AA4A0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rojet : améliorer un processus professionnel.">
            <a:extLst xmlns:a="http://schemas.openxmlformats.org/drawingml/2006/main">
              <a:ext uri="{FF2B5EF4-FFF2-40B4-BE49-F238E27FC236}">
                <a16:creationId xmlns:a16="http://schemas.microsoft.com/office/drawing/2014/main" id="{A4CC873E-75C1-47F6-BAF3-0C532013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Projet : améliorer un processus professionnel.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54ea7cdb841e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2 / 36">
            <a:extLst xmlns:a="http://schemas.openxmlformats.org/drawingml/2006/main">
              <a:ext uri="{FF2B5EF4-FFF2-40B4-BE49-F238E27FC236}">
                <a16:creationId xmlns:a16="http://schemas.microsoft.com/office/drawing/2014/main" id="{5FFD6E30-7648-49B5-9187-C952A275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02 / 36</a:t>
            </a:r>
          </a:p>
        </p:txBody>
      </p:sp>
    </p:spTree>
    <p:extLst>
      <p:ext uri="{BB962C8B-B14F-4D97-AF65-F5344CB8AC3E}">
        <p14:creationId xmlns:p14="http://schemas.microsoft.com/office/powerpoint/2010/main" val="1764816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B9952-7445-4AA2-9DFA-76CD4E1A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E30D8565-222D-4FEB-A048-561D8509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 parcours du niveau 2">
            <a:extLst xmlns:a="http://schemas.openxmlformats.org/drawingml/2006/main">
              <a:ext uri="{FF2B5EF4-FFF2-40B4-BE49-F238E27FC236}">
                <a16:creationId xmlns:a16="http://schemas.microsoft.com/office/drawing/2014/main" id="{4C23F876-96C4-4D4C-9CB2-5C6ADA5D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parcours du niveau 2</a:t>
            </a:r>
          </a:p>
        </p:txBody>
      </p:sp>
      <p:sp>
        <p:nvSpPr>
          <p:cNvPr id="4" name="Le module alterne méthodes, essais et restitution.">
            <a:extLst xmlns:a="http://schemas.openxmlformats.org/drawingml/2006/main">
              <a:ext uri="{FF2B5EF4-FFF2-40B4-BE49-F238E27FC236}">
                <a16:creationId xmlns:a16="http://schemas.microsoft.com/office/drawing/2014/main" id="{EC4799BA-0FD3-439D-A261-05D1BC94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module alterne méthodes, essais et restitution.</a:t>
            </a:r>
          </a:p>
        </p:txBody>
      </p:sp>
      <p:sp>
        <p:nvSpPr>
          <p:cNvPr id="5" name="8 h de théorie et 12 h de pratique.">
            <a:extLst xmlns:a="http://schemas.openxmlformats.org/drawingml/2006/main">
              <a:ext uri="{FF2B5EF4-FFF2-40B4-BE49-F238E27FC236}">
                <a16:creationId xmlns:a16="http://schemas.microsoft.com/office/drawing/2014/main" id="{4D88E97D-B789-4E3B-93EE-FB91DC10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8 h de théorie et 12 h de pratique.</a:t>
            </a:r>
          </a:p>
        </p:txBody>
      </p:sp>
      <p:sp>
        <p:nvSpPr>
          <p:cNvPr id="6" name="8 h consacrées à l’évaluation selon le découpage d">
            <a:extLst xmlns:a="http://schemas.openxmlformats.org/drawingml/2006/main">
              <a:ext uri="{FF2B5EF4-FFF2-40B4-BE49-F238E27FC236}">
                <a16:creationId xmlns:a16="http://schemas.microsoft.com/office/drawing/2014/main" id="{88FAB568-84AB-47CF-94C1-5C874431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8 h consacrées à l’évaluation selon le découpage du support.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96A0898A-D396-4EF4-A4E8-8C5EED30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révoir un dossier d’essais pour conserver vos com">
            <a:extLst xmlns:a="http://schemas.openxmlformats.org/drawingml/2006/main">
              <a:ext uri="{FF2B5EF4-FFF2-40B4-BE49-F238E27FC236}">
                <a16:creationId xmlns:a16="http://schemas.microsoft.com/office/drawing/2014/main" id="{1D68FC71-DF22-4969-9FC1-2BF64A1D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Prévoir un dossier d’essais pour conserver vos comparaisons.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bca20865146fe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3 / 36">
            <a:extLst xmlns:a="http://schemas.openxmlformats.org/drawingml/2006/main">
              <a:ext uri="{FF2B5EF4-FFF2-40B4-BE49-F238E27FC236}">
                <a16:creationId xmlns:a16="http://schemas.microsoft.com/office/drawing/2014/main" id="{C3A96B2F-44FE-4B5B-8A4F-F4D7A6C3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03 / 36</a:t>
            </a:r>
          </a:p>
        </p:txBody>
      </p:sp>
    </p:spTree>
    <p:extLst>
      <p:ext uri="{BB962C8B-B14F-4D97-AF65-F5344CB8AC3E}">
        <p14:creationId xmlns:p14="http://schemas.microsoft.com/office/powerpoint/2010/main" val="1387783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886EF-E2ED-45BF-BB4C-6F9A0713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DE7029F3-32F6-48AD-B8E8-A129BE2F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 diagnostic de départ">
            <a:extLst xmlns:a="http://schemas.openxmlformats.org/drawingml/2006/main">
              <a:ext uri="{FF2B5EF4-FFF2-40B4-BE49-F238E27FC236}">
                <a16:creationId xmlns:a16="http://schemas.microsoft.com/office/drawing/2014/main" id="{6DA89802-85CE-49AA-B6BF-879DA355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diagnostic de départ</a:t>
            </a:r>
          </a:p>
        </p:txBody>
      </p:sp>
      <p:sp>
        <p:nvSpPr>
          <p:cNvPr id="4" name="Une tâche précise donne un objectif testable.">
            <a:extLst xmlns:a="http://schemas.openxmlformats.org/drawingml/2006/main">
              <a:ext uri="{FF2B5EF4-FFF2-40B4-BE49-F238E27FC236}">
                <a16:creationId xmlns:a16="http://schemas.microsoft.com/office/drawing/2014/main" id="{8833853D-EE38-4EA3-989D-3CDB061E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tâche précise donne un objectif testable.</a:t>
            </a:r>
          </a:p>
        </p:txBody>
      </p:sp>
      <p:sp>
        <p:nvSpPr>
          <p:cNvPr id="5" name="Décrivez une tâche répétitive, les informations d’">
            <a:extLst xmlns:a="http://schemas.openxmlformats.org/drawingml/2006/main">
              <a:ext uri="{FF2B5EF4-FFF2-40B4-BE49-F238E27FC236}">
                <a16:creationId xmlns:a16="http://schemas.microsoft.com/office/drawing/2014/main" id="{D0F8F549-C6F0-416F-AE23-041E02DE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Décrivez une tâche répétitive, les informations d’entrée et le livrable attendu.</a:t>
            </a:r>
          </a:p>
        </p:txBody>
      </p:sp>
      <p:sp>
        <p:nvSpPr>
          <p:cNvPr id="6" name="Repérez le temps de travail, les erreurs fréquente">
            <a:extLst xmlns:a="http://schemas.openxmlformats.org/drawingml/2006/main">
              <a:ext uri="{FF2B5EF4-FFF2-40B4-BE49-F238E27FC236}">
                <a16:creationId xmlns:a16="http://schemas.microsoft.com/office/drawing/2014/main" id="{C963A559-16BE-4101-8482-A60D7996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Repérez le temps de travail, les erreurs fréquentes et les contrôles déjà réalisés.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29F457C2-6887-44F1-8109-A55D2299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tilisez une situation que vous connaissez.">
            <a:extLst xmlns:a="http://schemas.openxmlformats.org/drawingml/2006/main">
              <a:ext uri="{FF2B5EF4-FFF2-40B4-BE49-F238E27FC236}">
                <a16:creationId xmlns:a16="http://schemas.microsoft.com/office/drawing/2014/main" id="{345103F2-1537-405B-9019-8C3236A3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Utilisez une situation que vous connaissez.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7556916b0412e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4 / 36">
            <a:extLst xmlns:a="http://schemas.openxmlformats.org/drawingml/2006/main">
              <a:ext uri="{FF2B5EF4-FFF2-40B4-BE49-F238E27FC236}">
                <a16:creationId xmlns:a16="http://schemas.microsoft.com/office/drawing/2014/main" id="{816B6432-D6C0-40B3-B0F1-A6BF894D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04 / 36</a:t>
            </a:r>
          </a:p>
        </p:txBody>
      </p:sp>
    </p:spTree>
    <p:extLst>
      <p:ext uri="{BB962C8B-B14F-4D97-AF65-F5344CB8AC3E}">
        <p14:creationId xmlns:p14="http://schemas.microsoft.com/office/powerpoint/2010/main" val="33642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02038-F381-48F4-90EB-09D15D7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E57A60AB-B3D3-4D34-B9C4-175EAF9D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 prompt structuré">
            <a:extLst xmlns:a="http://schemas.openxmlformats.org/drawingml/2006/main">
              <a:ext uri="{FF2B5EF4-FFF2-40B4-BE49-F238E27FC236}">
                <a16:creationId xmlns:a16="http://schemas.microsoft.com/office/drawing/2014/main" id="{D314E27F-211B-4ADE-A5F1-02D25408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prompt structuré</a:t>
            </a:r>
          </a:p>
        </p:txBody>
      </p:sp>
      <p:sp>
        <p:nvSpPr>
          <p:cNvPr id="4" name="La structure relie une intention à des critères ob">
            <a:extLst xmlns:a="http://schemas.openxmlformats.org/drawingml/2006/main">
              <a:ext uri="{FF2B5EF4-FFF2-40B4-BE49-F238E27FC236}">
                <a16:creationId xmlns:a16="http://schemas.microsoft.com/office/drawing/2014/main" id="{A3B8BDFF-B1AB-4619-BC2C-B5F559F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structure relie une intention à des critères observables.</a:t>
            </a:r>
          </a:p>
        </p:txBody>
      </p:sp>
      <p:sp>
        <p:nvSpPr>
          <p:cNvPr id="5" name="Précisez le rôle utile, la tâche et les informatio">
            <a:extLst xmlns:a="http://schemas.openxmlformats.org/drawingml/2006/main">
              <a:ext uri="{FF2B5EF4-FFF2-40B4-BE49-F238E27FC236}">
                <a16:creationId xmlns:a16="http://schemas.microsoft.com/office/drawing/2014/main" id="{80EB446E-6A45-49AB-99C8-FE0162FA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Précisez le rôle utile, la tâche et les informations disponibles.</a:t>
            </a:r>
          </a:p>
        </p:txBody>
      </p:sp>
      <p:sp>
        <p:nvSpPr>
          <p:cNvPr id="6" name="Ajoutez les limites et le format de sortie attendu">
            <a:extLst xmlns:a="http://schemas.openxmlformats.org/drawingml/2006/main">
              <a:ext uri="{FF2B5EF4-FFF2-40B4-BE49-F238E27FC236}">
                <a16:creationId xmlns:a16="http://schemas.microsoft.com/office/drawing/2014/main" id="{E1A2EEE3-ED9D-40E6-BE29-EA2E0584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Ajoutez les limites et le format de sortie attendu.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1B974250-2FA5-46B0-973A-1F6AA0C0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lecteur doit pouvoir décider si le résultat res">
            <a:extLst xmlns:a="http://schemas.openxmlformats.org/drawingml/2006/main">
              <a:ext uri="{FF2B5EF4-FFF2-40B4-BE49-F238E27FC236}">
                <a16:creationId xmlns:a16="http://schemas.microsoft.com/office/drawing/2014/main" id="{3381790E-050E-4F36-9D13-D2E34F80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lecteur doit pouvoir décider si le résultat respecte la demande.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f33758ca24e65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5 / 36">
            <a:extLst xmlns:a="http://schemas.openxmlformats.org/drawingml/2006/main">
              <a:ext uri="{FF2B5EF4-FFF2-40B4-BE49-F238E27FC236}">
                <a16:creationId xmlns:a16="http://schemas.microsoft.com/office/drawing/2014/main" id="{31175C3D-54A7-457E-A03B-A74BF236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05 / 36</a:t>
            </a:r>
          </a:p>
        </p:txBody>
      </p:sp>
    </p:spTree>
    <p:extLst>
      <p:ext uri="{BB962C8B-B14F-4D97-AF65-F5344CB8AC3E}">
        <p14:creationId xmlns:p14="http://schemas.microsoft.com/office/powerpoint/2010/main" val="36005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ACABF-9AE2-4D93-B49B-0F551BF4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38E7DE91-CFDC-48D4-A92C-BBD3985F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 few-shot prompting">
            <a:extLst xmlns:a="http://schemas.openxmlformats.org/drawingml/2006/main">
              <a:ext uri="{FF2B5EF4-FFF2-40B4-BE49-F238E27FC236}">
                <a16:creationId xmlns:a16="http://schemas.microsoft.com/office/drawing/2014/main" id="{D3BD4CA9-1A97-48BF-9A39-FAA666A9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few-shot prompting</a:t>
            </a:r>
          </a:p>
        </p:txBody>
      </p:sp>
      <p:sp>
        <p:nvSpPr>
          <p:cNvPr id="4" name="Quelques exemples montrent le comportement attendu">
            <a:extLst xmlns:a="http://schemas.openxmlformats.org/drawingml/2006/main">
              <a:ext uri="{FF2B5EF4-FFF2-40B4-BE49-F238E27FC236}">
                <a16:creationId xmlns:a16="http://schemas.microsoft.com/office/drawing/2014/main" id="{A94BECF4-6273-45E0-A1A0-4B3505AE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Quelques exemples montrent le comportement attendu.</a:t>
            </a:r>
          </a:p>
        </p:txBody>
      </p:sp>
      <p:sp>
        <p:nvSpPr>
          <p:cNvPr id="5" name="Présentez des couples entrée et sortie cohérents a">
            <a:extLst xmlns:a="http://schemas.openxmlformats.org/drawingml/2006/main">
              <a:ext uri="{FF2B5EF4-FFF2-40B4-BE49-F238E27FC236}">
                <a16:creationId xmlns:a16="http://schemas.microsoft.com/office/drawing/2014/main" id="{8494633C-6A5A-4A51-B93A-CB14903A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Présentez des couples entrée et sortie cohérents avec votre tâche.</a:t>
            </a:r>
          </a:p>
        </p:txBody>
      </p:sp>
      <p:sp>
        <p:nvSpPr>
          <p:cNvPr id="6" name="Variez les exemples pour couvrir plusieurs situati">
            <a:extLst xmlns:a="http://schemas.openxmlformats.org/drawingml/2006/main">
              <a:ext uri="{FF2B5EF4-FFF2-40B4-BE49-F238E27FC236}">
                <a16:creationId xmlns:a16="http://schemas.microsoft.com/office/drawing/2014/main" id="{C0D79661-D4B6-4BE8-A990-186795EE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Variez les exemples pour couvrir plusieurs situations représentatives.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8FF62428-78F2-4A3C-AFF1-83B3DC61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s exemples guident le modèle sans garantir sa ré">
            <a:extLst xmlns:a="http://schemas.openxmlformats.org/drawingml/2006/main">
              <a:ext uri="{FF2B5EF4-FFF2-40B4-BE49-F238E27FC236}">
                <a16:creationId xmlns:a16="http://schemas.microsoft.com/office/drawing/2014/main" id="{17E63AD0-3877-4338-AA27-67F0F5EE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exemples guident le modèle sans garantir sa réussite.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5ea96c5004e3b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6 / 36">
            <a:extLst xmlns:a="http://schemas.openxmlformats.org/drawingml/2006/main">
              <a:ext uri="{FF2B5EF4-FFF2-40B4-BE49-F238E27FC236}">
                <a16:creationId xmlns:a16="http://schemas.microsoft.com/office/drawing/2014/main" id="{ED7101E9-2293-4B59-95BC-7F64C40D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06 / 36</a:t>
            </a:r>
          </a:p>
        </p:txBody>
      </p:sp>
    </p:spTree>
    <p:extLst>
      <p:ext uri="{BB962C8B-B14F-4D97-AF65-F5344CB8AC3E}">
        <p14:creationId xmlns:p14="http://schemas.microsoft.com/office/powerpoint/2010/main" val="1902463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6198C-C76C-4FF4-80AF-E5E77713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F79F061C-282A-46D6-A297-2D095E82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Exemple : classer des demandes">
            <a:extLst xmlns:a="http://schemas.openxmlformats.org/drawingml/2006/main">
              <a:ext uri="{FF2B5EF4-FFF2-40B4-BE49-F238E27FC236}">
                <a16:creationId xmlns:a16="http://schemas.microsoft.com/office/drawing/2014/main" id="{654A517D-F9F6-4BCF-89AF-5387E3FA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Exemple : classer des demandes</a:t>
            </a:r>
          </a:p>
        </p:txBody>
      </p:sp>
      <p:sp>
        <p:nvSpPr>
          <p:cNvPr id="4" name="Des exemples explicites rendent les catégories plu">
            <a:extLst xmlns:a="http://schemas.openxmlformats.org/drawingml/2006/main">
              <a:ext uri="{FF2B5EF4-FFF2-40B4-BE49-F238E27FC236}">
                <a16:creationId xmlns:a16="http://schemas.microsoft.com/office/drawing/2014/main" id="{F53A6CD9-BF19-420E-8C39-CE185334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Des exemples explicites rendent les catégories plus compréhensibles.</a:t>
            </a:r>
          </a:p>
        </p:txBody>
      </p:sp>
      <p:sp>
        <p:nvSpPr>
          <p:cNvPr id="5" name="« Où est ma facture ? » : Facturation. « Mon accès">
            <a:extLst xmlns:a="http://schemas.openxmlformats.org/drawingml/2006/main">
              <a:ext uri="{FF2B5EF4-FFF2-40B4-BE49-F238E27FC236}">
                <a16:creationId xmlns:a16="http://schemas.microsoft.com/office/drawing/2014/main" id="{568F6168-AF22-48BD-91BE-9FA37B09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« Où est ma facture ? » : Facturation. « Mon accès ne fonctionne plus » : Assistance.</a:t>
            </a:r>
          </a:p>
        </p:txBody>
      </p:sp>
      <p:sp>
        <p:nvSpPr>
          <p:cNvPr id="6" name="« Quels sont vos horaires ? » : Information. Deman">
            <a:extLst xmlns:a="http://schemas.openxmlformats.org/drawingml/2006/main">
              <a:ext uri="{FF2B5EF4-FFF2-40B4-BE49-F238E27FC236}">
                <a16:creationId xmlns:a16="http://schemas.microsoft.com/office/drawing/2014/main" id="{B893D74C-FEB9-4902-9E56-4A4BBBAB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« Quels sont vos horaires ? » : Information. Demandez ensuite le classement d’un cas nouveau.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B7EC3F54-862A-4D31-A246-FB2CF73D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Exemples fictifs. Prévoir une catégorie « À clarif">
            <a:extLst xmlns:a="http://schemas.openxmlformats.org/drawingml/2006/main">
              <a:ext uri="{FF2B5EF4-FFF2-40B4-BE49-F238E27FC236}">
                <a16:creationId xmlns:a16="http://schemas.microsoft.com/office/drawing/2014/main" id="{0FC6496C-6E67-4A63-AF24-359F9E6F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Exemples fictifs. Prévoir une catégorie « À clarifier ».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88b1f08d047b5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7 / 36">
            <a:extLst xmlns:a="http://schemas.openxmlformats.org/drawingml/2006/main">
              <a:ext uri="{FF2B5EF4-FFF2-40B4-BE49-F238E27FC236}">
                <a16:creationId xmlns:a16="http://schemas.microsoft.com/office/drawing/2014/main" id="{1EB53284-26FB-4422-86C2-F44F32B8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07 / 36</a:t>
            </a:r>
          </a:p>
        </p:txBody>
      </p:sp>
    </p:spTree>
    <p:extLst>
      <p:ext uri="{BB962C8B-B14F-4D97-AF65-F5344CB8AC3E}">
        <p14:creationId xmlns:p14="http://schemas.microsoft.com/office/powerpoint/2010/main" val="1908885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0458E-57E7-42B8-B472-4A31E5BE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437ED31B-03E4-4CCF-A380-0B3F9899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choisir des exemples">
            <a:extLst xmlns:a="http://schemas.openxmlformats.org/drawingml/2006/main">
              <a:ext uri="{FF2B5EF4-FFF2-40B4-BE49-F238E27FC236}">
                <a16:creationId xmlns:a16="http://schemas.microsoft.com/office/drawing/2014/main" id="{B168797F-CDA6-49B3-B86C-FB74849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choisir des exemples</a:t>
            </a:r>
          </a:p>
        </p:txBody>
      </p:sp>
      <p:sp>
        <p:nvSpPr>
          <p:cNvPr id="4" name="Un bon test utilise une entrée absente des exemple">
            <a:extLst xmlns:a="http://schemas.openxmlformats.org/drawingml/2006/main">
              <a:ext uri="{FF2B5EF4-FFF2-40B4-BE49-F238E27FC236}">
                <a16:creationId xmlns:a16="http://schemas.microsoft.com/office/drawing/2014/main" id="{5CFC153F-D5D9-4969-8CC9-711784D7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bon test utilise une entrée absente des exemples.</a:t>
            </a:r>
          </a:p>
        </p:txBody>
      </p:sp>
      <p:sp>
        <p:nvSpPr>
          <p:cNvPr id="5" name="Préparez quelques demandes fictives et leur catégo">
            <a:extLst xmlns:a="http://schemas.openxmlformats.org/drawingml/2006/main">
              <a:ext uri="{FF2B5EF4-FFF2-40B4-BE49-F238E27FC236}">
                <a16:creationId xmlns:a16="http://schemas.microsoft.com/office/drawing/2014/main" id="{0BC9EC7B-AD80-4939-B88E-26175B55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Préparez quelques demandes fictives et leur catégorie de référence.</a:t>
            </a:r>
          </a:p>
        </p:txBody>
      </p:sp>
      <p:sp>
        <p:nvSpPr>
          <p:cNvPr id="6" name="Testez de nouvelles demandes, dont une ambiguë, pu">
            <a:extLst xmlns:a="http://schemas.openxmlformats.org/drawingml/2006/main">
              <a:ext uri="{FF2B5EF4-FFF2-40B4-BE49-F238E27FC236}">
                <a16:creationId xmlns:a16="http://schemas.microsoft.com/office/drawing/2014/main" id="{2B8F71E2-7932-4A71-A495-3E6BDE16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Testez de nouvelles demandes, dont une ambiguë, puis comparez les résultats.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2DAEE82B-B6D4-48C8-A8EE-47241A15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exemples, cas de test et erreurs obse">
            <a:extLst xmlns:a="http://schemas.openxmlformats.org/drawingml/2006/main">
              <a:ext uri="{FF2B5EF4-FFF2-40B4-BE49-F238E27FC236}">
                <a16:creationId xmlns:a16="http://schemas.microsoft.com/office/drawing/2014/main" id="{692CF7CA-7B7B-4C6D-9CF7-8C4D7CFB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exemples, cas de test et erreurs observées.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09e0b87bd430d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8 / 36">
            <a:extLst xmlns:a="http://schemas.openxmlformats.org/drawingml/2006/main">
              <a:ext uri="{FF2B5EF4-FFF2-40B4-BE49-F238E27FC236}">
                <a16:creationId xmlns:a16="http://schemas.microsoft.com/office/drawing/2014/main" id="{61A33622-5614-4D05-957F-D6FADBEB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08 / 36</a:t>
            </a:r>
          </a:p>
        </p:txBody>
      </p:sp>
    </p:spTree>
    <p:extLst>
      <p:ext uri="{BB962C8B-B14F-4D97-AF65-F5344CB8AC3E}">
        <p14:creationId xmlns:p14="http://schemas.microsoft.com/office/powerpoint/2010/main" val="3789061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F5FF4-8F42-425B-904D-FA1652CC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C0EF72BC-DD4F-4298-A5D1-228BE85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a décomposition d’une tâche">
            <a:extLst xmlns:a="http://schemas.openxmlformats.org/drawingml/2006/main">
              <a:ext uri="{FF2B5EF4-FFF2-40B4-BE49-F238E27FC236}">
                <a16:creationId xmlns:a16="http://schemas.microsoft.com/office/drawing/2014/main" id="{C4EACBE8-A002-4599-A72C-65FDF83B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décomposition d’une tâche</a:t>
            </a:r>
          </a:p>
        </p:txBody>
      </p:sp>
      <p:sp>
        <p:nvSpPr>
          <p:cNvPr id="4" name="Des étapes distinctes rendent les erreurs plus fac">
            <a:extLst xmlns:a="http://schemas.openxmlformats.org/drawingml/2006/main">
              <a:ext uri="{FF2B5EF4-FFF2-40B4-BE49-F238E27FC236}">
                <a16:creationId xmlns:a16="http://schemas.microsoft.com/office/drawing/2014/main" id="{96F5E09F-9AD9-43B7-AC73-621BBDB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Des étapes distinctes rendent les erreurs plus faciles à localiser.</a:t>
            </a:r>
          </a:p>
        </p:txBody>
      </p:sp>
      <p:sp>
        <p:nvSpPr>
          <p:cNvPr id="5" name="Commencez par extraire les informations utiles, pu">
            <a:extLst xmlns:a="http://schemas.openxmlformats.org/drawingml/2006/main">
              <a:ext uri="{FF2B5EF4-FFF2-40B4-BE49-F238E27FC236}">
                <a16:creationId xmlns:a16="http://schemas.microsoft.com/office/drawing/2014/main" id="{F7BE12BC-C808-469B-BBDC-8BAAD547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Commencez par extraire les informations utiles, puis organisez-les.</a:t>
            </a:r>
          </a:p>
        </p:txBody>
      </p:sp>
      <p:sp>
        <p:nvSpPr>
          <p:cNvPr id="6" name="Produisez ensuite le livrable et vérifiez-le contr">
            <a:extLst xmlns:a="http://schemas.openxmlformats.org/drawingml/2006/main">
              <a:ext uri="{FF2B5EF4-FFF2-40B4-BE49-F238E27FC236}">
                <a16:creationId xmlns:a16="http://schemas.microsoft.com/office/drawing/2014/main" id="{E0CECB8A-6A3C-4B2B-9AFE-05B4C5D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Produisez ensuite le livrable et vérifiez-le contre les données d’entrée.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2985C1A6-43BD-450E-B2B4-F0C5F0BD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 contrôle intermédiaire évite de propager une er">
            <a:extLst xmlns:a="http://schemas.openxmlformats.org/drawingml/2006/main">
              <a:ext uri="{FF2B5EF4-FFF2-40B4-BE49-F238E27FC236}">
                <a16:creationId xmlns:a16="http://schemas.microsoft.com/office/drawing/2014/main" id="{52E78BB5-A657-4462-8F70-82A21F80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contrôle intermédiaire évite de propager une erreur.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93cf73043457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9 / 36">
            <a:extLst xmlns:a="http://schemas.openxmlformats.org/drawingml/2006/main">
              <a:ext uri="{FF2B5EF4-FFF2-40B4-BE49-F238E27FC236}">
                <a16:creationId xmlns:a16="http://schemas.microsoft.com/office/drawing/2014/main" id="{12653470-FFDE-4C44-914F-87776289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09 / 36</a:t>
            </a:r>
          </a:p>
        </p:txBody>
      </p:sp>
    </p:spTree>
    <p:extLst>
      <p:ext uri="{BB962C8B-B14F-4D97-AF65-F5344CB8AC3E}">
        <p14:creationId xmlns:p14="http://schemas.microsoft.com/office/powerpoint/2010/main" val="13222536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E6C91-935A-4065-A90D-D820006A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28A43E61-ABC7-4A3F-BAB0-A28C421F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Une justification vérifiable">
            <a:extLst xmlns:a="http://schemas.openxmlformats.org/drawingml/2006/main">
              <a:ext uri="{FF2B5EF4-FFF2-40B4-BE49-F238E27FC236}">
                <a16:creationId xmlns:a16="http://schemas.microsoft.com/office/drawing/2014/main" id="{BE5CA748-D873-41E6-ACD5-D18A1E60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Une justification vérifiable</a:t>
            </a:r>
          </a:p>
        </p:txBody>
      </p:sp>
      <p:sp>
        <p:nvSpPr>
          <p:cNvPr id="4" name="La réponse peut expliquer ses choix de manière con">
            <a:extLst xmlns:a="http://schemas.openxmlformats.org/drawingml/2006/main">
              <a:ext uri="{FF2B5EF4-FFF2-40B4-BE49-F238E27FC236}">
                <a16:creationId xmlns:a16="http://schemas.microsoft.com/office/drawing/2014/main" id="{3B79BB87-4C8E-42B0-AAD5-4DB5D49B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réponse peut expliquer ses choix de manière concise.</a:t>
            </a:r>
          </a:p>
        </p:txBody>
      </p:sp>
      <p:sp>
        <p:nvSpPr>
          <p:cNvPr id="5" name="Demandez les hypothèses retenues et les sources ut">
            <a:extLst xmlns:a="http://schemas.openxmlformats.org/drawingml/2006/main">
              <a:ext uri="{FF2B5EF4-FFF2-40B4-BE49-F238E27FC236}">
                <a16:creationId xmlns:a16="http://schemas.microsoft.com/office/drawing/2014/main" id="{DC034CBA-E91C-4812-8E11-A9BEED49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les hypothèses retenues et les sources utilisées.</a:t>
            </a:r>
          </a:p>
        </p:txBody>
      </p:sp>
      <p:sp>
        <p:nvSpPr>
          <p:cNvPr id="6" name="Contrôlez cette explication avec les données dispo">
            <a:extLst xmlns:a="http://schemas.openxmlformats.org/drawingml/2006/main">
              <a:ext uri="{FF2B5EF4-FFF2-40B4-BE49-F238E27FC236}">
                <a16:creationId xmlns:a16="http://schemas.microsoft.com/office/drawing/2014/main" id="{58A5104B-2AA2-4D79-A05E-BF9FA645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Contrôlez cette explication avec les données disponibles.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F4556FD9-4351-4B68-9B7A-568A2308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explication convaincante peut contenir des err">
            <a:extLst xmlns:a="http://schemas.openxmlformats.org/drawingml/2006/main">
              <a:ext uri="{FF2B5EF4-FFF2-40B4-BE49-F238E27FC236}">
                <a16:creationId xmlns:a16="http://schemas.microsoft.com/office/drawing/2014/main" id="{3D2093C1-4822-43C7-9236-B61BC7B5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explication convaincante peut contenir des erreurs.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8b74da00d46bc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0 / 36">
            <a:extLst xmlns:a="http://schemas.openxmlformats.org/drawingml/2006/main">
              <a:ext uri="{FF2B5EF4-FFF2-40B4-BE49-F238E27FC236}">
                <a16:creationId xmlns:a16="http://schemas.microsoft.com/office/drawing/2014/main" id="{617F9556-F970-491D-BE30-9A546BFA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10 / 36</a:t>
            </a:r>
          </a:p>
        </p:txBody>
      </p:sp>
    </p:spTree>
    <p:extLst>
      <p:ext uri="{BB962C8B-B14F-4D97-AF65-F5344CB8AC3E}">
        <p14:creationId xmlns:p14="http://schemas.microsoft.com/office/powerpoint/2010/main" val="10430949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F935B-A539-4E6C-97E1-604950F8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57DB995F-E233-4B25-AC20-AC415C64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Comparaison de deux méthodes">
            <a:extLst xmlns:a="http://schemas.openxmlformats.org/drawingml/2006/main">
              <a:ext uri="{FF2B5EF4-FFF2-40B4-BE49-F238E27FC236}">
                <a16:creationId xmlns:a16="http://schemas.microsoft.com/office/drawing/2014/main" id="{2AB79F31-4303-42E6-A18D-7CBF68C3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Comparaison de deux méthodes</a:t>
            </a:r>
          </a:p>
        </p:txBody>
      </p:sp>
      <p:sp>
        <p:nvSpPr>
          <p:cNvPr id="4" name="La même tâche permet une comparaison équitable.">
            <a:extLst xmlns:a="http://schemas.openxmlformats.org/drawingml/2006/main">
              <a:ext uri="{FF2B5EF4-FFF2-40B4-BE49-F238E27FC236}">
                <a16:creationId xmlns:a16="http://schemas.microsoft.com/office/drawing/2014/main" id="{4EB6DF95-0C32-45AA-B884-BF1014BA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même tâche permet une comparaison équitable.</a:t>
            </a:r>
          </a:p>
        </p:txBody>
      </p:sp>
      <p:sp>
        <p:nvSpPr>
          <p:cNvPr id="5" name="Méthode A : demander directement la synthèse d’un ">
            <a:extLst xmlns:a="http://schemas.openxmlformats.org/drawingml/2006/main">
              <a:ext uri="{FF2B5EF4-FFF2-40B4-BE49-F238E27FC236}">
                <a16:creationId xmlns:a16="http://schemas.microsoft.com/office/drawing/2014/main" id="{6633E57D-DB6B-40AB-9FC6-7B1699DF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Méthode A : demander directement la synthèse d’un compte rendu.</a:t>
            </a:r>
          </a:p>
        </p:txBody>
      </p:sp>
      <p:sp>
        <p:nvSpPr>
          <p:cNvPr id="6" name="Méthode B : extraire les décisions, vérifier, puis">
            <a:extLst xmlns:a="http://schemas.openxmlformats.org/drawingml/2006/main">
              <a:ext uri="{FF2B5EF4-FFF2-40B4-BE49-F238E27FC236}">
                <a16:creationId xmlns:a16="http://schemas.microsoft.com/office/drawing/2014/main" id="{84D8F986-B9AA-4AEF-8898-6F341648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Méthode B : extraire les décisions, vérifier, puis rédiger la synthèse.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E878D754-C946-4388-8DBD-D6896F5D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mparer fidélité, omissions et temps de correctio">
            <a:extLst xmlns:a="http://schemas.openxmlformats.org/drawingml/2006/main">
              <a:ext uri="{FF2B5EF4-FFF2-40B4-BE49-F238E27FC236}">
                <a16:creationId xmlns:a16="http://schemas.microsoft.com/office/drawing/2014/main" id="{922A608E-35EF-41F0-93BE-BE1A538F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Comparer fidélité, omissions et temps de correction.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2872b82304c7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1 / 36">
            <a:extLst xmlns:a="http://schemas.openxmlformats.org/drawingml/2006/main">
              <a:ext uri="{FF2B5EF4-FFF2-40B4-BE49-F238E27FC236}">
                <a16:creationId xmlns:a16="http://schemas.microsoft.com/office/drawing/2014/main" id="{C829BF3E-583F-4F3D-A0EB-85302BA7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11 / 36</a:t>
            </a:r>
          </a:p>
        </p:txBody>
      </p:sp>
    </p:spTree>
    <p:extLst>
      <p:ext uri="{BB962C8B-B14F-4D97-AF65-F5344CB8AC3E}">
        <p14:creationId xmlns:p14="http://schemas.microsoft.com/office/powerpoint/2010/main" val="1125846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F147A-DB79-46F7-9F4C-5C9378A9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BB38C695-F81F-46ED-BC72-4A2C4951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s étapes d’un processus">
            <a:extLst xmlns:a="http://schemas.openxmlformats.org/drawingml/2006/main">
              <a:ext uri="{FF2B5EF4-FFF2-40B4-BE49-F238E27FC236}">
                <a16:creationId xmlns:a16="http://schemas.microsoft.com/office/drawing/2014/main" id="{0FBC222E-DC9F-4355-8559-87D64838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étapes d’un processus</a:t>
            </a:r>
          </a:p>
        </p:txBody>
      </p:sp>
      <p:sp>
        <p:nvSpPr>
          <p:cNvPr id="4" name="Un processus décrit ce qui entre, ce qui se passe ">
            <a:extLst xmlns:a="http://schemas.openxmlformats.org/drawingml/2006/main">
              <a:ext uri="{FF2B5EF4-FFF2-40B4-BE49-F238E27FC236}">
                <a16:creationId xmlns:a16="http://schemas.microsoft.com/office/drawing/2014/main" id="{C7F6303E-096B-4A18-BFCE-D1C67A06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processus décrit ce qui entre, ce qui se passe et ce qui sort.</a:t>
            </a:r>
          </a:p>
        </p:txBody>
      </p:sp>
      <p:sp>
        <p:nvSpPr>
          <p:cNvPr id="5" name="Entrée : données nécessaires. Traitement : tâches ">
            <a:extLst xmlns:a="http://schemas.openxmlformats.org/drawingml/2006/main">
              <a:ext uri="{FF2B5EF4-FFF2-40B4-BE49-F238E27FC236}">
                <a16:creationId xmlns:a16="http://schemas.microsoft.com/office/drawing/2014/main" id="{FA103F43-A410-4E70-BC48-B2AA0602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Entrée : données nécessaires. Traitement : tâches successives.</a:t>
            </a:r>
          </a:p>
        </p:txBody>
      </p:sp>
      <p:sp>
        <p:nvSpPr>
          <p:cNvPr id="6" name="Contrôle : critères de validation. Sortie : livrab">
            <a:extLst xmlns:a="http://schemas.openxmlformats.org/drawingml/2006/main">
              <a:ext uri="{FF2B5EF4-FFF2-40B4-BE49-F238E27FC236}">
                <a16:creationId xmlns:a16="http://schemas.microsoft.com/office/drawing/2014/main" id="{A0C82E3C-BD62-4A50-9C3E-6D6F2F1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Contrôle : critères de validation. Sortie : livrable et destinataire.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C82E467D-1280-4423-B903-BB2E4919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Nommer une personne responsable de la validation f">
            <a:extLst xmlns:a="http://schemas.openxmlformats.org/drawingml/2006/main">
              <a:ext uri="{FF2B5EF4-FFF2-40B4-BE49-F238E27FC236}">
                <a16:creationId xmlns:a16="http://schemas.microsoft.com/office/drawing/2014/main" id="{6A4B3D02-B05A-43BD-B39A-1BC39873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Nommer une personne responsable de la validation finale.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ae8bc82f645b4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2 / 36">
            <a:extLst xmlns:a="http://schemas.openxmlformats.org/drawingml/2006/main">
              <a:ext uri="{FF2B5EF4-FFF2-40B4-BE49-F238E27FC236}">
                <a16:creationId xmlns:a16="http://schemas.microsoft.com/office/drawing/2014/main" id="{5BBC52A5-4C0C-405D-9015-87A7B500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12 / 36</a:t>
            </a:r>
          </a:p>
        </p:txBody>
      </p:sp>
    </p:spTree>
    <p:extLst>
      <p:ext uri="{BB962C8B-B14F-4D97-AF65-F5344CB8AC3E}">
        <p14:creationId xmlns:p14="http://schemas.microsoft.com/office/powerpoint/2010/main" val="578828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14BFB-6AF0-46DE-8836-E256394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8B8C0EDA-865A-48F2-BD9D-4503CF18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 format de sortie">
            <a:extLst xmlns:a="http://schemas.openxmlformats.org/drawingml/2006/main">
              <a:ext uri="{FF2B5EF4-FFF2-40B4-BE49-F238E27FC236}">
                <a16:creationId xmlns:a16="http://schemas.microsoft.com/office/drawing/2014/main" id="{54CB5660-BB88-49BC-B5D6-612BBA83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format de sortie</a:t>
            </a:r>
          </a:p>
        </p:txBody>
      </p:sp>
      <p:sp>
        <p:nvSpPr>
          <p:cNvPr id="4" name="Un format explicite facilite la relecture et la ré">
            <a:extLst xmlns:a="http://schemas.openxmlformats.org/drawingml/2006/main">
              <a:ext uri="{FF2B5EF4-FFF2-40B4-BE49-F238E27FC236}">
                <a16:creationId xmlns:a16="http://schemas.microsoft.com/office/drawing/2014/main" id="{F258FCAB-1626-4237-978C-1B7491A7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format explicite facilite la relecture et la réutilisation.</a:t>
            </a:r>
          </a:p>
        </p:txBody>
      </p:sp>
      <p:sp>
        <p:nvSpPr>
          <p:cNvPr id="5" name="Exemple : un tableau avec Décision, Responsable et">
            <a:extLst xmlns:a="http://schemas.openxmlformats.org/drawingml/2006/main">
              <a:ext uri="{FF2B5EF4-FFF2-40B4-BE49-F238E27FC236}">
                <a16:creationId xmlns:a16="http://schemas.microsoft.com/office/drawing/2014/main" id="{6945B2CB-0498-4287-A567-CCF88C5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Exemple : un tableau avec Décision, Responsable et Échéance.</a:t>
            </a:r>
          </a:p>
        </p:txBody>
      </p:sp>
      <p:sp>
        <p:nvSpPr>
          <p:cNvPr id="6" name="Si une information manque, demander « Non précisé ">
            <a:extLst xmlns:a="http://schemas.openxmlformats.org/drawingml/2006/main">
              <a:ext uri="{FF2B5EF4-FFF2-40B4-BE49-F238E27FC236}">
                <a16:creationId xmlns:a16="http://schemas.microsoft.com/office/drawing/2014/main" id="{1DC03103-A380-410C-BCB9-578FBCB7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Si une information manque, demander « Non précisé » plutôt qu’une valeur inventée.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2B0F6F0-B3CD-43D3-9574-7166C060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s champs structurés exigent aussi une vérificati">
            <a:extLst xmlns:a="http://schemas.openxmlformats.org/drawingml/2006/main">
              <a:ext uri="{FF2B5EF4-FFF2-40B4-BE49-F238E27FC236}">
                <a16:creationId xmlns:a16="http://schemas.microsoft.com/office/drawing/2014/main" id="{ECB116C5-93CE-4B52-90EC-8C6A6F94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champs structurés exigent aussi une vérification du contenu.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fb5acc71d44fb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3 / 36">
            <a:extLst xmlns:a="http://schemas.openxmlformats.org/drawingml/2006/main">
              <a:ext uri="{FF2B5EF4-FFF2-40B4-BE49-F238E27FC236}">
                <a16:creationId xmlns:a16="http://schemas.microsoft.com/office/drawing/2014/main" id="{44D7FEE0-80D3-4613-99C0-7CC85BBA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13 / 36</a:t>
            </a:r>
          </a:p>
        </p:txBody>
      </p:sp>
    </p:spTree>
    <p:extLst>
      <p:ext uri="{BB962C8B-B14F-4D97-AF65-F5344CB8AC3E}">
        <p14:creationId xmlns:p14="http://schemas.microsoft.com/office/powerpoint/2010/main" val="10899028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5C983-0953-4873-B75D-243CD602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9257A3FA-641F-4BAF-8DBB-E9BC793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s variables d’un prompt">
            <a:extLst xmlns:a="http://schemas.openxmlformats.org/drawingml/2006/main">
              <a:ext uri="{FF2B5EF4-FFF2-40B4-BE49-F238E27FC236}">
                <a16:creationId xmlns:a16="http://schemas.microsoft.com/office/drawing/2014/main" id="{5B44C631-4F04-4B85-B906-D64D06C6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variables d’un prompt</a:t>
            </a:r>
          </a:p>
        </p:txBody>
      </p:sp>
      <p:sp>
        <p:nvSpPr>
          <p:cNvPr id="4" name="Les champs à compléter rendent une consigne adapta">
            <a:extLst xmlns:a="http://schemas.openxmlformats.org/drawingml/2006/main">
              <a:ext uri="{FF2B5EF4-FFF2-40B4-BE49-F238E27FC236}">
                <a16:creationId xmlns:a16="http://schemas.microsoft.com/office/drawing/2014/main" id="{E3AA099A-17DD-4A5A-8864-97CFFCB0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champs à compléter rendent une consigne adaptable.</a:t>
            </a:r>
          </a:p>
        </p:txBody>
      </p:sp>
      <p:sp>
        <p:nvSpPr>
          <p:cNvPr id="5" name="« Résume [document] pour [public] dans [format]. »">
            <a:extLst xmlns:a="http://schemas.openxmlformats.org/drawingml/2006/main">
              <a:ext uri="{FF2B5EF4-FFF2-40B4-BE49-F238E27FC236}">
                <a16:creationId xmlns:a16="http://schemas.microsoft.com/office/drawing/2014/main" id="{C49ED7C5-002F-41F4-BBE0-7C3EB3D6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« Résume [document] pour [public] dans [format]. »</a:t>
            </a:r>
          </a:p>
        </p:txBody>
      </p:sp>
      <p:sp>
        <p:nvSpPr>
          <p:cNvPr id="6" name="« Conserve [informations indispensables] et signal">
            <a:extLst xmlns:a="http://schemas.openxmlformats.org/drawingml/2006/main">
              <a:ext uri="{FF2B5EF4-FFF2-40B4-BE49-F238E27FC236}">
                <a16:creationId xmlns:a16="http://schemas.microsoft.com/office/drawing/2014/main" id="{53ECD767-83A0-4F8A-A92D-8FC94FFD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« Conserve [informations indispensables] et signale [éléments manquants]. »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7D04C49A-E2B4-48FC-A6A0-0AAB7DFD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Documenter le sens de chaque variable.">
            <a:extLst xmlns:a="http://schemas.openxmlformats.org/drawingml/2006/main">
              <a:ext uri="{FF2B5EF4-FFF2-40B4-BE49-F238E27FC236}">
                <a16:creationId xmlns:a16="http://schemas.microsoft.com/office/drawing/2014/main" id="{A1AF5443-A91B-40D2-BA82-0A621892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Documenter le sens de chaque variable.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f36259847400e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4 / 36">
            <a:extLst xmlns:a="http://schemas.openxmlformats.org/drawingml/2006/main">
              <a:ext uri="{FF2B5EF4-FFF2-40B4-BE49-F238E27FC236}">
                <a16:creationId xmlns:a16="http://schemas.microsoft.com/office/drawing/2014/main" id="{3EEADA93-6CDE-45BB-957C-4EEA63C8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14 / 36</a:t>
            </a:r>
          </a:p>
        </p:txBody>
      </p:sp>
    </p:spTree>
    <p:extLst>
      <p:ext uri="{BB962C8B-B14F-4D97-AF65-F5344CB8AC3E}">
        <p14:creationId xmlns:p14="http://schemas.microsoft.com/office/powerpoint/2010/main" val="3361757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F64B4-49AB-4D51-AE91-6A4382E8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00342394-4945-4DF6-BA41-5297BF2C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compte rendu">
            <a:extLst xmlns:a="http://schemas.openxmlformats.org/drawingml/2006/main">
              <a:ext uri="{FF2B5EF4-FFF2-40B4-BE49-F238E27FC236}">
                <a16:creationId xmlns:a16="http://schemas.microsoft.com/office/drawing/2014/main" id="{DA0F2C45-5C39-4050-9332-7B3C7EB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compte rendu</a:t>
            </a:r>
          </a:p>
        </p:txBody>
      </p:sp>
      <p:sp>
        <p:nvSpPr>
          <p:cNvPr id="4" name="Transformer des notes fictives en un document expl">
            <a:extLst xmlns:a="http://schemas.openxmlformats.org/drawingml/2006/main">
              <a:ext uri="{FF2B5EF4-FFF2-40B4-BE49-F238E27FC236}">
                <a16:creationId xmlns:a16="http://schemas.microsoft.com/office/drawing/2014/main" id="{62FF6944-2FE5-4437-9F82-1E8C9DD8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Transformer des notes fictives en un document exploitable.</a:t>
            </a:r>
          </a:p>
        </p:txBody>
      </p:sp>
      <p:sp>
        <p:nvSpPr>
          <p:cNvPr id="5" name="Préparez des notes avec décisions, questions ouver">
            <a:extLst xmlns:a="http://schemas.openxmlformats.org/drawingml/2006/main">
              <a:ext uri="{FF2B5EF4-FFF2-40B4-BE49-F238E27FC236}">
                <a16:creationId xmlns:a16="http://schemas.microsoft.com/office/drawing/2014/main" id="{50BAEEED-AA0B-4284-9C4C-C5256FEA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Préparez des notes avec décisions, questions ouvertes et informations manquantes.</a:t>
            </a:r>
          </a:p>
        </p:txBody>
      </p:sp>
      <p:sp>
        <p:nvSpPr>
          <p:cNvPr id="6" name="Produisez le compte rendu, puis comparez chaque li">
            <a:extLst xmlns:a="http://schemas.openxmlformats.org/drawingml/2006/main">
              <a:ext uri="{FF2B5EF4-FFF2-40B4-BE49-F238E27FC236}">
                <a16:creationId xmlns:a16="http://schemas.microsoft.com/office/drawing/2014/main" id="{1C64BFA5-E70C-4FE3-B386-EB3EE9D2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Produisez le compte rendu, puis comparez chaque ligne aux notes.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6B185ED9-718F-4639-81B6-F75677EF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notes, prompt, compte rendu et correc">
            <a:extLst xmlns:a="http://schemas.openxmlformats.org/drawingml/2006/main">
              <a:ext uri="{FF2B5EF4-FFF2-40B4-BE49-F238E27FC236}">
                <a16:creationId xmlns:a16="http://schemas.microsoft.com/office/drawing/2014/main" id="{9081F436-059E-4200-A263-6B040F84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notes, prompt, compte rendu et corrections.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69da251fb48b7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5 / 36">
            <a:extLst xmlns:a="http://schemas.openxmlformats.org/drawingml/2006/main">
              <a:ext uri="{FF2B5EF4-FFF2-40B4-BE49-F238E27FC236}">
                <a16:creationId xmlns:a16="http://schemas.microsoft.com/office/drawing/2014/main" id="{F9E2DA28-58D2-4E27-A1AC-3FEC67A5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15 / 36</a:t>
            </a:r>
          </a:p>
        </p:txBody>
      </p:sp>
    </p:spTree>
    <p:extLst>
      <p:ext uri="{BB962C8B-B14F-4D97-AF65-F5344CB8AC3E}">
        <p14:creationId xmlns:p14="http://schemas.microsoft.com/office/powerpoint/2010/main" val="3819349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C689C-B34F-4BDF-BBFF-3E96607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7AAB0FBB-6F6A-4ED9-9D1B-E1B662C6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s points de contrôle">
            <a:extLst xmlns:a="http://schemas.openxmlformats.org/drawingml/2006/main">
              <a:ext uri="{FF2B5EF4-FFF2-40B4-BE49-F238E27FC236}">
                <a16:creationId xmlns:a16="http://schemas.microsoft.com/office/drawing/2014/main" id="{AD5E2579-65B7-4F22-8542-EB91BBA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points de contrôle</a:t>
            </a:r>
          </a:p>
        </p:txBody>
      </p:sp>
      <p:sp>
        <p:nvSpPr>
          <p:cNvPr id="4" name="Chaque contrôle correspond à un risque concret.">
            <a:extLst xmlns:a="http://schemas.openxmlformats.org/drawingml/2006/main">
              <a:ext uri="{FF2B5EF4-FFF2-40B4-BE49-F238E27FC236}">
                <a16:creationId xmlns:a16="http://schemas.microsoft.com/office/drawing/2014/main" id="{B0B70DB6-ED05-49D1-972B-9BCF3C81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Chaque contrôle correspond à un risque concret.</a:t>
            </a:r>
          </a:p>
        </p:txBody>
      </p:sp>
      <p:sp>
        <p:nvSpPr>
          <p:cNvPr id="5" name="Vérifiez les dates, les montants et les engagement">
            <a:extLst xmlns:a="http://schemas.openxmlformats.org/drawingml/2006/main">
              <a:ext uri="{FF2B5EF4-FFF2-40B4-BE49-F238E27FC236}">
                <a16:creationId xmlns:a16="http://schemas.microsoft.com/office/drawing/2014/main" id="{E804FA36-B9EF-4721-8322-0699ADDE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Vérifiez les dates, les montants et les engagements présents dans la source.</a:t>
            </a:r>
          </a:p>
        </p:txBody>
      </p:sp>
      <p:sp>
        <p:nvSpPr>
          <p:cNvPr id="6" name="Repérez les contradictions et les éléments qui dem">
            <a:extLst xmlns:a="http://schemas.openxmlformats.org/drawingml/2006/main">
              <a:ext uri="{FF2B5EF4-FFF2-40B4-BE49-F238E27FC236}">
                <a16:creationId xmlns:a16="http://schemas.microsoft.com/office/drawing/2014/main" id="{24F1F155-7EFB-40B6-8654-E688732C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Repérez les contradictions et les éléments qui demandent une clarification.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F527FA10-BC6D-44F6-AF0F-8922D9F2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validation explicite précède toute diffusion.">
            <a:extLst xmlns:a="http://schemas.openxmlformats.org/drawingml/2006/main">
              <a:ext uri="{FF2B5EF4-FFF2-40B4-BE49-F238E27FC236}">
                <a16:creationId xmlns:a16="http://schemas.microsoft.com/office/drawing/2014/main" id="{5D70BCBC-5BBA-48BE-B5DD-4A447131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validation explicite précède toute diffusion.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6f29b6a344f1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6 / 36">
            <a:extLst xmlns:a="http://schemas.openxmlformats.org/drawingml/2006/main">
              <a:ext uri="{FF2B5EF4-FFF2-40B4-BE49-F238E27FC236}">
                <a16:creationId xmlns:a16="http://schemas.microsoft.com/office/drawing/2014/main" id="{786A3FE1-B1EA-4FD1-993E-CF3E3BD9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16 / 36</a:t>
            </a:r>
          </a:p>
        </p:txBody>
      </p:sp>
    </p:spTree>
    <p:extLst>
      <p:ext uri="{BB962C8B-B14F-4D97-AF65-F5344CB8AC3E}">
        <p14:creationId xmlns:p14="http://schemas.microsoft.com/office/powerpoint/2010/main" val="13485649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EFF26-761B-48A7-93C9-105866C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BCFA38A5-B2CA-4865-8F87-B23F256C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s critères de qualité">
            <a:extLst xmlns:a="http://schemas.openxmlformats.org/drawingml/2006/main">
              <a:ext uri="{FF2B5EF4-FFF2-40B4-BE49-F238E27FC236}">
                <a16:creationId xmlns:a16="http://schemas.microsoft.com/office/drawing/2014/main" id="{69829CBD-FAA9-4553-A462-AFE30698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critères de qualité</a:t>
            </a:r>
          </a:p>
        </p:txBody>
      </p:sp>
      <p:sp>
        <p:nvSpPr>
          <p:cNvPr id="4" name="La qualité dépend de la tâche et du public.">
            <a:extLst xmlns:a="http://schemas.openxmlformats.org/drawingml/2006/main">
              <a:ext uri="{FF2B5EF4-FFF2-40B4-BE49-F238E27FC236}">
                <a16:creationId xmlns:a16="http://schemas.microsoft.com/office/drawing/2014/main" id="{64EB9AFA-4829-4423-BA2C-8D227A9C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qualité dépend de la tâche et du public.</a:t>
            </a:r>
          </a:p>
        </p:txBody>
      </p:sp>
      <p:sp>
        <p:nvSpPr>
          <p:cNvPr id="5" name="Fidélité : respect des sources. Complétude : éléme">
            <a:extLst xmlns:a="http://schemas.openxmlformats.org/drawingml/2006/main">
              <a:ext uri="{FF2B5EF4-FFF2-40B4-BE49-F238E27FC236}">
                <a16:creationId xmlns:a16="http://schemas.microsoft.com/office/drawing/2014/main" id="{8C3CCB73-5B71-40B8-B5CF-774BE7B5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Fidélité : respect des sources. Complétude : éléments attendus présents.</a:t>
            </a:r>
          </a:p>
        </p:txBody>
      </p:sp>
      <p:sp>
        <p:nvSpPr>
          <p:cNvPr id="6" name="Lisibilité : compréhension. Utilité : adéquation a">
            <a:extLst xmlns:a="http://schemas.openxmlformats.org/drawingml/2006/main">
              <a:ext uri="{FF2B5EF4-FFF2-40B4-BE49-F238E27FC236}">
                <a16:creationId xmlns:a16="http://schemas.microsoft.com/office/drawing/2014/main" id="{969B3B8E-6D1A-4A85-9E99-D351E653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Lisibilité : compréhension. Utilité : adéquation au besoin.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46774EB-BE4D-4347-A4B2-A548AD83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Définir ces critères avant de comparer les réponse">
            <a:extLst xmlns:a="http://schemas.openxmlformats.org/drawingml/2006/main">
              <a:ext uri="{FF2B5EF4-FFF2-40B4-BE49-F238E27FC236}">
                <a16:creationId xmlns:a16="http://schemas.microsoft.com/office/drawing/2014/main" id="{DC03B8B2-6B96-4976-973A-FDA2B9E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Définir ces critères avant de comparer les réponses.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2a0c9b0ab4bc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7 / 36">
            <a:extLst xmlns:a="http://schemas.openxmlformats.org/drawingml/2006/main">
              <a:ext uri="{FF2B5EF4-FFF2-40B4-BE49-F238E27FC236}">
                <a16:creationId xmlns:a16="http://schemas.microsoft.com/office/drawing/2014/main" id="{A88010BB-84B3-4A8E-8D3B-3F4E39DB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17 / 36</a:t>
            </a:r>
          </a:p>
        </p:txBody>
      </p:sp>
    </p:spTree>
    <p:extLst>
      <p:ext uri="{BB962C8B-B14F-4D97-AF65-F5344CB8AC3E}">
        <p14:creationId xmlns:p14="http://schemas.microsoft.com/office/powerpoint/2010/main" val="17948686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B3850-F58A-4A14-B673-F7D4E944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B914B0A3-C6BB-4128-A313-8DFCB772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Un jeu de tests">
            <a:extLst xmlns:a="http://schemas.openxmlformats.org/drawingml/2006/main">
              <a:ext uri="{FF2B5EF4-FFF2-40B4-BE49-F238E27FC236}">
                <a16:creationId xmlns:a16="http://schemas.microsoft.com/office/drawing/2014/main" id="{665CE836-C923-4682-A7B0-92BF98AC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Un jeu de tests</a:t>
            </a:r>
          </a:p>
        </p:txBody>
      </p:sp>
      <p:sp>
        <p:nvSpPr>
          <p:cNvPr id="4" name="Des cas de référence permettent de suivre les amél">
            <a:extLst xmlns:a="http://schemas.openxmlformats.org/drawingml/2006/main">
              <a:ext uri="{FF2B5EF4-FFF2-40B4-BE49-F238E27FC236}">
                <a16:creationId xmlns:a16="http://schemas.microsoft.com/office/drawing/2014/main" id="{F483E497-4379-4662-8B2B-98151458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Des cas de référence permettent de suivre les améliorations.</a:t>
            </a:r>
          </a:p>
        </p:txBody>
      </p:sp>
      <p:sp>
        <p:nvSpPr>
          <p:cNvPr id="5" name="Conservez des entrées représentatives avec le résu">
            <a:extLst xmlns:a="http://schemas.openxmlformats.org/drawingml/2006/main">
              <a:ext uri="{FF2B5EF4-FFF2-40B4-BE49-F238E27FC236}">
                <a16:creationId xmlns:a16="http://schemas.microsoft.com/office/drawing/2014/main" id="{1FFB77AB-9DC1-45A9-B70D-7482ADF9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des entrées représentatives avec le résultat ou les critères attendus.</a:t>
            </a:r>
          </a:p>
        </p:txBody>
      </p:sp>
      <p:sp>
        <p:nvSpPr>
          <p:cNvPr id="6" name="Réutilisez les mêmes cas après chaque modification">
            <a:extLst xmlns:a="http://schemas.openxmlformats.org/drawingml/2006/main">
              <a:ext uri="{FF2B5EF4-FFF2-40B4-BE49-F238E27FC236}">
                <a16:creationId xmlns:a16="http://schemas.microsoft.com/office/drawing/2014/main" id="{08E95E65-6D0B-4C2B-8BDB-74A1BD33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Réutilisez les mêmes cas après chaque modification importante.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781E8C7F-93B4-4E12-B468-6116E7FE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Séparer les exemples du prompt des cas utilisés po">
            <a:extLst xmlns:a="http://schemas.openxmlformats.org/drawingml/2006/main">
              <a:ext uri="{FF2B5EF4-FFF2-40B4-BE49-F238E27FC236}">
                <a16:creationId xmlns:a16="http://schemas.microsoft.com/office/drawing/2014/main" id="{0BD35D37-3DC2-4542-A898-52F9EF08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Séparer les exemples du prompt des cas utilisés pour l’évaluer.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b40b69ea849da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8 / 36">
            <a:extLst xmlns:a="http://schemas.openxmlformats.org/drawingml/2006/main">
              <a:ext uri="{FF2B5EF4-FFF2-40B4-BE49-F238E27FC236}">
                <a16:creationId xmlns:a16="http://schemas.microsoft.com/office/drawing/2014/main" id="{130BD673-262C-4638-B7E5-8350B1BD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18 / 36</a:t>
            </a:r>
          </a:p>
        </p:txBody>
      </p:sp>
    </p:spTree>
    <p:extLst>
      <p:ext uri="{BB962C8B-B14F-4D97-AF65-F5344CB8AC3E}">
        <p14:creationId xmlns:p14="http://schemas.microsoft.com/office/powerpoint/2010/main" val="20523211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71D99-1BA7-40D3-B1CF-45A4D4B1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E58B652A-B9EC-4FFB-B0CF-9E090C55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s cas limites">
            <a:extLst xmlns:a="http://schemas.openxmlformats.org/drawingml/2006/main">
              <a:ext uri="{FF2B5EF4-FFF2-40B4-BE49-F238E27FC236}">
                <a16:creationId xmlns:a16="http://schemas.microsoft.com/office/drawing/2014/main" id="{707F6EE7-DE33-4BB9-9F1F-67FEC31D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cas limites</a:t>
            </a:r>
          </a:p>
        </p:txBody>
      </p:sp>
      <p:sp>
        <p:nvSpPr>
          <p:cNvPr id="4" name="Un processus doit aussi gérer les demandes diffici">
            <a:extLst xmlns:a="http://schemas.openxmlformats.org/drawingml/2006/main">
              <a:ext uri="{FF2B5EF4-FFF2-40B4-BE49-F238E27FC236}">
                <a16:creationId xmlns:a16="http://schemas.microsoft.com/office/drawing/2014/main" id="{5D075B6E-38D2-4B65-AFF8-C31A312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processus doit aussi gérer les demandes difficiles.</a:t>
            </a:r>
          </a:p>
        </p:txBody>
      </p:sp>
      <p:sp>
        <p:nvSpPr>
          <p:cNvPr id="5" name="Testez une consigne ambiguë, une source absente et">
            <a:extLst xmlns:a="http://schemas.openxmlformats.org/drawingml/2006/main">
              <a:ext uri="{FF2B5EF4-FFF2-40B4-BE49-F238E27FC236}">
                <a16:creationId xmlns:a16="http://schemas.microsoft.com/office/drawing/2014/main" id="{AF8E3CEF-2CCC-4EFD-8A10-978B32AE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Testez une consigne ambiguë, une source absente et des informations contradictoires.</a:t>
            </a:r>
          </a:p>
        </p:txBody>
      </p:sp>
      <p:sp>
        <p:nvSpPr>
          <p:cNvPr id="6" name="Vérifiez que le système demande une précision ou i">
            <a:extLst xmlns:a="http://schemas.openxmlformats.org/drawingml/2006/main">
              <a:ext uri="{FF2B5EF4-FFF2-40B4-BE49-F238E27FC236}">
                <a16:creationId xmlns:a16="http://schemas.microsoft.com/office/drawing/2014/main" id="{DB8BB598-9387-4582-9BDB-43C767B5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Vérifiez que le système demande une précision ou indique une limite.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958D951A-33B7-4C96-BBCA-98275658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réponse prudente peut être la bonne réponse.">
            <a:extLst xmlns:a="http://schemas.openxmlformats.org/drawingml/2006/main">
              <a:ext uri="{FF2B5EF4-FFF2-40B4-BE49-F238E27FC236}">
                <a16:creationId xmlns:a16="http://schemas.microsoft.com/office/drawing/2014/main" id="{13D7AF4B-2309-4EDE-BB0B-4D63C781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réponse prudente peut être la bonne réponse.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b74c5da084999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9 / 36">
            <a:extLst xmlns:a="http://schemas.openxmlformats.org/drawingml/2006/main">
              <a:ext uri="{FF2B5EF4-FFF2-40B4-BE49-F238E27FC236}">
                <a16:creationId xmlns:a16="http://schemas.microsoft.com/office/drawing/2014/main" id="{3F199385-B2CC-4AA6-B0F2-E7692477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19 / 36</a:t>
            </a:r>
          </a:p>
        </p:txBody>
      </p:sp>
    </p:spTree>
    <p:extLst>
      <p:ext uri="{BB962C8B-B14F-4D97-AF65-F5344CB8AC3E}">
        <p14:creationId xmlns:p14="http://schemas.microsoft.com/office/powerpoint/2010/main" val="5502050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323D9-A0B2-41FB-A860-CEBD07DF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07CA22A8-4C24-47CD-9615-28EF928A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a confidentialité">
            <a:extLst xmlns:a="http://schemas.openxmlformats.org/drawingml/2006/main">
              <a:ext uri="{FF2B5EF4-FFF2-40B4-BE49-F238E27FC236}">
                <a16:creationId xmlns:a16="http://schemas.microsoft.com/office/drawing/2014/main" id="{45A49376-08E5-4DCA-A5BF-0B89429C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confidentialité</a:t>
            </a:r>
          </a:p>
        </p:txBody>
      </p:sp>
      <p:sp>
        <p:nvSpPr>
          <p:cNvPr id="4" name="Seules les informations nécessaires doivent entrer">
            <a:extLst xmlns:a="http://schemas.openxmlformats.org/drawingml/2006/main">
              <a:ext uri="{FF2B5EF4-FFF2-40B4-BE49-F238E27FC236}">
                <a16:creationId xmlns:a16="http://schemas.microsoft.com/office/drawing/2014/main" id="{1728091F-2234-47E2-8B63-108DA6E1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Seules les informations nécessaires doivent entrer dans le processus.</a:t>
            </a:r>
          </a:p>
        </p:txBody>
      </p:sp>
      <p:sp>
        <p:nvSpPr>
          <p:cNvPr id="5" name="Remplacez les données personnelles par des exemple">
            <a:extLst xmlns:a="http://schemas.openxmlformats.org/drawingml/2006/main">
              <a:ext uri="{FF2B5EF4-FFF2-40B4-BE49-F238E27FC236}">
                <a16:creationId xmlns:a16="http://schemas.microsoft.com/office/drawing/2014/main" id="{81CADFBA-0B23-4726-9CF5-CDA5F963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Remplacez les données personnelles par des exemples fictifs lors des essais.</a:t>
            </a:r>
          </a:p>
        </p:txBody>
      </p:sp>
      <p:sp>
        <p:nvSpPr>
          <p:cNvPr id="6" name="Vérifiez les règles de votre organisation avant de">
            <a:extLst xmlns:a="http://schemas.openxmlformats.org/drawingml/2006/main">
              <a:ext uri="{FF2B5EF4-FFF2-40B4-BE49-F238E27FC236}">
                <a16:creationId xmlns:a16="http://schemas.microsoft.com/office/drawing/2014/main" id="{B24E6D8F-EE7B-4583-A2AC-994F19A2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Vérifiez les règles de votre organisation avant de transmettre un document.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99AF972E-61DE-4D0F-B2C7-1BF3207E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imiter les accès aux fichiers et aux résultats.">
            <a:extLst xmlns:a="http://schemas.openxmlformats.org/drawingml/2006/main">
              <a:ext uri="{FF2B5EF4-FFF2-40B4-BE49-F238E27FC236}">
                <a16:creationId xmlns:a16="http://schemas.microsoft.com/office/drawing/2014/main" id="{98F0012E-04C4-488F-A51E-46F33399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Limiter les accès aux fichiers et aux résultats.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99d2e0bad4b1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0 / 36">
            <a:extLst xmlns:a="http://schemas.openxmlformats.org/drawingml/2006/main">
              <a:ext uri="{FF2B5EF4-FFF2-40B4-BE49-F238E27FC236}">
                <a16:creationId xmlns:a16="http://schemas.microsoft.com/office/drawing/2014/main" id="{8404EE4B-1BC7-4073-986C-BA0B66C5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20 / 36</a:t>
            </a:r>
          </a:p>
        </p:txBody>
      </p:sp>
    </p:spTree>
    <p:extLst>
      <p:ext uri="{BB962C8B-B14F-4D97-AF65-F5344CB8AC3E}">
        <p14:creationId xmlns:p14="http://schemas.microsoft.com/office/powerpoint/2010/main" val="7814287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D9E1D-6C9D-4D5D-827F-A23A9C68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807ADA8D-A664-4275-86E2-B993A252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’injection de prompt">
            <a:extLst xmlns:a="http://schemas.openxmlformats.org/drawingml/2006/main">
              <a:ext uri="{FF2B5EF4-FFF2-40B4-BE49-F238E27FC236}">
                <a16:creationId xmlns:a16="http://schemas.microsoft.com/office/drawing/2014/main" id="{3C98FFAB-96CA-437D-AF59-F8E35F4F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L’injection de prompt</a:t>
            </a:r>
          </a:p>
        </p:txBody>
      </p:sp>
      <p:sp>
        <p:nvSpPr>
          <p:cNvPr id="4" name="Un document peut contenir une consigne qui détourn">
            <a:extLst xmlns:a="http://schemas.openxmlformats.org/drawingml/2006/main">
              <a:ext uri="{FF2B5EF4-FFF2-40B4-BE49-F238E27FC236}">
                <a16:creationId xmlns:a16="http://schemas.microsoft.com/office/drawing/2014/main" id="{A8870165-1013-467E-B36D-83E9D26B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document peut contenir une consigne qui détourne la tâche.</a:t>
            </a:r>
          </a:p>
        </p:txBody>
      </p:sp>
      <p:sp>
        <p:nvSpPr>
          <p:cNvPr id="5" name="Exemple fictif : un texte à résumer demande d’igno">
            <a:extLst xmlns:a="http://schemas.openxmlformats.org/drawingml/2006/main">
              <a:ext uri="{FF2B5EF4-FFF2-40B4-BE49-F238E27FC236}">
                <a16:creationId xmlns:a16="http://schemas.microsoft.com/office/drawing/2014/main" id="{24F1F0AF-BAA9-454C-9DC4-4CEE5B6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Exemple fictif : un texte à résumer demande d’ignorer la consigne initiale.</a:t>
            </a:r>
          </a:p>
        </p:txBody>
      </p:sp>
      <p:sp>
        <p:nvSpPr>
          <p:cNvPr id="6" name="Traitez cette phrase comme du contenu et limitez l">
            <a:extLst xmlns:a="http://schemas.openxmlformats.org/drawingml/2006/main">
              <a:ext uri="{FF2B5EF4-FFF2-40B4-BE49-F238E27FC236}">
                <a16:creationId xmlns:a16="http://schemas.microsoft.com/office/drawing/2014/main" id="{F46E726A-5D11-4EB4-9C2C-C9BAC76D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Traitez cette phrase comme du contenu et limitez les actions possibles du système.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370D555E-CCAE-4525-AEC1-BF6EB481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a séparation des consignes ne suffit pas à elle s">
            <a:extLst xmlns:a="http://schemas.openxmlformats.org/drawingml/2006/main">
              <a:ext uri="{FF2B5EF4-FFF2-40B4-BE49-F238E27FC236}">
                <a16:creationId xmlns:a16="http://schemas.microsoft.com/office/drawing/2014/main" id="{346ECAF3-0CB3-430F-ACFD-708E80D7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séparation des consignes ne suffit pas à elle seule à éliminer le risque.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2832226284066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1 / 36">
            <a:extLst xmlns:a="http://schemas.openxmlformats.org/drawingml/2006/main">
              <a:ext uri="{FF2B5EF4-FFF2-40B4-BE49-F238E27FC236}">
                <a16:creationId xmlns:a16="http://schemas.microsoft.com/office/drawing/2014/main" id="{48E110CB-1360-4319-AE67-2422F67C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21 / 36</a:t>
            </a:r>
          </a:p>
        </p:txBody>
      </p:sp>
    </p:spTree>
    <p:extLst>
      <p:ext uri="{BB962C8B-B14F-4D97-AF65-F5344CB8AC3E}">
        <p14:creationId xmlns:p14="http://schemas.microsoft.com/office/powerpoint/2010/main" val="19313415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594B0-8DF6-482F-9867-7C82BE42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14584D5A-4F89-4F9B-8E10-1D817C21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s limites de réponse">
            <a:extLst xmlns:a="http://schemas.openxmlformats.org/drawingml/2006/main">
              <a:ext uri="{FF2B5EF4-FFF2-40B4-BE49-F238E27FC236}">
                <a16:creationId xmlns:a16="http://schemas.microsoft.com/office/drawing/2014/main" id="{D5F75892-994D-4985-9FBD-5FD2E9C9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limites de réponse</a:t>
            </a:r>
          </a:p>
        </p:txBody>
      </p:sp>
      <p:sp>
        <p:nvSpPr>
          <p:cNvPr id="4" name="Le processus doit savoir traiter une information a">
            <a:extLst xmlns:a="http://schemas.openxmlformats.org/drawingml/2006/main">
              <a:ext uri="{FF2B5EF4-FFF2-40B4-BE49-F238E27FC236}">
                <a16:creationId xmlns:a16="http://schemas.microsoft.com/office/drawing/2014/main" id="{69440EAE-BF92-4889-939F-ED895B60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processus doit savoir traiter une information absente.</a:t>
            </a:r>
          </a:p>
        </p:txBody>
      </p:sp>
      <p:sp>
        <p:nvSpPr>
          <p:cNvPr id="5" name="Précisez quand poser une question et quand indique">
            <a:extLst xmlns:a="http://schemas.openxmlformats.org/drawingml/2006/main">
              <a:ext uri="{FF2B5EF4-FFF2-40B4-BE49-F238E27FC236}">
                <a16:creationId xmlns:a16="http://schemas.microsoft.com/office/drawing/2014/main" id="{F73986E6-EE4A-42EE-B11A-FDA58F9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Précisez quand poser une question et quand indiquer « Information insuffisante ».</a:t>
            </a:r>
          </a:p>
        </p:txBody>
      </p:sp>
      <p:sp>
        <p:nvSpPr>
          <p:cNvPr id="6" name="Prévoyez un recours à une personne pour les cas ho">
            <a:extLst xmlns:a="http://schemas.openxmlformats.org/drawingml/2006/main">
              <a:ext uri="{FF2B5EF4-FFF2-40B4-BE49-F238E27FC236}">
                <a16:creationId xmlns:a16="http://schemas.microsoft.com/office/drawing/2014/main" id="{7E225C74-56EB-4DD9-82C2-CB9AD2A3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Prévoyez un recours à une personne pour les cas hors périmètre.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E5E0DDE5-172B-4450-A8E7-2DA89630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Tester ces règles avec des exemples concrets.">
            <a:extLst xmlns:a="http://schemas.openxmlformats.org/drawingml/2006/main">
              <a:ext uri="{FF2B5EF4-FFF2-40B4-BE49-F238E27FC236}">
                <a16:creationId xmlns:a16="http://schemas.microsoft.com/office/drawing/2014/main" id="{B4D86D25-1DF4-4DC3-B1EB-D3392028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Tester ces règles avec des exemples concrets.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d9fbe9dc646d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2 / 36">
            <a:extLst xmlns:a="http://schemas.openxmlformats.org/drawingml/2006/main">
              <a:ext uri="{FF2B5EF4-FFF2-40B4-BE49-F238E27FC236}">
                <a16:creationId xmlns:a16="http://schemas.microsoft.com/office/drawing/2014/main" id="{3C04EFB6-EC5A-44CB-B736-8E790CB8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22 / 36</a:t>
            </a:r>
          </a:p>
        </p:txBody>
      </p:sp>
    </p:spTree>
    <p:extLst>
      <p:ext uri="{BB962C8B-B14F-4D97-AF65-F5344CB8AC3E}">
        <p14:creationId xmlns:p14="http://schemas.microsoft.com/office/powerpoint/2010/main" val="20103913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3B10F-1CE1-48A7-9A63-115E151D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1534BA4A-40F1-4B57-A666-26233578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 principe du RAG">
            <a:extLst xmlns:a="http://schemas.openxmlformats.org/drawingml/2006/main">
              <a:ext uri="{FF2B5EF4-FFF2-40B4-BE49-F238E27FC236}">
                <a16:creationId xmlns:a16="http://schemas.microsoft.com/office/drawing/2014/main" id="{50A3F0AF-2C3B-4407-9CC2-4FF7898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principe du RAG</a:t>
            </a:r>
          </a:p>
        </p:txBody>
      </p:sp>
      <p:sp>
        <p:nvSpPr>
          <p:cNvPr id="4" name="La recherche documentaire alimente la génération d">
            <a:extLst xmlns:a="http://schemas.openxmlformats.org/drawingml/2006/main">
              <a:ext uri="{FF2B5EF4-FFF2-40B4-BE49-F238E27FC236}">
                <a16:creationId xmlns:a16="http://schemas.microsoft.com/office/drawing/2014/main" id="{51549114-C8F8-4180-866C-84664734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recherche documentaire alimente la génération d’une réponse.</a:t>
            </a:r>
          </a:p>
        </p:txBody>
      </p:sp>
      <p:sp>
        <p:nvSpPr>
          <p:cNvPr id="5" name="Le système recherche des passages dans un corpus, ">
            <a:extLst xmlns:a="http://schemas.openxmlformats.org/drawingml/2006/main">
              <a:ext uri="{FF2B5EF4-FFF2-40B4-BE49-F238E27FC236}">
                <a16:creationId xmlns:a16="http://schemas.microsoft.com/office/drawing/2014/main" id="{5C9610F0-555D-481F-A049-CED4A160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système recherche des passages dans un corpus, puis les fournit au modèle.</a:t>
            </a:r>
          </a:p>
        </p:txBody>
      </p:sp>
      <p:sp>
        <p:nvSpPr>
          <p:cNvPr id="6" name="Le modèle formule une réponse à partir des élément">
            <a:extLst xmlns:a="http://schemas.openxmlformats.org/drawingml/2006/main">
              <a:ext uri="{FF2B5EF4-FFF2-40B4-BE49-F238E27FC236}">
                <a16:creationId xmlns:a16="http://schemas.microsoft.com/office/drawing/2014/main" id="{39C5F069-0102-4265-B5F5-778649B7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modèle formule une réponse à partir des éléments retrouvés.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CE9FD906-AE33-4D3C-8CFF-A566C34C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a qualité dépend du corpus, de la recherche et de">
            <a:extLst xmlns:a="http://schemas.openxmlformats.org/drawingml/2006/main">
              <a:ext uri="{FF2B5EF4-FFF2-40B4-BE49-F238E27FC236}">
                <a16:creationId xmlns:a16="http://schemas.microsoft.com/office/drawing/2014/main" id="{2A70B2DD-9229-4862-8507-F5E51B04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qualité dépend du corpus, de la recherche et de la vérification.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42b2991c343ca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3 / 36">
            <a:extLst xmlns:a="http://schemas.openxmlformats.org/drawingml/2006/main">
              <a:ext uri="{FF2B5EF4-FFF2-40B4-BE49-F238E27FC236}">
                <a16:creationId xmlns:a16="http://schemas.microsoft.com/office/drawing/2014/main" id="{4C0A28CE-C241-411C-B7FA-3FE0E4DF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23 / 36</a:t>
            </a:r>
          </a:p>
        </p:txBody>
      </p:sp>
    </p:spTree>
    <p:extLst>
      <p:ext uri="{BB962C8B-B14F-4D97-AF65-F5344CB8AC3E}">
        <p14:creationId xmlns:p14="http://schemas.microsoft.com/office/powerpoint/2010/main" val="15384583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3A6C7-589F-4BA6-B0A3-79122248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8F66D5FD-C1A9-4E3E-908B-F440D61A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 parcours d’une question">
            <a:extLst xmlns:a="http://schemas.openxmlformats.org/drawingml/2006/main">
              <a:ext uri="{FF2B5EF4-FFF2-40B4-BE49-F238E27FC236}">
                <a16:creationId xmlns:a16="http://schemas.microsoft.com/office/drawing/2014/main" id="{9220EAC7-F7AC-48A2-AB83-4F36D090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parcours d’une question</a:t>
            </a:r>
          </a:p>
        </p:txBody>
      </p:sp>
      <p:sp>
        <p:nvSpPr>
          <p:cNvPr id="4" name="Une réponse documentée passe par plusieurs opérati">
            <a:extLst xmlns:a="http://schemas.openxmlformats.org/drawingml/2006/main">
              <a:ext uri="{FF2B5EF4-FFF2-40B4-BE49-F238E27FC236}">
                <a16:creationId xmlns:a16="http://schemas.microsoft.com/office/drawing/2014/main" id="{F51FF9BA-6BDC-4F45-9E13-9934AE0F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réponse documentée passe par plusieurs opérations.</a:t>
            </a:r>
          </a:p>
        </p:txBody>
      </p:sp>
      <p:sp>
        <p:nvSpPr>
          <p:cNvPr id="5" name="La question oriente la recherche et la sélection d">
            <a:extLst xmlns:a="http://schemas.openxmlformats.org/drawingml/2006/main">
              <a:ext uri="{FF2B5EF4-FFF2-40B4-BE49-F238E27FC236}">
                <a16:creationId xmlns:a16="http://schemas.microsoft.com/office/drawing/2014/main" id="{609E99E5-9504-4255-B7A4-E39BEB17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question oriente la recherche et la sélection d’extraits pertinents.</a:t>
            </a:r>
          </a:p>
        </p:txBody>
      </p:sp>
      <p:sp>
        <p:nvSpPr>
          <p:cNvPr id="6" name="Le modèle rédige une réponse, puis l’utilisateur v">
            <a:extLst xmlns:a="http://schemas.openxmlformats.org/drawingml/2006/main">
              <a:ext uri="{FF2B5EF4-FFF2-40B4-BE49-F238E27FC236}">
                <a16:creationId xmlns:a16="http://schemas.microsoft.com/office/drawing/2014/main" id="{8F694E38-792A-4C19-AE70-67A9CCD3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modèle rédige une réponse, puis l’utilisateur vérifie les sources citées.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D95C191-A506-4A63-A959-09FD6F02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source retrouvée peut rester insuffisante pour">
            <a:extLst xmlns:a="http://schemas.openxmlformats.org/drawingml/2006/main">
              <a:ext uri="{FF2B5EF4-FFF2-40B4-BE49-F238E27FC236}">
                <a16:creationId xmlns:a16="http://schemas.microsoft.com/office/drawing/2014/main" id="{CB1356ED-7535-4C9D-A92D-2869599A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source retrouvée peut rester insuffisante pour répondre.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e7aff9e3642e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4 / 36">
            <a:extLst xmlns:a="http://schemas.openxmlformats.org/drawingml/2006/main">
              <a:ext uri="{FF2B5EF4-FFF2-40B4-BE49-F238E27FC236}">
                <a16:creationId xmlns:a16="http://schemas.microsoft.com/office/drawing/2014/main" id="{837E5997-8DB4-41AE-9818-2DAF846A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24 / 36</a:t>
            </a:r>
          </a:p>
        </p:txBody>
      </p:sp>
    </p:spTree>
    <p:extLst>
      <p:ext uri="{BB962C8B-B14F-4D97-AF65-F5344CB8AC3E}">
        <p14:creationId xmlns:p14="http://schemas.microsoft.com/office/powerpoint/2010/main" val="20944685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DDE3F-2D5B-4C28-A100-980A3EDE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0FBA36F9-C63D-4518-9A84-25964AAE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a préparation du corpus">
            <a:extLst xmlns:a="http://schemas.openxmlformats.org/drawingml/2006/main">
              <a:ext uri="{FF2B5EF4-FFF2-40B4-BE49-F238E27FC236}">
                <a16:creationId xmlns:a16="http://schemas.microsoft.com/office/drawing/2014/main" id="{E65B70D5-1426-4346-B8B5-1F0E9888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préparation du corpus</a:t>
            </a:r>
          </a:p>
        </p:txBody>
      </p:sp>
      <p:sp>
        <p:nvSpPr>
          <p:cNvPr id="4" name="Des documents organisés facilitent la recherche.">
            <a:extLst xmlns:a="http://schemas.openxmlformats.org/drawingml/2006/main">
              <a:ext uri="{FF2B5EF4-FFF2-40B4-BE49-F238E27FC236}">
                <a16:creationId xmlns:a16="http://schemas.microsoft.com/office/drawing/2014/main" id="{815A90F6-FA2A-4D8C-98D6-D421E308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Des documents organisés facilitent la recherche.</a:t>
            </a:r>
          </a:p>
        </p:txBody>
      </p:sp>
      <p:sp>
        <p:nvSpPr>
          <p:cNvPr id="5" name="Écartez les doublons et identifiez les versions ob">
            <a:extLst xmlns:a="http://schemas.openxmlformats.org/drawingml/2006/main">
              <a:ext uri="{FF2B5EF4-FFF2-40B4-BE49-F238E27FC236}">
                <a16:creationId xmlns:a16="http://schemas.microsoft.com/office/drawing/2014/main" id="{5C8DA5B8-ECFE-456F-B092-79260140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Écartez les doublons et identifiez les versions obsolètes.</a:t>
            </a:r>
          </a:p>
        </p:txBody>
      </p:sp>
      <p:sp>
        <p:nvSpPr>
          <p:cNvPr id="6" name="Conservez le titre, la date et les informations d’">
            <a:extLst xmlns:a="http://schemas.openxmlformats.org/drawingml/2006/main">
              <a:ext uri="{FF2B5EF4-FFF2-40B4-BE49-F238E27FC236}">
                <a16:creationId xmlns:a16="http://schemas.microsoft.com/office/drawing/2014/main" id="{2F9C5B7A-D41E-4F70-876B-26A8B682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le titre, la date et les informations d’accès de chaque source.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ED914861-456B-4665-A5D7-A8946CF7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 corpus de qualité doit aussi rester à jour.">
            <a:extLst xmlns:a="http://schemas.openxmlformats.org/drawingml/2006/main">
              <a:ext uri="{FF2B5EF4-FFF2-40B4-BE49-F238E27FC236}">
                <a16:creationId xmlns:a16="http://schemas.microsoft.com/office/drawing/2014/main" id="{B224FCF6-C724-486E-A15A-A65C4B5D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corpus de qualité doit aussi rester à jour.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1c41344a34be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5 / 36">
            <a:extLst xmlns:a="http://schemas.openxmlformats.org/drawingml/2006/main">
              <a:ext uri="{FF2B5EF4-FFF2-40B4-BE49-F238E27FC236}">
                <a16:creationId xmlns:a16="http://schemas.microsoft.com/office/drawing/2014/main" id="{6C7727F7-B47D-4142-8251-6F282107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25 / 36</a:t>
            </a:r>
          </a:p>
        </p:txBody>
      </p:sp>
    </p:spTree>
    <p:extLst>
      <p:ext uri="{BB962C8B-B14F-4D97-AF65-F5344CB8AC3E}">
        <p14:creationId xmlns:p14="http://schemas.microsoft.com/office/powerpoint/2010/main" val="19155042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CC3F1-802A-4247-94CC-2595B6B0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AD358C33-5C09-4A16-B055-CE7F3DE7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a traçabilité des réponses">
            <a:extLst xmlns:a="http://schemas.openxmlformats.org/drawingml/2006/main">
              <a:ext uri="{FF2B5EF4-FFF2-40B4-BE49-F238E27FC236}">
                <a16:creationId xmlns:a16="http://schemas.microsoft.com/office/drawing/2014/main" id="{E81D4DD9-0FAE-46B3-84A7-8E883C8C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traçabilité des réponses</a:t>
            </a:r>
          </a:p>
        </p:txBody>
      </p:sp>
      <p:sp>
        <p:nvSpPr>
          <p:cNvPr id="4" name="Une citation doit soutenir l’affirmation qui l’acc">
            <a:extLst xmlns:a="http://schemas.openxmlformats.org/drawingml/2006/main">
              <a:ext uri="{FF2B5EF4-FFF2-40B4-BE49-F238E27FC236}">
                <a16:creationId xmlns:a16="http://schemas.microsoft.com/office/drawing/2014/main" id="{A5223155-C9B4-41C6-8B71-7065EE73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citation doit soutenir l’affirmation qui l’accompagne.</a:t>
            </a:r>
          </a:p>
        </p:txBody>
      </p:sp>
      <p:sp>
        <p:nvSpPr>
          <p:cNvPr id="5" name="Vérifiez que le passage cité existe et traite réel">
            <a:extLst xmlns:a="http://schemas.openxmlformats.org/drawingml/2006/main">
              <a:ext uri="{FF2B5EF4-FFF2-40B4-BE49-F238E27FC236}">
                <a16:creationId xmlns:a16="http://schemas.microsoft.com/office/drawing/2014/main" id="{18D1D9A7-ACEA-477D-B08C-1C5B77FD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Vérifiez que le passage cité existe et traite réellement la question.</a:t>
            </a:r>
          </a:p>
        </p:txBody>
      </p:sp>
      <p:sp>
        <p:nvSpPr>
          <p:cNvPr id="6" name="Contrôlez sa date et les éventuelles réserves de l">
            <a:extLst xmlns:a="http://schemas.openxmlformats.org/drawingml/2006/main">
              <a:ext uri="{FF2B5EF4-FFF2-40B4-BE49-F238E27FC236}">
                <a16:creationId xmlns:a16="http://schemas.microsoft.com/office/drawing/2014/main" id="{538AC801-C1D5-4650-B729-433D9EBF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Contrôlez sa date et les éventuelles réserves de l’auteur.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6180E045-22F9-404D-A50F-A230CFB6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mpter les citations ne suffit pas pour mesurer l">
            <a:extLst xmlns:a="http://schemas.openxmlformats.org/drawingml/2006/main">
              <a:ext uri="{FF2B5EF4-FFF2-40B4-BE49-F238E27FC236}">
                <a16:creationId xmlns:a16="http://schemas.microsoft.com/office/drawing/2014/main" id="{86015E2A-4414-460F-92FE-8169E135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Compter les citations ne suffit pas pour mesurer la qualité.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8145fd4a34df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6 / 36">
            <a:extLst xmlns:a="http://schemas.openxmlformats.org/drawingml/2006/main">
              <a:ext uri="{FF2B5EF4-FFF2-40B4-BE49-F238E27FC236}">
                <a16:creationId xmlns:a16="http://schemas.microsoft.com/office/drawing/2014/main" id="{807F51D9-57B9-4D69-99C4-8B26AB89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26 / 36</a:t>
            </a:r>
          </a:p>
        </p:txBody>
      </p:sp>
    </p:spTree>
    <p:extLst>
      <p:ext uri="{BB962C8B-B14F-4D97-AF65-F5344CB8AC3E}">
        <p14:creationId xmlns:p14="http://schemas.microsoft.com/office/powerpoint/2010/main" val="8339124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B9187-F042-4264-A7D1-B30D9B1D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59285AD0-CFB0-4FF5-A071-59731A55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FAQ documentaire">
            <a:extLst xmlns:a="http://schemas.openxmlformats.org/drawingml/2006/main">
              <a:ext uri="{FF2B5EF4-FFF2-40B4-BE49-F238E27FC236}">
                <a16:creationId xmlns:a16="http://schemas.microsoft.com/office/drawing/2014/main" id="{E6F6C624-8E19-4E65-B03F-6BB49DE3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FAQ documentaire</a:t>
            </a:r>
          </a:p>
        </p:txBody>
      </p:sp>
      <p:sp>
        <p:nvSpPr>
          <p:cNvPr id="4" name="Répondre uniquement à partir d’un petit corpus fou">
            <a:extLst xmlns:a="http://schemas.openxmlformats.org/drawingml/2006/main">
              <a:ext uri="{FF2B5EF4-FFF2-40B4-BE49-F238E27FC236}">
                <a16:creationId xmlns:a16="http://schemas.microsoft.com/office/drawing/2014/main" id="{AF716DBC-BC61-4C4D-98AA-4BF12561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Répondre uniquement à partir d’un petit corpus fourni.</a:t>
            </a:r>
          </a:p>
        </p:txBody>
      </p:sp>
      <p:sp>
        <p:nvSpPr>
          <p:cNvPr id="5" name="Préparez une FAQ fictive, puis des questions couve">
            <a:extLst xmlns:a="http://schemas.openxmlformats.org/drawingml/2006/main">
              <a:ext uri="{FF2B5EF4-FFF2-40B4-BE49-F238E27FC236}">
                <a16:creationId xmlns:a16="http://schemas.microsoft.com/office/drawing/2014/main" id="{5AA75FE6-5EB9-4481-90EC-490A1A3A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Préparez une FAQ fictive, puis des questions couvertes et non couvertes.</a:t>
            </a:r>
          </a:p>
        </p:txBody>
      </p:sp>
      <p:sp>
        <p:nvSpPr>
          <p:cNvPr id="6" name="Vérifiez les réponses, les passages utilisés et le">
            <a:extLst xmlns:a="http://schemas.openxmlformats.org/drawingml/2006/main">
              <a:ext uri="{FF2B5EF4-FFF2-40B4-BE49-F238E27FC236}">
                <a16:creationId xmlns:a16="http://schemas.microsoft.com/office/drawing/2014/main" id="{B5403EC0-BC3A-4D95-BE39-4F890745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Vérifiez les réponses, les passages utilisés et le signalement des lacunes.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F3CC55B1-F85C-4C1F-97E8-6A926A9F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corpus, questions, réponses et bilan ">
            <a:extLst xmlns:a="http://schemas.openxmlformats.org/drawingml/2006/main">
              <a:ext uri="{FF2B5EF4-FFF2-40B4-BE49-F238E27FC236}">
                <a16:creationId xmlns:a16="http://schemas.microsoft.com/office/drawing/2014/main" id="{952C22B0-6F45-476F-9602-33D80673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corpus, questions, réponses et bilan des erreurs.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c2d0f20d44b74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7 / 36">
            <a:extLst xmlns:a="http://schemas.openxmlformats.org/drawingml/2006/main">
              <a:ext uri="{FF2B5EF4-FFF2-40B4-BE49-F238E27FC236}">
                <a16:creationId xmlns:a16="http://schemas.microsoft.com/office/drawing/2014/main" id="{E69F4418-4618-4042-BC1F-4C52F966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27 / 36</a:t>
            </a:r>
          </a:p>
        </p:txBody>
      </p:sp>
    </p:spTree>
    <p:extLst>
      <p:ext uri="{BB962C8B-B14F-4D97-AF65-F5344CB8AC3E}">
        <p14:creationId xmlns:p14="http://schemas.microsoft.com/office/powerpoint/2010/main" val="6302176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3D57C-2437-4E9B-9B90-1613786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15F82A6D-C3E8-4C9C-B401-A8311698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Cas : réunion d’équipe">
            <a:extLst xmlns:a="http://schemas.openxmlformats.org/drawingml/2006/main">
              <a:ext uri="{FF2B5EF4-FFF2-40B4-BE49-F238E27FC236}">
                <a16:creationId xmlns:a16="http://schemas.microsoft.com/office/drawing/2014/main" id="{1F72507B-8EDD-486B-94C9-3C87BAB4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Cas : réunion d’équipe</a:t>
            </a:r>
          </a:p>
        </p:txBody>
      </p:sp>
      <p:sp>
        <p:nvSpPr>
          <p:cNvPr id="4" name="Le compte rendu doit conserver les engagements rée">
            <a:extLst xmlns:a="http://schemas.openxmlformats.org/drawingml/2006/main">
              <a:ext uri="{FF2B5EF4-FFF2-40B4-BE49-F238E27FC236}">
                <a16:creationId xmlns:a16="http://schemas.microsoft.com/office/drawing/2014/main" id="{CE0D0408-840C-4884-8EBB-21465A35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compte rendu doit conserver les engagements réels.</a:t>
            </a:r>
          </a:p>
        </p:txBody>
      </p:sp>
      <p:sp>
        <p:nvSpPr>
          <p:cNvPr id="5" name="Extrayez les décisions, les personnes nommées et l">
            <a:extLst xmlns:a="http://schemas.openxmlformats.org/drawingml/2006/main">
              <a:ext uri="{FF2B5EF4-FFF2-40B4-BE49-F238E27FC236}">
                <a16:creationId xmlns:a16="http://schemas.microsoft.com/office/drawing/2014/main" id="{BC4BB29A-7493-4D12-95E3-1670648D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Extrayez les décisions, les personnes nommées et les échéances explicites.</a:t>
            </a:r>
          </a:p>
        </p:txBody>
      </p:sp>
      <p:sp>
        <p:nvSpPr>
          <p:cNvPr id="6" name="Séparez les questions ouvertes des décisions confi">
            <a:extLst xmlns:a="http://schemas.openxmlformats.org/drawingml/2006/main">
              <a:ext uri="{FF2B5EF4-FFF2-40B4-BE49-F238E27FC236}">
                <a16:creationId xmlns:a16="http://schemas.microsoft.com/office/drawing/2014/main" id="{2059E931-345B-47D8-BB26-99EA2BCE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Séparez les questions ouvertes des décisions confirmées.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91E7C299-FDB4-46C7-A9C7-A5E1C190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Ne pas attribuer une responsabilité absente des no">
            <a:extLst xmlns:a="http://schemas.openxmlformats.org/drawingml/2006/main">
              <a:ext uri="{FF2B5EF4-FFF2-40B4-BE49-F238E27FC236}">
                <a16:creationId xmlns:a16="http://schemas.microsoft.com/office/drawing/2014/main" id="{89BC1297-4B43-4798-94F8-8CA2763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 pas attribuer une responsabilité absente des notes.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8e5ac63d24228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8 / 36">
            <a:extLst xmlns:a="http://schemas.openxmlformats.org/drawingml/2006/main">
              <a:ext uri="{FF2B5EF4-FFF2-40B4-BE49-F238E27FC236}">
                <a16:creationId xmlns:a16="http://schemas.microsoft.com/office/drawing/2014/main" id="{65735293-ECBE-4D67-9089-330A282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28 / 36</a:t>
            </a:r>
          </a:p>
        </p:txBody>
      </p:sp>
    </p:spTree>
    <p:extLst>
      <p:ext uri="{BB962C8B-B14F-4D97-AF65-F5344CB8AC3E}">
        <p14:creationId xmlns:p14="http://schemas.microsoft.com/office/powerpoint/2010/main" val="6313734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3290A-9389-4BE1-8B33-E2A8A4D5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77333F17-EB8A-4993-82B1-7F071723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Cas : proposition commerciale">
            <a:extLst xmlns:a="http://schemas.openxmlformats.org/drawingml/2006/main">
              <a:ext uri="{FF2B5EF4-FFF2-40B4-BE49-F238E27FC236}">
                <a16:creationId xmlns:a16="http://schemas.microsoft.com/office/drawing/2014/main" id="{584AD7AC-0FE3-4B3C-BA6C-3E2C1D6B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Cas : proposition commerciale</a:t>
            </a:r>
          </a:p>
        </p:txBody>
      </p:sp>
      <p:sp>
        <p:nvSpPr>
          <p:cNvPr id="4" name="Le brouillon repose sur un besoin et un périmètre ">
            <a:extLst xmlns:a="http://schemas.openxmlformats.org/drawingml/2006/main">
              <a:ext uri="{FF2B5EF4-FFF2-40B4-BE49-F238E27FC236}">
                <a16:creationId xmlns:a16="http://schemas.microsoft.com/office/drawing/2014/main" id="{B70DD7F7-D2B5-4628-A55F-2A8C766B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brouillon repose sur un besoin et un périmètre validés.</a:t>
            </a:r>
          </a:p>
        </p:txBody>
      </p:sp>
      <p:sp>
        <p:nvSpPr>
          <p:cNvPr id="5" name="Fournissez le brief, les prestations autorisées et">
            <a:extLst xmlns:a="http://schemas.openxmlformats.org/drawingml/2006/main">
              <a:ext uri="{FF2B5EF4-FFF2-40B4-BE49-F238E27FC236}">
                <a16:creationId xmlns:a16="http://schemas.microsoft.com/office/drawing/2014/main" id="{68026A82-21EC-4DBB-B2A3-5BA40954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Fournissez le brief, les prestations autorisées et les conditions connues.</a:t>
            </a:r>
          </a:p>
        </p:txBody>
      </p:sp>
      <p:sp>
        <p:nvSpPr>
          <p:cNvPr id="6" name="Signalez les hypothèses et les informations à conf">
            <a:extLst xmlns:a="http://schemas.openxmlformats.org/drawingml/2006/main">
              <a:ext uri="{FF2B5EF4-FFF2-40B4-BE49-F238E27FC236}">
                <a16:creationId xmlns:a16="http://schemas.microsoft.com/office/drawing/2014/main" id="{E900E2A2-8797-497B-A308-88100572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Signalez les hypothèses et les informations à confirmer avant envoi.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D92C688D-3AC2-4DD6-A409-347690EA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personne valide les engagements et le prix.">
            <a:extLst xmlns:a="http://schemas.openxmlformats.org/drawingml/2006/main">
              <a:ext uri="{FF2B5EF4-FFF2-40B4-BE49-F238E27FC236}">
                <a16:creationId xmlns:a16="http://schemas.microsoft.com/office/drawing/2014/main" id="{17B91B98-958F-4BE6-9EC2-92AA6D11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personne valide les engagements et le prix.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7521663c248d2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9 / 36">
            <a:extLst xmlns:a="http://schemas.openxmlformats.org/drawingml/2006/main">
              <a:ext uri="{FF2B5EF4-FFF2-40B4-BE49-F238E27FC236}">
                <a16:creationId xmlns:a16="http://schemas.microsoft.com/office/drawing/2014/main" id="{E855426A-1888-417D-B19C-CC2E208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29 / 36</a:t>
            </a:r>
          </a:p>
        </p:txBody>
      </p:sp>
    </p:spTree>
    <p:extLst>
      <p:ext uri="{BB962C8B-B14F-4D97-AF65-F5344CB8AC3E}">
        <p14:creationId xmlns:p14="http://schemas.microsoft.com/office/powerpoint/2010/main" val="168018912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51FB1-8771-4A4B-A3C0-4B3E12EF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6F69744D-C331-4062-81DF-A5DEAEE4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Cas : FAQ interne">
            <a:extLst xmlns:a="http://schemas.openxmlformats.org/drawingml/2006/main">
              <a:ext uri="{FF2B5EF4-FFF2-40B4-BE49-F238E27FC236}">
                <a16:creationId xmlns:a16="http://schemas.microsoft.com/office/drawing/2014/main" id="{AC7EB3E5-F513-4EB3-8764-9F2F91BC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Cas : FAQ interne</a:t>
            </a:r>
          </a:p>
        </p:txBody>
      </p:sp>
      <p:sp>
        <p:nvSpPr>
          <p:cNvPr id="4" name="La réponse doit respecter le périmètre documentair">
            <a:extLst xmlns:a="http://schemas.openxmlformats.org/drawingml/2006/main">
              <a:ext uri="{FF2B5EF4-FFF2-40B4-BE49-F238E27FC236}">
                <a16:creationId xmlns:a16="http://schemas.microsoft.com/office/drawing/2014/main" id="{77C169ED-7271-416F-AAF0-0E3E3308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réponse doit respecter le périmètre documentaire.</a:t>
            </a:r>
          </a:p>
        </p:txBody>
      </p:sp>
      <p:sp>
        <p:nvSpPr>
          <p:cNvPr id="5" name="Posez des questions sur les procédures d’une organ">
            <a:extLst xmlns:a="http://schemas.openxmlformats.org/drawingml/2006/main">
              <a:ext uri="{FF2B5EF4-FFF2-40B4-BE49-F238E27FC236}">
                <a16:creationId xmlns:a16="http://schemas.microsoft.com/office/drawing/2014/main" id="{B3D80782-3ED0-42D4-86AC-BD35DC24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Posez des questions sur les procédures d’une organisation fictive.</a:t>
            </a:r>
          </a:p>
        </p:txBody>
      </p:sp>
      <p:sp>
        <p:nvSpPr>
          <p:cNvPr id="6" name="Demandez une citation ou une indication claire de ">
            <a:extLst xmlns:a="http://schemas.openxmlformats.org/drawingml/2006/main">
              <a:ext uri="{FF2B5EF4-FFF2-40B4-BE49-F238E27FC236}">
                <a16:creationId xmlns:a16="http://schemas.microsoft.com/office/drawing/2014/main" id="{7C357C9B-80CB-4D09-8296-1636D6FF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une citation ou une indication claire de l’information absente.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6F19DA1D-0A88-42EE-9AE4-D01C3E8F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révoir un interlocuteur lorsque le corpus ne suff">
            <a:extLst xmlns:a="http://schemas.openxmlformats.org/drawingml/2006/main">
              <a:ext uri="{FF2B5EF4-FFF2-40B4-BE49-F238E27FC236}">
                <a16:creationId xmlns:a16="http://schemas.microsoft.com/office/drawing/2014/main" id="{A3DB0600-A4E7-4770-8329-94B09199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Prévoir un interlocuteur lorsque le corpus ne suffit pas.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6196f464f4a8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0 / 36">
            <a:extLst xmlns:a="http://schemas.openxmlformats.org/drawingml/2006/main">
              <a:ext uri="{FF2B5EF4-FFF2-40B4-BE49-F238E27FC236}">
                <a16:creationId xmlns:a16="http://schemas.microsoft.com/office/drawing/2014/main" id="{BD37ECBE-FA52-4591-A0FB-C39BFDEB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30 / 36</a:t>
            </a:r>
          </a:p>
        </p:txBody>
      </p:sp>
    </p:spTree>
    <p:extLst>
      <p:ext uri="{BB962C8B-B14F-4D97-AF65-F5344CB8AC3E}">
        <p14:creationId xmlns:p14="http://schemas.microsoft.com/office/powerpoint/2010/main" val="12402365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1230D-D22C-4774-BD20-141759BB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7AECCABA-B402-4775-B0EC-0C118414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a bibliothèque de modèles">
            <a:extLst xmlns:a="http://schemas.openxmlformats.org/drawingml/2006/main">
              <a:ext uri="{FF2B5EF4-FFF2-40B4-BE49-F238E27FC236}">
                <a16:creationId xmlns:a16="http://schemas.microsoft.com/office/drawing/2014/main" id="{E1EB4D6A-EBA1-4184-847D-68B5D7C0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bibliothèque de modèles</a:t>
            </a:r>
          </a:p>
        </p:txBody>
      </p:sp>
      <p:sp>
        <p:nvSpPr>
          <p:cNvPr id="4" name="Chaque modèle décrit son usage et ses conditions.">
            <a:extLst xmlns:a="http://schemas.openxmlformats.org/drawingml/2006/main">
              <a:ext uri="{FF2B5EF4-FFF2-40B4-BE49-F238E27FC236}">
                <a16:creationId xmlns:a16="http://schemas.microsoft.com/office/drawing/2014/main" id="{39418F26-116D-4C22-A7A1-ECDE2286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Chaque modèle décrit son usage et ses conditions.</a:t>
            </a:r>
          </a:p>
        </p:txBody>
      </p:sp>
      <p:sp>
        <p:nvSpPr>
          <p:cNvPr id="5" name="Conservez le prompt, les variables et un exemple d">
            <a:extLst xmlns:a="http://schemas.openxmlformats.org/drawingml/2006/main">
              <a:ext uri="{FF2B5EF4-FFF2-40B4-BE49-F238E27FC236}">
                <a16:creationId xmlns:a16="http://schemas.microsoft.com/office/drawing/2014/main" id="{BAC29FCA-DA4F-4AF0-86F9-7E17D90A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le prompt, les variables et un exemple de résultat validé.</a:t>
            </a:r>
          </a:p>
        </p:txBody>
      </p:sp>
      <p:sp>
        <p:nvSpPr>
          <p:cNvPr id="6" name="Ajoutez les limites, les contrôles nécessaires et ">
            <a:extLst xmlns:a="http://schemas.openxmlformats.org/drawingml/2006/main">
              <a:ext uri="{FF2B5EF4-FFF2-40B4-BE49-F238E27FC236}">
                <a16:creationId xmlns:a16="http://schemas.microsoft.com/office/drawing/2014/main" id="{6EDCE98F-37E4-405D-A8E1-35C137B6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Ajoutez les limites, les contrôles nécessaires et la date de révision.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E4DA3648-2495-4213-B3E3-4034A7D2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Regrouper les modèles par tâche facilite leur rech">
            <a:extLst xmlns:a="http://schemas.openxmlformats.org/drawingml/2006/main">
              <a:ext uri="{FF2B5EF4-FFF2-40B4-BE49-F238E27FC236}">
                <a16:creationId xmlns:a16="http://schemas.microsoft.com/office/drawing/2014/main" id="{D604428F-A557-4BDF-8939-63D7039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Regrouper les modèles par tâche facilite leur recherche.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dcc1684aa42ca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1 / 36">
            <a:extLst xmlns:a="http://schemas.openxmlformats.org/drawingml/2006/main">
              <a:ext uri="{FF2B5EF4-FFF2-40B4-BE49-F238E27FC236}">
                <a16:creationId xmlns:a16="http://schemas.microsoft.com/office/drawing/2014/main" id="{329FC19B-445C-43E2-80AA-1816FBDE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31 / 36</a:t>
            </a:r>
          </a:p>
        </p:txBody>
      </p:sp>
    </p:spTree>
    <p:extLst>
      <p:ext uri="{BB962C8B-B14F-4D97-AF65-F5344CB8AC3E}">
        <p14:creationId xmlns:p14="http://schemas.microsoft.com/office/powerpoint/2010/main" val="140235186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C5354-7BCC-49B5-B641-3266365B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9D67C0E5-8816-4912-A3B3-5EE2CE25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es bases de l’automatisation">
            <a:extLst xmlns:a="http://schemas.openxmlformats.org/drawingml/2006/main">
              <a:ext uri="{FF2B5EF4-FFF2-40B4-BE49-F238E27FC236}">
                <a16:creationId xmlns:a16="http://schemas.microsoft.com/office/drawing/2014/main" id="{C4F686D8-F2F7-4F9D-9B7E-DBA938C6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bases de l’automatisation</a:t>
            </a:r>
          </a:p>
        </p:txBody>
      </p:sp>
      <p:sp>
        <p:nvSpPr>
          <p:cNvPr id="4" name="L’automatisation relie un déclencheur à une suite ">
            <a:extLst xmlns:a="http://schemas.openxmlformats.org/drawingml/2006/main">
              <a:ext uri="{FF2B5EF4-FFF2-40B4-BE49-F238E27FC236}">
                <a16:creationId xmlns:a16="http://schemas.microsoft.com/office/drawing/2014/main" id="{1D3D3239-2DB2-4643-A362-F9B4071F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L’automatisation relie un déclencheur à une suite de traitements.</a:t>
            </a:r>
          </a:p>
        </p:txBody>
      </p:sp>
      <p:sp>
        <p:nvSpPr>
          <p:cNvPr id="5" name="Définissez l’événement de départ, les entrées et l">
            <a:extLst xmlns:a="http://schemas.openxmlformats.org/drawingml/2006/main">
              <a:ext uri="{FF2B5EF4-FFF2-40B4-BE49-F238E27FC236}">
                <a16:creationId xmlns:a16="http://schemas.microsoft.com/office/drawing/2014/main" id="{0292F2FA-97DF-4855-87BB-F7EDC9AD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Définissez l’événement de départ, les entrées et le livrable.</a:t>
            </a:r>
          </a:p>
        </p:txBody>
      </p:sp>
      <p:sp>
        <p:nvSpPr>
          <p:cNvPr id="6" name="Ajoutez une validation humaine avant les actions q">
            <a:extLst xmlns:a="http://schemas.openxmlformats.org/drawingml/2006/main">
              <a:ext uri="{FF2B5EF4-FFF2-40B4-BE49-F238E27FC236}">
                <a16:creationId xmlns:a16="http://schemas.microsoft.com/office/drawing/2014/main" id="{C663A732-E311-45A0-84B4-78467033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Ajoutez une validation humaine avant les actions qui engagent l’organisation.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DEFFCBFC-6F7A-44E1-BEF6-2AE806E3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révoir un journal et une gestion des erreurs.">
            <a:extLst xmlns:a="http://schemas.openxmlformats.org/drawingml/2006/main">
              <a:ext uri="{FF2B5EF4-FFF2-40B4-BE49-F238E27FC236}">
                <a16:creationId xmlns:a16="http://schemas.microsoft.com/office/drawing/2014/main" id="{36563B61-D77F-46FA-B514-D22F00C6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Prévoir un journal et une gestion des erreurs.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b2c4e5483401c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2 / 36">
            <a:extLst xmlns:a="http://schemas.openxmlformats.org/drawingml/2006/main">
              <a:ext uri="{FF2B5EF4-FFF2-40B4-BE49-F238E27FC236}">
                <a16:creationId xmlns:a16="http://schemas.microsoft.com/office/drawing/2014/main" id="{2B0B8FA5-491B-4336-B06E-4465C805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32 / 36</a:t>
            </a:r>
          </a:p>
        </p:txBody>
      </p:sp>
    </p:spTree>
    <p:extLst>
      <p:ext uri="{BB962C8B-B14F-4D97-AF65-F5344CB8AC3E}">
        <p14:creationId xmlns:p14="http://schemas.microsoft.com/office/powerpoint/2010/main" val="3497697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66C20-965D-4200-9B3B-991E09BA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10EC2047-275F-47BA-A07D-52E6C648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processus automatisable">
            <a:extLst xmlns:a="http://schemas.openxmlformats.org/drawingml/2006/main">
              <a:ext uri="{FF2B5EF4-FFF2-40B4-BE49-F238E27FC236}">
                <a16:creationId xmlns:a16="http://schemas.microsoft.com/office/drawing/2014/main" id="{90C8BB9F-C4B5-4228-9ED0-57106BD7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processus automatisable</a:t>
            </a:r>
          </a:p>
        </p:txBody>
      </p:sp>
      <p:sp>
        <p:nvSpPr>
          <p:cNvPr id="4" name="Décrire le fonctionnement avant de connecter les o">
            <a:extLst xmlns:a="http://schemas.openxmlformats.org/drawingml/2006/main">
              <a:ext uri="{FF2B5EF4-FFF2-40B4-BE49-F238E27FC236}">
                <a16:creationId xmlns:a16="http://schemas.microsoft.com/office/drawing/2014/main" id="{115CDFBF-4070-4B98-B3FA-7ABD76D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Décrire le fonctionnement avant de connecter les outils.</a:t>
            </a:r>
          </a:p>
        </p:txBody>
      </p:sp>
      <p:sp>
        <p:nvSpPr>
          <p:cNvPr id="5" name="Dessinez les étapes d’un cas fictif et indiquez le">
            <a:extLst xmlns:a="http://schemas.openxmlformats.org/drawingml/2006/main">
              <a:ext uri="{FF2B5EF4-FFF2-40B4-BE49-F238E27FC236}">
                <a16:creationId xmlns:a16="http://schemas.microsoft.com/office/drawing/2014/main" id="{4F42DFB7-D479-4FDC-9897-2121E1D9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Dessinez les étapes d’un cas fictif et indiquez les données utilisées.</a:t>
            </a:r>
          </a:p>
        </p:txBody>
      </p:sp>
      <p:sp>
        <p:nvSpPr>
          <p:cNvPr id="6" name="Placez les validations et les conditions d’arrêt e">
            <a:extLst xmlns:a="http://schemas.openxmlformats.org/drawingml/2006/main">
              <a:ext uri="{FF2B5EF4-FFF2-40B4-BE49-F238E27FC236}">
                <a16:creationId xmlns:a16="http://schemas.microsoft.com/office/drawing/2014/main" id="{A3BD9B9A-DCB4-4B41-83A4-0E19B7B6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Placez les validations et les conditions d’arrêt en cas d’erreur.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13A9CB8C-D421-4528-BF3B-B374331E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processus, rôles et scénario de test.">
            <a:extLst xmlns:a="http://schemas.openxmlformats.org/drawingml/2006/main">
              <a:ext uri="{FF2B5EF4-FFF2-40B4-BE49-F238E27FC236}">
                <a16:creationId xmlns:a16="http://schemas.microsoft.com/office/drawing/2014/main" id="{2D9359B8-2E5D-4D66-A90D-ED02D723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processus, rôles et scénario de test.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06b97e9d6478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3 / 36">
            <a:extLst xmlns:a="http://schemas.openxmlformats.org/drawingml/2006/main">
              <a:ext uri="{FF2B5EF4-FFF2-40B4-BE49-F238E27FC236}">
                <a16:creationId xmlns:a16="http://schemas.microsoft.com/office/drawing/2014/main" id="{467AB805-8DF8-4D29-ACE6-18FBE801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33 / 36</a:t>
            </a:r>
          </a:p>
        </p:txBody>
      </p:sp>
    </p:spTree>
    <p:extLst>
      <p:ext uri="{BB962C8B-B14F-4D97-AF65-F5344CB8AC3E}">
        <p14:creationId xmlns:p14="http://schemas.microsoft.com/office/powerpoint/2010/main" val="2003017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379C6-ED1D-4A46-973A-E8DA984B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DEE3C937-A321-4AAA-ADAA-DB05ED7B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Projet : améliorer un processus">
            <a:extLst xmlns:a="http://schemas.openxmlformats.org/drawingml/2006/main">
              <a:ext uri="{FF2B5EF4-FFF2-40B4-BE49-F238E27FC236}">
                <a16:creationId xmlns:a16="http://schemas.microsoft.com/office/drawing/2014/main" id="{C52AFDC6-6AB8-4EA5-BF3C-D9240B05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Projet : améliorer un processus</a:t>
            </a:r>
          </a:p>
        </p:txBody>
      </p:sp>
      <p:sp>
        <p:nvSpPr>
          <p:cNvPr id="4" name="La comparaison initiale et finale montre l’intérêt">
            <a:extLst xmlns:a="http://schemas.openxmlformats.org/drawingml/2006/main">
              <a:ext uri="{FF2B5EF4-FFF2-40B4-BE49-F238E27FC236}">
                <a16:creationId xmlns:a16="http://schemas.microsoft.com/office/drawing/2014/main" id="{320A4AE8-7FCA-40FA-A71A-E696BACC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comparaison initiale et finale montre l’intérêt du projet.</a:t>
            </a:r>
          </a:p>
        </p:txBody>
      </p:sp>
      <p:sp>
        <p:nvSpPr>
          <p:cNvPr id="5" name="Décrivez le besoin, construisez un prototype et te">
            <a:extLst xmlns:a="http://schemas.openxmlformats.org/drawingml/2006/main">
              <a:ext uri="{FF2B5EF4-FFF2-40B4-BE49-F238E27FC236}">
                <a16:creationId xmlns:a16="http://schemas.microsoft.com/office/drawing/2014/main" id="{6785275A-6286-48AF-AC16-6270D30F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Décrivez le besoin, construisez un prototype et testez des cas représentatifs.</a:t>
            </a:r>
          </a:p>
        </p:txBody>
      </p:sp>
      <p:sp>
        <p:nvSpPr>
          <p:cNvPr id="6" name="Présentez les résultats observés, les limites et l">
            <a:extLst xmlns:a="http://schemas.openxmlformats.org/drawingml/2006/main">
              <a:ext uri="{FF2B5EF4-FFF2-40B4-BE49-F238E27FC236}">
                <a16:creationId xmlns:a16="http://schemas.microsoft.com/office/drawing/2014/main" id="{064AA769-39AB-4799-9D08-454D7A11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Présentez les résultats observés, les limites et les contrôles conservés.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9701A046-A749-4AEC-85BE-3BE14A9C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s gains annoncés doivent provenir de mesures rée">
            <a:extLst xmlns:a="http://schemas.openxmlformats.org/drawingml/2006/main">
              <a:ext uri="{FF2B5EF4-FFF2-40B4-BE49-F238E27FC236}">
                <a16:creationId xmlns:a16="http://schemas.microsoft.com/office/drawing/2014/main" id="{3DCDA78E-AF46-4B76-84B5-B6A1FFBD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gains annoncés doivent provenir de mesures réelles.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19c1fa50c4bc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4 / 36">
            <a:extLst xmlns:a="http://schemas.openxmlformats.org/drawingml/2006/main">
              <a:ext uri="{FF2B5EF4-FFF2-40B4-BE49-F238E27FC236}">
                <a16:creationId xmlns:a16="http://schemas.microsoft.com/office/drawing/2014/main" id="{2DD68A12-E946-473F-831B-B021187E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34 / 36</a:t>
            </a:r>
          </a:p>
        </p:txBody>
      </p:sp>
    </p:spTree>
    <p:extLst>
      <p:ext uri="{BB962C8B-B14F-4D97-AF65-F5344CB8AC3E}">
        <p14:creationId xmlns:p14="http://schemas.microsoft.com/office/powerpoint/2010/main" val="3073792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17C5C-336F-4C78-BB3E-B64C292C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46FD8632-DB49-4120-AB23-7CDBECD5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’évaluation du niveau 2">
            <a:extLst xmlns:a="http://schemas.openxmlformats.org/drawingml/2006/main">
              <a:ext uri="{FF2B5EF4-FFF2-40B4-BE49-F238E27FC236}">
                <a16:creationId xmlns:a16="http://schemas.microsoft.com/office/drawing/2014/main" id="{1DEFF633-9A6D-47AE-946B-F9F8036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L’évaluation du niveau 2</a:t>
            </a:r>
          </a:p>
        </p:txBody>
      </p:sp>
      <p:sp>
        <p:nvSpPr>
          <p:cNvPr id="4" name="Le support prévoit un QCM et une mise en pratique.">
            <a:extLst xmlns:a="http://schemas.openxmlformats.org/drawingml/2006/main">
              <a:ext uri="{FF2B5EF4-FFF2-40B4-BE49-F238E27FC236}">
                <a16:creationId xmlns:a16="http://schemas.microsoft.com/office/drawing/2014/main" id="{098B83FB-74CE-4446-8977-641EE63B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support prévoit un QCM et une mise en pratique.</a:t>
            </a:r>
          </a:p>
        </p:txBody>
      </p:sp>
      <p:sp>
        <p:nvSpPr>
          <p:cNvPr id="5" name="Le QCM annoncé comporte 30 questions sur les métho">
            <a:extLst xmlns:a="http://schemas.openxmlformats.org/drawingml/2006/main">
              <a:ext uri="{FF2B5EF4-FFF2-40B4-BE49-F238E27FC236}">
                <a16:creationId xmlns:a16="http://schemas.microsoft.com/office/drawing/2014/main" id="{8068509A-79B1-4566-B6E3-35509771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QCM annoncé comporte 30 questions sur les méthodes du niveau.</a:t>
            </a:r>
          </a:p>
        </p:txBody>
      </p:sp>
      <p:sp>
        <p:nvSpPr>
          <p:cNvPr id="6" name="Le projet présente un processus, ses prompts et le">
            <a:extLst xmlns:a="http://schemas.openxmlformats.org/drawingml/2006/main">
              <a:ext uri="{FF2B5EF4-FFF2-40B4-BE49-F238E27FC236}">
                <a16:creationId xmlns:a16="http://schemas.microsoft.com/office/drawing/2014/main" id="{68E7866B-537A-4D72-A30A-F33E73D0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projet présente un processus, ses prompts et les résultats des essais.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44B50F51-FCBF-4422-AECE-EC1092EE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nsulter le manuel pour les consignes détaillées ">
            <a:extLst xmlns:a="http://schemas.openxmlformats.org/drawingml/2006/main">
              <a:ext uri="{FF2B5EF4-FFF2-40B4-BE49-F238E27FC236}">
                <a16:creationId xmlns:a16="http://schemas.microsoft.com/office/drawing/2014/main" id="{8B18A9FA-6EB1-4A32-9046-49279D89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Consulter le manuel pour les consignes détaillées de restitution.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edd63a665407d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5 / 36">
            <a:extLst xmlns:a="http://schemas.openxmlformats.org/drawingml/2006/main">
              <a:ext uri="{FF2B5EF4-FFF2-40B4-BE49-F238E27FC236}">
                <a16:creationId xmlns:a16="http://schemas.microsoft.com/office/drawing/2014/main" id="{358583C5-10A7-4826-AB32-14EA40C9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35 / 36</a:t>
            </a:r>
          </a:p>
        </p:txBody>
      </p:sp>
    </p:spTree>
    <p:extLst>
      <p:ext uri="{BB962C8B-B14F-4D97-AF65-F5344CB8AC3E}">
        <p14:creationId xmlns:p14="http://schemas.microsoft.com/office/powerpoint/2010/main" val="15952523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6E93F-4FA7-48FC-A1B5-668DC5A1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2">
            <a:extLst xmlns:a="http://schemas.openxmlformats.org/drawingml/2006/main">
              <a:ext uri="{FF2B5EF4-FFF2-40B4-BE49-F238E27FC236}">
                <a16:creationId xmlns:a16="http://schemas.microsoft.com/office/drawing/2014/main" id="{C09709B1-4931-400C-9A35-F500F963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2</a:t>
            </a:r>
          </a:p>
        </p:txBody>
      </p:sp>
      <p:sp>
        <p:nvSpPr>
          <p:cNvPr id="3" name="La suite du parcours">
            <a:extLst xmlns:a="http://schemas.openxmlformats.org/drawingml/2006/main">
              <a:ext uri="{FF2B5EF4-FFF2-40B4-BE49-F238E27FC236}">
                <a16:creationId xmlns:a16="http://schemas.microsoft.com/office/drawing/2014/main" id="{302B5E58-436F-4DDF-A122-FD6701CD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suite du parcours</a:t>
            </a:r>
          </a:p>
        </p:txBody>
      </p:sp>
      <p:sp>
        <p:nvSpPr>
          <p:cNvPr id="4" name="Un processus réutilisable reste documenté et révis">
            <a:extLst xmlns:a="http://schemas.openxmlformats.org/drawingml/2006/main">
              <a:ext uri="{FF2B5EF4-FFF2-40B4-BE49-F238E27FC236}">
                <a16:creationId xmlns:a16="http://schemas.microsoft.com/office/drawing/2014/main" id="{3581A86D-5DEB-4AA4-A4F4-26B6B61E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processus réutilisable reste documenté et révisable.</a:t>
            </a:r>
          </a:p>
        </p:txBody>
      </p:sp>
      <p:sp>
        <p:nvSpPr>
          <p:cNvPr id="5" name="Conservez les tests et les décisions qui expliquen">
            <a:extLst xmlns:a="http://schemas.openxmlformats.org/drawingml/2006/main">
              <a:ext uri="{FF2B5EF4-FFF2-40B4-BE49-F238E27FC236}">
                <a16:creationId xmlns:a16="http://schemas.microsoft.com/office/drawing/2014/main" id="{9B1739F5-0589-454A-9396-7BF58F3D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les tests et les décisions qui expliquent vos choix.</a:t>
            </a:r>
          </a:p>
        </p:txBody>
      </p:sp>
      <p:sp>
        <p:nvSpPr>
          <p:cNvPr id="6" name="Le niveau 3 développe les architectures RAG et les">
            <a:extLst xmlns:a="http://schemas.openxmlformats.org/drawingml/2006/main">
              <a:ext uri="{FF2B5EF4-FFF2-40B4-BE49-F238E27FC236}">
                <a16:creationId xmlns:a16="http://schemas.microsoft.com/office/drawing/2014/main" id="{2229DC9C-19E8-4B6F-B693-FE64162A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niveau 3 développe les architectures RAG et les appels d’outils.</a:t>
            </a:r>
          </a:p>
        </p:txBody>
      </p:sp>
      <p:sp>
        <p:nvSpPr>
          <p:cNvPr id="7" name="POUR POURSUIVRE">
            <a:extLst xmlns:a="http://schemas.openxmlformats.org/drawingml/2006/main">
              <a:ext uri="{FF2B5EF4-FFF2-40B4-BE49-F238E27FC236}">
                <a16:creationId xmlns:a16="http://schemas.microsoft.com/office/drawing/2014/main" id="{EAF793DE-53DA-420D-9769-D9067678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POUR POURSUIVRE</a:t>
            </a:r>
          </a:p>
        </p:txBody>
      </p:sp>
      <p:sp>
        <p:nvSpPr>
          <p:cNvPr id="8" name="Ressource de référence : le manuel complet du nive">
            <a:extLst xmlns:a="http://schemas.openxmlformats.org/drawingml/2006/main">
              <a:ext uri="{FF2B5EF4-FFF2-40B4-BE49-F238E27FC236}">
                <a16:creationId xmlns:a16="http://schemas.microsoft.com/office/drawing/2014/main" id="{3FD9EA6B-1640-4C73-B6CA-8813E26E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Ressource de référence : le manuel complet du niveau 2.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2392741ec418e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6 / 36">
            <a:extLst xmlns:a="http://schemas.openxmlformats.org/drawingml/2006/main">
              <a:ext uri="{FF2B5EF4-FFF2-40B4-BE49-F238E27FC236}">
                <a16:creationId xmlns:a16="http://schemas.microsoft.com/office/drawing/2014/main" id="{CA442967-9C7E-4D06-B0C7-32063D02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36 / 36</a:t>
            </a:r>
          </a:p>
        </p:txBody>
      </p:sp>
    </p:spTree>
    <p:extLst>
      <p:ext uri="{BB962C8B-B14F-4D97-AF65-F5344CB8AC3E}">
        <p14:creationId xmlns:p14="http://schemas.microsoft.com/office/powerpoint/2010/main" val="779629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2026-10-02T23:21:39.6880000Z</dcterms:created>
  <dcterms:modified xsi:type="dcterms:W3CDTF">2026-10-02T23:21:39.6880000Z</dcterms:modified>
</coreProperties>
</file>